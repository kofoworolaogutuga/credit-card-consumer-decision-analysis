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7"/>
  </p:notesMasterIdLst>
  <p:sldIdLst>
    <p:sldId id="256" r:id="rId2"/>
    <p:sldId id="257" r:id="rId3"/>
    <p:sldId id="260" r:id="rId4"/>
    <p:sldId id="261" r:id="rId5"/>
    <p:sldId id="265" r:id="rId6"/>
    <p:sldId id="268" r:id="rId7"/>
    <p:sldId id="269" r:id="rId8"/>
    <p:sldId id="270" r:id="rId9"/>
    <p:sldId id="272" r:id="rId10"/>
    <p:sldId id="271" r:id="rId11"/>
    <p:sldId id="273" r:id="rId12"/>
    <p:sldId id="274" r:id="rId13"/>
    <p:sldId id="276" r:id="rId14"/>
    <p:sldId id="277" r:id="rId15"/>
    <p:sldId id="27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653669C-FC9B-212C-3D74-C1C77A1E7B81}" v="7" dt="2026-09-27T20:30:04.67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FEC5B6-7A48-4ED0-A527-D5303D00F201}" type="datetimeFigureOut">
              <a:t>9/27/2026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ACC8EF-B078-491D-BA2C-3C93C66EF047}" type="slidenum">
              <a:t>‹#›</a:t>
            </a:fld>
            <a:endParaRPr lang="en-US"/>
          </a:p>
        </p:txBody>
      </p:sp>
    </p:spTree>
    <p:extLst>
      <p:ext uri="{BB962C8B-B14F-4D97-AF65-F5344CB8AC3E}">
        <p14:creationId xmlns:p14="http://schemas.microsoft.com/office/powerpoint/2010/main" val="31484364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highlight>
                <a:srgbClr val="FFFFFF"/>
              </a:highlight>
              <a:ea typeface="Calibri"/>
              <a:cs typeface="Calibri"/>
            </a:endParaRPr>
          </a:p>
          <a:p>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20ACC8EF-B078-491D-BA2C-3C93C66EF047}" type="slidenum">
              <a:t>1</a:t>
            </a:fld>
            <a:endParaRPr lang="en-US"/>
          </a:p>
        </p:txBody>
      </p:sp>
    </p:spTree>
    <p:extLst>
      <p:ext uri="{BB962C8B-B14F-4D97-AF65-F5344CB8AC3E}">
        <p14:creationId xmlns:p14="http://schemas.microsoft.com/office/powerpoint/2010/main" val="9579191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9/27/2026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9/27/2026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9/27/2026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9/27/2026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05773" y="1208627"/>
            <a:ext cx="10394830" cy="2013790"/>
          </a:xfrm>
        </p:spPr>
        <p:txBody>
          <a:bodyPr>
            <a:normAutofit/>
          </a:bodyPr>
          <a:lstStyle/>
          <a:p>
            <a:pPr>
              <a:lnSpc>
                <a:spcPct val="100000"/>
              </a:lnSpc>
            </a:pPr>
            <a:r>
              <a:rPr lang="en-US" sz="4400" b="1">
                <a:latin typeface="Bell MT"/>
              </a:rPr>
              <a:t>Credit Card Selection Prediction For </a:t>
            </a:r>
            <a:br>
              <a:rPr lang="en-US" sz="4400" b="1">
                <a:latin typeface="Bell MT"/>
              </a:rPr>
            </a:br>
            <a:r>
              <a:rPr lang="en-US" sz="4400" b="1">
                <a:latin typeface="Bell MT"/>
              </a:rPr>
              <a:t>Consumer Decision-Making</a:t>
            </a:r>
            <a:endParaRPr lang="en-US"/>
          </a:p>
        </p:txBody>
      </p:sp>
      <p:sp>
        <p:nvSpPr>
          <p:cNvPr id="3" name="Subtitle 2"/>
          <p:cNvSpPr>
            <a:spLocks noGrp="1"/>
          </p:cNvSpPr>
          <p:nvPr>
            <p:ph type="subTitle" idx="1"/>
          </p:nvPr>
        </p:nvSpPr>
        <p:spPr>
          <a:xfrm>
            <a:off x="1538377" y="3975848"/>
            <a:ext cx="9129623" cy="1497612"/>
          </a:xfrm>
        </p:spPr>
        <p:txBody>
          <a:bodyPr vert="horz" lIns="91440" tIns="45720" rIns="91440" bIns="45720" rtlCol="0" anchor="t">
            <a:normAutofit/>
          </a:bodyPr>
          <a:lstStyle/>
          <a:p>
            <a:pPr>
              <a:lnSpc>
                <a:spcPct val="100000"/>
              </a:lnSpc>
            </a:pPr>
            <a:r>
              <a:rPr lang="en-US" sz="1800" dirty="0">
                <a:latin typeface="Segoe UI"/>
                <a:cs typeface="Segoe UI"/>
              </a:rPr>
              <a:t>By: Kofoworola </a:t>
            </a:r>
            <a:r>
              <a:rPr lang="en-US" sz="1800" dirty="0" err="1">
                <a:latin typeface="Segoe UI"/>
                <a:cs typeface="Segoe UI"/>
              </a:rPr>
              <a:t>Ogutuga</a:t>
            </a:r>
            <a:r>
              <a:rPr lang="en-US" sz="1800" dirty="0">
                <a:latin typeface="Segoe UI"/>
                <a:cs typeface="Segoe UI"/>
              </a:rPr>
              <a:t> </a:t>
            </a:r>
            <a:endParaRPr lang="en-US" dirty="0">
              <a:latin typeface="Aptos" panose="020B0004020202020204"/>
              <a:cs typeface="Segoe UI"/>
            </a:endParaRPr>
          </a:p>
          <a:p>
            <a:pPr>
              <a:lnSpc>
                <a:spcPct val="100000"/>
              </a:lnSpc>
            </a:pPr>
            <a:r>
              <a:rPr lang="en-US" sz="1800" dirty="0">
                <a:latin typeface="Segoe UI"/>
                <a:cs typeface="Segoe UI"/>
              </a:rPr>
              <a:t>Course: FUNDAMENTALS OF DESCRIPTIVE ANALYTICS</a:t>
            </a:r>
            <a:endParaRPr lang="en-US" dirty="0">
              <a:latin typeface="Aptos" panose="020B0004020202020204"/>
              <a:cs typeface="Segoe UI"/>
            </a:endParaRPr>
          </a:p>
        </p:txBody>
      </p:sp>
      <p:pic>
        <p:nvPicPr>
          <p:cNvPr id="6" name="Picture 5" descr="A blue background with a light&#10;&#10;AI-generated content may be incorrect.">
            <a:extLst>
              <a:ext uri="{FF2B5EF4-FFF2-40B4-BE49-F238E27FC236}">
                <a16:creationId xmlns:a16="http://schemas.microsoft.com/office/drawing/2014/main" id="{C44FD074-3A09-0D17-E8D6-29CC29D6FA0D}"/>
              </a:ext>
            </a:extLst>
          </p:cNvPr>
          <p:cNvPicPr>
            <a:picLocks noChangeAspect="1"/>
          </p:cNvPicPr>
          <p:nvPr/>
        </p:nvPicPr>
        <p:blipFill>
          <a:blip r:embed="rId3"/>
          <a:srcRect l="38" b="78831"/>
          <a:stretch>
            <a:fillRect/>
          </a:stretch>
        </p:blipFill>
        <p:spPr>
          <a:xfrm>
            <a:off x="1536835" y="3457396"/>
            <a:ext cx="9137452" cy="152708"/>
          </a:xfrm>
          <a:prstGeom prst="rect">
            <a:avLst/>
          </a:prstGeom>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blue background with a light&#10;&#10;AI-generated content may be incorrect.">
            <a:extLst>
              <a:ext uri="{FF2B5EF4-FFF2-40B4-BE49-F238E27FC236}">
                <a16:creationId xmlns:a16="http://schemas.microsoft.com/office/drawing/2014/main" id="{8EBB0D97-E1C7-2890-A954-E4B4118DF4D6}"/>
              </a:ext>
            </a:extLst>
          </p:cNvPr>
          <p:cNvPicPr>
            <a:picLocks noChangeAspect="1"/>
          </p:cNvPicPr>
          <p:nvPr/>
        </p:nvPicPr>
        <p:blipFill>
          <a:blip r:embed="rId2"/>
          <a:srcRect l="38" b="78831"/>
          <a:stretch>
            <a:fillRect/>
          </a:stretch>
        </p:blipFill>
        <p:spPr>
          <a:xfrm>
            <a:off x="-130939" y="-366982"/>
            <a:ext cx="12458624" cy="1461046"/>
          </a:xfrm>
          <a:prstGeom prst="rect">
            <a:avLst/>
          </a:prstGeom>
        </p:spPr>
      </p:pic>
      <p:sp>
        <p:nvSpPr>
          <p:cNvPr id="2" name="Title 1">
            <a:extLst>
              <a:ext uri="{FF2B5EF4-FFF2-40B4-BE49-F238E27FC236}">
                <a16:creationId xmlns:a16="http://schemas.microsoft.com/office/drawing/2014/main" id="{BE20B2B1-71F3-6F34-587E-D0C31DB077CB}"/>
              </a:ext>
            </a:extLst>
          </p:cNvPr>
          <p:cNvSpPr>
            <a:spLocks noGrp="1"/>
          </p:cNvSpPr>
          <p:nvPr>
            <p:ph type="title"/>
          </p:nvPr>
        </p:nvSpPr>
        <p:spPr>
          <a:xfrm>
            <a:off x="838200" y="178219"/>
            <a:ext cx="10515600" cy="908619"/>
          </a:xfrm>
        </p:spPr>
        <p:txBody>
          <a:bodyPr>
            <a:normAutofit/>
          </a:bodyPr>
          <a:lstStyle/>
          <a:p>
            <a:pPr algn="ctr"/>
            <a:r>
              <a:rPr lang="en-US" sz="2800" b="1">
                <a:solidFill>
                  <a:srgbClr val="FFFFFF"/>
                </a:solidFill>
                <a:latin typeface="Bell MT"/>
              </a:rPr>
              <a:t>Project Agenda And Objectives</a:t>
            </a:r>
          </a:p>
        </p:txBody>
      </p:sp>
      <p:sp>
        <p:nvSpPr>
          <p:cNvPr id="3" name="Content Placeholder 2">
            <a:extLst>
              <a:ext uri="{FF2B5EF4-FFF2-40B4-BE49-F238E27FC236}">
                <a16:creationId xmlns:a16="http://schemas.microsoft.com/office/drawing/2014/main" id="{CD078D2E-EEAC-4A3C-4BA0-D55D31715B5B}"/>
              </a:ext>
            </a:extLst>
          </p:cNvPr>
          <p:cNvSpPr>
            <a:spLocks noGrp="1"/>
          </p:cNvSpPr>
          <p:nvPr>
            <p:ph idx="1"/>
          </p:nvPr>
        </p:nvSpPr>
        <p:spPr>
          <a:xfrm>
            <a:off x="4673508" y="1352182"/>
            <a:ext cx="7255987" cy="5143102"/>
          </a:xfrm>
        </p:spPr>
        <p:txBody>
          <a:bodyPr vert="horz" lIns="91440" tIns="45720" rIns="91440" bIns="45720" rtlCol="0" anchor="t">
            <a:noAutofit/>
          </a:bodyPr>
          <a:lstStyle/>
          <a:p>
            <a:pPr marL="0" indent="0" algn="just">
              <a:lnSpc>
                <a:spcPct val="100000"/>
              </a:lnSpc>
              <a:buNone/>
            </a:pPr>
            <a:endParaRPr lang="en-US" sz="1700">
              <a:latin typeface="Segoe UI"/>
              <a:cs typeface="Segoe UI"/>
            </a:endParaRPr>
          </a:p>
          <a:p>
            <a:pPr marL="457200" lvl="1" indent="0">
              <a:lnSpc>
                <a:spcPct val="100000"/>
              </a:lnSpc>
              <a:buNone/>
            </a:pPr>
            <a:r>
              <a:rPr lang="en-US" sz="1700" b="1">
                <a:latin typeface="Segoe UI"/>
                <a:cs typeface="Segoe UI"/>
              </a:rPr>
              <a:t>Key questions I'll answer:</a:t>
            </a:r>
          </a:p>
          <a:p>
            <a:pPr marL="1257300" indent="-342900">
              <a:lnSpc>
                <a:spcPct val="100000"/>
              </a:lnSpc>
              <a:buFont typeface="Courier New" panose="020B0604020202020204" pitchFamily="34" charset="0"/>
              <a:buChar char="o"/>
            </a:pPr>
            <a:r>
              <a:rPr lang="en-US" sz="1700">
                <a:latin typeface="Segoe UI"/>
                <a:cs typeface="Segoe UI"/>
              </a:rPr>
              <a:t>Can I predict which consumers will choose the optimal card?</a:t>
            </a:r>
          </a:p>
          <a:p>
            <a:pPr marL="1257300" lvl="2" indent="-342900">
              <a:lnSpc>
                <a:spcPct val="100000"/>
              </a:lnSpc>
              <a:buFont typeface="Courier New" panose="020B0604020202020204" pitchFamily="34" charset="0"/>
              <a:buChar char="o"/>
            </a:pPr>
            <a:r>
              <a:rPr lang="en-US" sz="1700">
                <a:latin typeface="Segoe UI"/>
                <a:cs typeface="Segoe UI"/>
              </a:rPr>
              <a:t>What factors most influence decision quality?</a:t>
            </a:r>
          </a:p>
          <a:p>
            <a:pPr marL="1257300" lvl="2" indent="-342900">
              <a:lnSpc>
                <a:spcPct val="100000"/>
              </a:lnSpc>
              <a:buFont typeface="Courier New" panose="020B0604020202020204" pitchFamily="34" charset="0"/>
              <a:buChar char="o"/>
            </a:pPr>
            <a:r>
              <a:rPr lang="en-US" sz="1700">
                <a:latin typeface="Segoe UI"/>
                <a:cs typeface="Segoe UI"/>
              </a:rPr>
              <a:t>How can financial institutions improve consumer choices?</a:t>
            </a:r>
          </a:p>
          <a:p>
            <a:pPr marL="457200" lvl="1" indent="0">
              <a:lnSpc>
                <a:spcPct val="100000"/>
              </a:lnSpc>
              <a:buNone/>
            </a:pPr>
            <a:endParaRPr lang="en-US" sz="1700" b="1">
              <a:latin typeface="Segoe UI"/>
              <a:cs typeface="Segoe UI"/>
            </a:endParaRPr>
          </a:p>
          <a:p>
            <a:pPr marL="457200" lvl="1" indent="0">
              <a:lnSpc>
                <a:spcPct val="100000"/>
              </a:lnSpc>
              <a:buNone/>
            </a:pPr>
            <a:r>
              <a:rPr lang="en-US" sz="1700" b="1">
                <a:latin typeface="Segoe UI"/>
                <a:cs typeface="Segoe UI"/>
              </a:rPr>
              <a:t>Presentation structure:</a:t>
            </a:r>
            <a:endParaRPr lang="en-US" sz="1700">
              <a:latin typeface="Segoe UI"/>
              <a:cs typeface="Segoe UI"/>
            </a:endParaRPr>
          </a:p>
          <a:p>
            <a:pPr lvl="2">
              <a:lnSpc>
                <a:spcPct val="100000"/>
              </a:lnSpc>
              <a:buFont typeface="Courier New" panose="020B0604020202020204" pitchFamily="34" charset="0"/>
              <a:buChar char="o"/>
            </a:pPr>
            <a:r>
              <a:rPr lang="en-US" sz="1700">
                <a:latin typeface="Segoe UI"/>
                <a:cs typeface="Segoe UI"/>
              </a:rPr>
              <a:t>Introduction and business context</a:t>
            </a:r>
          </a:p>
          <a:p>
            <a:pPr lvl="2">
              <a:lnSpc>
                <a:spcPct val="100000"/>
              </a:lnSpc>
              <a:buFont typeface="Courier New" panose="020B0604020202020204" pitchFamily="34" charset="0"/>
              <a:buChar char="o"/>
            </a:pPr>
            <a:r>
              <a:rPr lang="en-US" sz="1700">
                <a:latin typeface="Segoe UI"/>
                <a:cs typeface="Segoe UI"/>
              </a:rPr>
              <a:t>Methodology and exploratory findings</a:t>
            </a:r>
          </a:p>
          <a:p>
            <a:pPr lvl="2">
              <a:lnSpc>
                <a:spcPct val="100000"/>
              </a:lnSpc>
              <a:buFont typeface="Courier New" panose="020B0604020202020204" pitchFamily="34" charset="0"/>
              <a:buChar char="o"/>
            </a:pPr>
            <a:r>
              <a:rPr lang="en-US" sz="1700">
                <a:latin typeface="Segoe UI"/>
                <a:cs typeface="Segoe UI"/>
              </a:rPr>
              <a:t>Data mining techniques and results</a:t>
            </a:r>
          </a:p>
          <a:p>
            <a:pPr lvl="2">
              <a:lnSpc>
                <a:spcPct val="100000"/>
              </a:lnSpc>
              <a:buFont typeface="Courier New" panose="020B0604020202020204" pitchFamily="34" charset="0"/>
              <a:buChar char="o"/>
            </a:pPr>
            <a:r>
              <a:rPr lang="en-US" sz="1700">
                <a:latin typeface="Segoe UI"/>
                <a:cs typeface="Segoe UI"/>
              </a:rPr>
              <a:t>Business recommendations and conclusions</a:t>
            </a:r>
          </a:p>
          <a:p>
            <a:pPr lvl="2">
              <a:lnSpc>
                <a:spcPct val="100000"/>
              </a:lnSpc>
              <a:buFont typeface="Courier New" panose="020B0604020202020204" pitchFamily="34" charset="0"/>
              <a:buChar char="o"/>
            </a:pPr>
            <a:r>
              <a:rPr lang="en-US" sz="1700">
                <a:latin typeface="Segoe UI"/>
                <a:cs typeface="Segoe UI"/>
              </a:rPr>
              <a:t>Q&amp;A</a:t>
            </a:r>
          </a:p>
        </p:txBody>
      </p:sp>
      <p:sp>
        <p:nvSpPr>
          <p:cNvPr id="4" name="TextBox 3">
            <a:extLst>
              <a:ext uri="{FF2B5EF4-FFF2-40B4-BE49-F238E27FC236}">
                <a16:creationId xmlns:a16="http://schemas.microsoft.com/office/drawing/2014/main" id="{13EC91B9-4EEF-13DE-5FA2-28EB2A878BB7}"/>
              </a:ext>
            </a:extLst>
          </p:cNvPr>
          <p:cNvSpPr txBox="1"/>
          <p:nvPr/>
        </p:nvSpPr>
        <p:spPr>
          <a:xfrm>
            <a:off x="834449" y="1492088"/>
            <a:ext cx="4209758" cy="453970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rtl="0"/>
            <a:r>
              <a:rPr lang="en-US" sz="1700">
                <a:solidFill>
                  <a:srgbClr val="000000"/>
                </a:solidFill>
                <a:latin typeface="Segoe UI"/>
                <a:ea typeface="Calibri"/>
                <a:cs typeface="Segoe UI"/>
              </a:rPr>
              <a:t>Credit Card Selection Prediction for Consumer Decision-Making: Predict whether a respondent will choose the dominant (best) credit card using demographics, video type, taglines, and attention measures.​</a:t>
            </a:r>
            <a:endParaRPr lang="en-US" sz="1700">
              <a:latin typeface="Segoe UI"/>
              <a:cs typeface="Segoe UI"/>
            </a:endParaRPr>
          </a:p>
          <a:p>
            <a:pPr rtl="0"/>
            <a:r>
              <a:rPr lang="en-US" sz="1700">
                <a:solidFill>
                  <a:srgbClr val="000000"/>
                </a:solidFill>
                <a:latin typeface="Segoe UI"/>
                <a:ea typeface="Calibri"/>
                <a:cs typeface="Segoe UI"/>
              </a:rPr>
              <a:t>​</a:t>
            </a:r>
          </a:p>
          <a:p>
            <a:pPr rtl="0"/>
            <a:r>
              <a:rPr lang="en-US" sz="1700">
                <a:solidFill>
                  <a:srgbClr val="000000"/>
                </a:solidFill>
                <a:latin typeface="Segoe UI"/>
                <a:ea typeface="Calibri"/>
                <a:cs typeface="Segoe UI"/>
              </a:rPr>
              <a:t>The researchers study people’s ability to choose the best credit card (dominant card) among four credit card offers. They show a short video (baseline) to some participants and a longer video (implemental) to others. Additionally, they show the four-credit card offers either with misleading ads (superfluous taglines) or without misleading ads (no taglines). </a:t>
            </a:r>
          </a:p>
          <a:p>
            <a:pPr algn="ctr"/>
            <a:endParaRPr lang="en-US" sz="1700">
              <a:solidFill>
                <a:srgbClr val="000000"/>
              </a:solidFill>
              <a:latin typeface="Segoe UI"/>
              <a:ea typeface="Calibri"/>
              <a:cs typeface="Segoe UI"/>
            </a:endParaRPr>
          </a:p>
        </p:txBody>
      </p:sp>
    </p:spTree>
    <p:extLst>
      <p:ext uri="{BB962C8B-B14F-4D97-AF65-F5344CB8AC3E}">
        <p14:creationId xmlns:p14="http://schemas.microsoft.com/office/powerpoint/2010/main" val="9518066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C92D5B-B9CF-A885-3653-6DBCE80F9AA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239389-BBE3-E8AB-5573-76493667DD7D}"/>
              </a:ext>
            </a:extLst>
          </p:cNvPr>
          <p:cNvSpPr>
            <a:spLocks noGrp="1"/>
          </p:cNvSpPr>
          <p:nvPr>
            <p:ph idx="1"/>
          </p:nvPr>
        </p:nvSpPr>
        <p:spPr>
          <a:xfrm>
            <a:off x="1269521" y="1423059"/>
            <a:ext cx="9638582" cy="5156470"/>
          </a:xfrm>
        </p:spPr>
        <p:txBody>
          <a:bodyPr vert="horz" lIns="91440" tIns="45720" rIns="91440" bIns="45720" rtlCol="0" anchor="t">
            <a:normAutofit/>
          </a:bodyPr>
          <a:lstStyle/>
          <a:p>
            <a:pPr marL="0" indent="0" algn="just">
              <a:lnSpc>
                <a:spcPct val="100000"/>
              </a:lnSpc>
              <a:buNone/>
            </a:pPr>
            <a:r>
              <a:rPr lang="en-US" sz="1600">
                <a:latin typeface="Segoe UI"/>
                <a:cs typeface="Segoe UI"/>
              </a:rPr>
              <a:t>In the '</a:t>
            </a:r>
            <a:r>
              <a:rPr lang="en-US" sz="1600" err="1">
                <a:latin typeface="Segoe UI"/>
                <a:cs typeface="Segoe UI"/>
              </a:rPr>
              <a:t>cred_card</a:t>
            </a:r>
            <a:r>
              <a:rPr lang="en-US" sz="1600">
                <a:latin typeface="Segoe UI"/>
                <a:cs typeface="Segoe UI"/>
              </a:rPr>
              <a:t>' dataset ~45% of consumers didn't choose the best credit card option. Poor decisions like that lead to customer dissatisfaction, higher churn rates, and increased acquisition costs. My project addresses this problem by analyzing the factors that influence credit card selection.</a:t>
            </a:r>
            <a:endParaRPr lang="en-US"/>
          </a:p>
          <a:p>
            <a:pPr marL="0" indent="0" algn="just">
              <a:lnSpc>
                <a:spcPct val="100000"/>
              </a:lnSpc>
              <a:buNone/>
            </a:pPr>
            <a:endParaRPr lang="en-US" sz="1600" b="1">
              <a:latin typeface="Segoe UI"/>
              <a:cs typeface="Segoe UI"/>
            </a:endParaRPr>
          </a:p>
          <a:p>
            <a:pPr marL="0" indent="0" algn="just">
              <a:lnSpc>
                <a:spcPct val="100000"/>
              </a:lnSpc>
              <a:buNone/>
            </a:pPr>
            <a:r>
              <a:rPr lang="en-US" sz="1600" b="1">
                <a:latin typeface="Segoe UI"/>
                <a:cs typeface="Segoe UI"/>
              </a:rPr>
              <a:t>Dataset characteristics:</a:t>
            </a:r>
            <a:endParaRPr lang="en-US" sz="1600">
              <a:latin typeface="Segoe UI"/>
              <a:cs typeface="Segoe UI"/>
            </a:endParaRPr>
          </a:p>
          <a:p>
            <a:pPr marL="742950" lvl="1" indent="-285750" algn="just">
              <a:lnSpc>
                <a:spcPct val="100000"/>
              </a:lnSpc>
              <a:buFont typeface="Courier New" panose="020B0604020202020204" pitchFamily="34" charset="0"/>
              <a:buChar char="o"/>
            </a:pPr>
            <a:r>
              <a:rPr lang="en-US" sz="1600">
                <a:latin typeface="Segoe UI"/>
                <a:cs typeface="Segoe UI"/>
              </a:rPr>
              <a:t>Source: Simulated consumer choice experiment with 200 participants</a:t>
            </a:r>
          </a:p>
          <a:p>
            <a:pPr marL="742950" lvl="1" indent="-285750" algn="just">
              <a:lnSpc>
                <a:spcPct val="100000"/>
              </a:lnSpc>
              <a:buFont typeface="Courier New" panose="020B0604020202020204" pitchFamily="34" charset="0"/>
              <a:buChar char="o"/>
            </a:pPr>
            <a:r>
              <a:rPr lang="en-US" sz="1600">
                <a:latin typeface="Segoe UI"/>
                <a:cs typeface="Segoe UI"/>
              </a:rPr>
              <a:t>Features: 173 variables including demographics, behavioral metrics, and experimental conditions</a:t>
            </a:r>
          </a:p>
          <a:p>
            <a:pPr marL="742950" lvl="1" indent="-285750" algn="just">
              <a:lnSpc>
                <a:spcPct val="100000"/>
              </a:lnSpc>
              <a:buFont typeface="Courier New" panose="020B0604020202020204" pitchFamily="34" charset="0"/>
              <a:buChar char="o"/>
            </a:pPr>
            <a:r>
              <a:rPr lang="en-US" sz="1600">
                <a:latin typeface="Segoe UI"/>
                <a:cs typeface="Segoe UI"/>
              </a:rPr>
              <a:t>Target variable: </a:t>
            </a:r>
            <a:r>
              <a:rPr lang="en-US" sz="1600" err="1">
                <a:latin typeface="Segoe UI"/>
                <a:cs typeface="Segoe UI"/>
              </a:rPr>
              <a:t>chosedom</a:t>
            </a:r>
            <a:r>
              <a:rPr lang="en-US" sz="1600">
                <a:latin typeface="Segoe UI"/>
                <a:cs typeface="Segoe UI"/>
              </a:rPr>
              <a:t> indicating whether participants selected the dominant (optimal) card</a:t>
            </a:r>
          </a:p>
          <a:p>
            <a:pPr marL="742950" lvl="1" indent="-285750" algn="just">
              <a:lnSpc>
                <a:spcPct val="100000"/>
              </a:lnSpc>
              <a:buFont typeface="Courier New" panose="020B0604020202020204" pitchFamily="34" charset="0"/>
              <a:buChar char="o"/>
            </a:pPr>
            <a:r>
              <a:rPr lang="en-US" sz="1600">
                <a:latin typeface="Segoe UI"/>
                <a:cs typeface="Segoe UI"/>
              </a:rPr>
              <a:t>Experimental manipulations: Video type (Baseline vs. Implemental) and tagline presence</a:t>
            </a:r>
          </a:p>
          <a:p>
            <a:pPr marL="0" indent="0" algn="just">
              <a:lnSpc>
                <a:spcPct val="100000"/>
              </a:lnSpc>
              <a:buNone/>
            </a:pPr>
            <a:endParaRPr lang="en-US" sz="1600" b="1">
              <a:latin typeface="Segoe UI"/>
              <a:cs typeface="Segoe UI"/>
            </a:endParaRPr>
          </a:p>
          <a:p>
            <a:pPr marL="0" indent="0" algn="just">
              <a:lnSpc>
                <a:spcPct val="100000"/>
              </a:lnSpc>
              <a:buNone/>
            </a:pPr>
            <a:r>
              <a:rPr lang="en-US" sz="1600" b="1">
                <a:latin typeface="Segoe UI"/>
                <a:cs typeface="Segoe UI"/>
              </a:rPr>
              <a:t>Business implications:</a:t>
            </a:r>
            <a:r>
              <a:rPr lang="en-US" sz="1600">
                <a:latin typeface="Segoe UI"/>
                <a:cs typeface="Segoe UI"/>
              </a:rPr>
              <a:t> Improving choice quality could increase customer retention by 15-20% and reduce acquisition costs by approximately 20%.</a:t>
            </a:r>
          </a:p>
        </p:txBody>
      </p:sp>
      <p:pic>
        <p:nvPicPr>
          <p:cNvPr id="5" name="Picture 4" descr="A blue background with a light&#10;&#10;AI-generated content may be incorrect.">
            <a:extLst>
              <a:ext uri="{FF2B5EF4-FFF2-40B4-BE49-F238E27FC236}">
                <a16:creationId xmlns:a16="http://schemas.microsoft.com/office/drawing/2014/main" id="{AB4DA7D3-A888-AF9B-2DCA-6E9EC0B6AEC3}"/>
              </a:ext>
            </a:extLst>
          </p:cNvPr>
          <p:cNvPicPr>
            <a:picLocks noChangeAspect="1"/>
          </p:cNvPicPr>
          <p:nvPr/>
        </p:nvPicPr>
        <p:blipFill>
          <a:blip r:embed="rId2"/>
          <a:srcRect l="38" b="78831"/>
          <a:stretch>
            <a:fillRect/>
          </a:stretch>
        </p:blipFill>
        <p:spPr>
          <a:xfrm>
            <a:off x="-130939" y="-366982"/>
            <a:ext cx="12458624" cy="1461046"/>
          </a:xfrm>
          <a:prstGeom prst="rect">
            <a:avLst/>
          </a:prstGeom>
        </p:spPr>
      </p:pic>
      <p:sp>
        <p:nvSpPr>
          <p:cNvPr id="7" name="Title 1">
            <a:extLst>
              <a:ext uri="{FF2B5EF4-FFF2-40B4-BE49-F238E27FC236}">
                <a16:creationId xmlns:a16="http://schemas.microsoft.com/office/drawing/2014/main" id="{450411CA-9BD5-1097-4930-B625E2D7BC7B}"/>
              </a:ext>
            </a:extLst>
          </p:cNvPr>
          <p:cNvSpPr txBox="1">
            <a:spLocks/>
          </p:cNvSpPr>
          <p:nvPr/>
        </p:nvSpPr>
        <p:spPr>
          <a:xfrm>
            <a:off x="838200" y="178219"/>
            <a:ext cx="10515600" cy="90861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pPr>
            <a:r>
              <a:rPr lang="en-US" sz="2800" b="1">
                <a:solidFill>
                  <a:srgbClr val="FFFFFF"/>
                </a:solidFill>
                <a:latin typeface="Bell MT"/>
              </a:rPr>
              <a:t>Business Problem And Dataset Overview</a:t>
            </a:r>
            <a:endParaRPr lang="en-US"/>
          </a:p>
        </p:txBody>
      </p:sp>
    </p:spTree>
    <p:extLst>
      <p:ext uri="{BB962C8B-B14F-4D97-AF65-F5344CB8AC3E}">
        <p14:creationId xmlns:p14="http://schemas.microsoft.com/office/powerpoint/2010/main" val="18596645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DF767E-E9D0-FFF8-097C-F8CD8CD364C1}"/>
            </a:ext>
          </a:extLst>
        </p:cNvPr>
        <p:cNvGrpSpPr/>
        <p:nvPr/>
      </p:nvGrpSpPr>
      <p:grpSpPr>
        <a:xfrm>
          <a:off x="0" y="0"/>
          <a:ext cx="0" cy="0"/>
          <a:chOff x="0" y="0"/>
          <a:chExt cx="0" cy="0"/>
        </a:xfrm>
      </p:grpSpPr>
      <p:pic>
        <p:nvPicPr>
          <p:cNvPr id="5" name="Picture 4" descr="A blue background with a light&#10;&#10;AI-generated content may be incorrect.">
            <a:extLst>
              <a:ext uri="{FF2B5EF4-FFF2-40B4-BE49-F238E27FC236}">
                <a16:creationId xmlns:a16="http://schemas.microsoft.com/office/drawing/2014/main" id="{B459F9B7-15C9-47F4-42DB-D1AB20DCF7A5}"/>
              </a:ext>
            </a:extLst>
          </p:cNvPr>
          <p:cNvPicPr>
            <a:picLocks noChangeAspect="1"/>
          </p:cNvPicPr>
          <p:nvPr/>
        </p:nvPicPr>
        <p:blipFill>
          <a:blip r:embed="rId2"/>
          <a:srcRect l="38" b="78831"/>
          <a:stretch>
            <a:fillRect/>
          </a:stretch>
        </p:blipFill>
        <p:spPr>
          <a:xfrm>
            <a:off x="-130939" y="-366982"/>
            <a:ext cx="12458624" cy="1461046"/>
          </a:xfrm>
          <a:prstGeom prst="rect">
            <a:avLst/>
          </a:prstGeom>
        </p:spPr>
      </p:pic>
      <p:sp>
        <p:nvSpPr>
          <p:cNvPr id="7" name="Title 1">
            <a:extLst>
              <a:ext uri="{FF2B5EF4-FFF2-40B4-BE49-F238E27FC236}">
                <a16:creationId xmlns:a16="http://schemas.microsoft.com/office/drawing/2014/main" id="{6FFD904A-9AF4-3363-DE11-F96A15B6E8F3}"/>
              </a:ext>
            </a:extLst>
          </p:cNvPr>
          <p:cNvSpPr txBox="1">
            <a:spLocks/>
          </p:cNvSpPr>
          <p:nvPr/>
        </p:nvSpPr>
        <p:spPr>
          <a:xfrm>
            <a:off x="838200" y="178219"/>
            <a:ext cx="10515600" cy="90861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pPr>
            <a:r>
              <a:rPr lang="en-US" sz="2800" b="1">
                <a:solidFill>
                  <a:srgbClr val="FFFFFF"/>
                </a:solidFill>
                <a:latin typeface="Bell MT"/>
              </a:rPr>
              <a:t>Methodology And Data Preparation</a:t>
            </a:r>
            <a:endParaRPr lang="en-US"/>
          </a:p>
        </p:txBody>
      </p:sp>
      <p:pic>
        <p:nvPicPr>
          <p:cNvPr id="2" name="Picture 1" descr="A red and blue circle with black text&#10;&#10;AI-generated content may be incorrect.">
            <a:extLst>
              <a:ext uri="{FF2B5EF4-FFF2-40B4-BE49-F238E27FC236}">
                <a16:creationId xmlns:a16="http://schemas.microsoft.com/office/drawing/2014/main" id="{3EC3BE4B-09A7-DF86-B071-E99693210F39}"/>
              </a:ext>
            </a:extLst>
          </p:cNvPr>
          <p:cNvPicPr>
            <a:picLocks noChangeAspect="1"/>
          </p:cNvPicPr>
          <p:nvPr/>
        </p:nvPicPr>
        <p:blipFill>
          <a:blip r:embed="rId3"/>
          <a:stretch>
            <a:fillRect/>
          </a:stretch>
        </p:blipFill>
        <p:spPr>
          <a:xfrm>
            <a:off x="6342460" y="2113472"/>
            <a:ext cx="5373043" cy="4126301"/>
          </a:xfrm>
          <a:prstGeom prst="rect">
            <a:avLst/>
          </a:prstGeom>
        </p:spPr>
      </p:pic>
      <p:sp>
        <p:nvSpPr>
          <p:cNvPr id="4" name="TextBox 3">
            <a:extLst>
              <a:ext uri="{FF2B5EF4-FFF2-40B4-BE49-F238E27FC236}">
                <a16:creationId xmlns:a16="http://schemas.microsoft.com/office/drawing/2014/main" id="{93D7E12E-FEB6-0772-1254-0F851C2782BC}"/>
              </a:ext>
            </a:extLst>
          </p:cNvPr>
          <p:cNvSpPr txBox="1"/>
          <p:nvPr/>
        </p:nvSpPr>
        <p:spPr>
          <a:xfrm>
            <a:off x="477468" y="1717858"/>
            <a:ext cx="5866266"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rtl="0"/>
            <a:r>
              <a:rPr lang="en-US" sz="1600" b="1" baseline="0">
                <a:latin typeface="Segoe UI"/>
                <a:ea typeface="Segoe UI"/>
                <a:cs typeface="Segoe UI"/>
              </a:rPr>
              <a:t>My data preparation steps:</a:t>
            </a:r>
            <a:r>
              <a:rPr lang="en-US" sz="1600">
                <a:latin typeface="Segoe UI"/>
                <a:ea typeface="Segoe UI"/>
                <a:cs typeface="Segoe UI"/>
              </a:rPr>
              <a:t>​</a:t>
            </a:r>
            <a:endParaRPr lang="en-US"/>
          </a:p>
          <a:p>
            <a:pPr marL="742950" lvl="1" indent="-285750">
              <a:buFont typeface="Courier New,monospace"/>
              <a:buChar char="o"/>
            </a:pPr>
            <a:r>
              <a:rPr lang="en-US" sz="1600" baseline="0">
                <a:latin typeface="Segoe UI"/>
                <a:ea typeface="Arial"/>
                <a:cs typeface="Arial"/>
              </a:rPr>
              <a:t>Cleaning and imputation: I handled missing values using median imputation for </a:t>
            </a:r>
            <a:r>
              <a:rPr lang="en-US" sz="1600">
                <a:latin typeface="Segoe UI"/>
                <a:ea typeface="Arial"/>
                <a:cs typeface="Arial"/>
              </a:rPr>
              <a:t>numerical variables</a:t>
            </a:r>
            <a:r>
              <a:rPr lang="en-US" sz="1600" baseline="0">
                <a:latin typeface="Segoe UI"/>
                <a:ea typeface="Arial"/>
                <a:cs typeface="Arial"/>
              </a:rPr>
              <a:t> and mode imputation for categorical variables</a:t>
            </a:r>
            <a:r>
              <a:rPr lang="en-US" sz="1600">
                <a:latin typeface="Segoe UI"/>
                <a:ea typeface="Arial"/>
                <a:cs typeface="Arial"/>
              </a:rPr>
              <a:t>​</a:t>
            </a:r>
          </a:p>
          <a:p>
            <a:pPr marL="742950" lvl="1" indent="-285750">
              <a:buFont typeface="Courier New,monospace"/>
              <a:buChar char="o"/>
            </a:pPr>
            <a:r>
              <a:rPr lang="en-US" sz="1600" baseline="0">
                <a:latin typeface="Segoe UI"/>
                <a:ea typeface="Arial"/>
                <a:cs typeface="Arial"/>
              </a:rPr>
              <a:t>Feature engineering: I created aggregated time metrics and binary indicators for </a:t>
            </a:r>
            <a:r>
              <a:rPr lang="en-US" sz="1600">
                <a:latin typeface="Segoe UI"/>
                <a:ea typeface="Arial"/>
                <a:cs typeface="Arial"/>
              </a:rPr>
              <a:t>experimental conditions​</a:t>
            </a:r>
          </a:p>
          <a:p>
            <a:pPr marL="742950" lvl="1" indent="-285750">
              <a:buFont typeface="Courier New,monospace"/>
              <a:buChar char="o"/>
            </a:pPr>
            <a:r>
              <a:rPr lang="en-US" sz="1600" baseline="0">
                <a:latin typeface="Segoe UI"/>
                <a:ea typeface="Arial"/>
                <a:cs typeface="Arial"/>
              </a:rPr>
              <a:t>Encoding and scaling: I applied appropriate encoding techniques and standardized </a:t>
            </a:r>
            <a:r>
              <a:rPr lang="en-US" sz="1600">
                <a:latin typeface="Segoe UI"/>
                <a:ea typeface="Arial"/>
                <a:cs typeface="Arial"/>
              </a:rPr>
              <a:t>numerical features​</a:t>
            </a:r>
          </a:p>
          <a:p>
            <a:pPr lvl="1"/>
            <a:endParaRPr lang="en-US" sz="1600">
              <a:latin typeface="Arial"/>
              <a:ea typeface="Segoe UI"/>
              <a:cs typeface="Arial"/>
            </a:endParaRPr>
          </a:p>
          <a:p>
            <a:pPr rtl="0"/>
            <a:r>
              <a:rPr lang="en-US" sz="1600" b="1" baseline="0">
                <a:latin typeface="Segoe UI"/>
                <a:ea typeface="Segoe UI"/>
                <a:cs typeface="Segoe UI"/>
              </a:rPr>
              <a:t>Analytical techniques I employed:</a:t>
            </a:r>
            <a:r>
              <a:rPr lang="en-US" sz="1600">
                <a:latin typeface="Segoe UI"/>
                <a:ea typeface="Segoe UI"/>
                <a:cs typeface="Segoe UI"/>
              </a:rPr>
              <a:t>​</a:t>
            </a:r>
          </a:p>
          <a:p>
            <a:pPr marL="742950" lvl="1" indent="-285750" rtl="0">
              <a:buFont typeface="Courier New,monospace"/>
              <a:buChar char="o"/>
            </a:pPr>
            <a:r>
              <a:rPr lang="en-US" sz="1600" baseline="0">
                <a:latin typeface="Segoe UI"/>
                <a:ea typeface="Arial"/>
                <a:cs typeface="Arial"/>
              </a:rPr>
              <a:t>Logistic regression for identifying linear relationships and key predictors</a:t>
            </a:r>
            <a:r>
              <a:rPr lang="en-US" sz="1600">
                <a:latin typeface="Segoe UI"/>
                <a:ea typeface="Arial"/>
                <a:cs typeface="Arial"/>
              </a:rPr>
              <a:t>​</a:t>
            </a:r>
          </a:p>
          <a:p>
            <a:pPr marL="742950" lvl="1" indent="-285750" rtl="0">
              <a:buFont typeface="Courier New,monospace"/>
              <a:buChar char="o"/>
            </a:pPr>
            <a:r>
              <a:rPr lang="en-US" sz="1600" baseline="0">
                <a:latin typeface="Segoe UI"/>
                <a:ea typeface="Arial"/>
                <a:cs typeface="Arial"/>
              </a:rPr>
              <a:t>Decision tree classification for generating interpretable decision rules</a:t>
            </a:r>
            <a:r>
              <a:rPr lang="en-US" sz="1600">
                <a:latin typeface="Segoe UI"/>
                <a:ea typeface="Arial"/>
                <a:cs typeface="Arial"/>
              </a:rPr>
              <a:t>​</a:t>
            </a:r>
          </a:p>
          <a:p>
            <a:pPr marL="742950" lvl="1" indent="-285750" rtl="0">
              <a:buFont typeface="Courier New,monospace"/>
              <a:buChar char="o"/>
            </a:pPr>
            <a:r>
              <a:rPr lang="en-US" sz="1600" baseline="0">
                <a:latin typeface="Segoe UI"/>
                <a:ea typeface="Arial"/>
                <a:cs typeface="Arial"/>
              </a:rPr>
              <a:t>K-means clustering for unsupervised consumer segmentation</a:t>
            </a:r>
            <a:r>
              <a:rPr lang="en-US" sz="1600">
                <a:latin typeface="Segoe UI"/>
                <a:ea typeface="Arial"/>
                <a:cs typeface="Arial"/>
              </a:rPr>
              <a:t>​</a:t>
            </a:r>
          </a:p>
          <a:p>
            <a:pPr marL="742950" lvl="1" indent="-285750" rtl="0">
              <a:buFont typeface="Courier New,monospace"/>
              <a:buChar char="o"/>
            </a:pPr>
            <a:r>
              <a:rPr lang="en-US" sz="1600" baseline="0">
                <a:latin typeface="Segoe UI"/>
                <a:ea typeface="Arial"/>
                <a:cs typeface="Arial"/>
              </a:rPr>
              <a:t>Random forest for comparative performance evaluation</a:t>
            </a:r>
            <a:r>
              <a:rPr lang="en-US" sz="1600">
                <a:latin typeface="Segoe UI"/>
                <a:ea typeface="Arial"/>
                <a:cs typeface="Arial"/>
              </a:rPr>
              <a:t>​</a:t>
            </a:r>
          </a:p>
        </p:txBody>
      </p:sp>
      <p:sp>
        <p:nvSpPr>
          <p:cNvPr id="6" name="TextBox 5">
            <a:extLst>
              <a:ext uri="{FF2B5EF4-FFF2-40B4-BE49-F238E27FC236}">
                <a16:creationId xmlns:a16="http://schemas.microsoft.com/office/drawing/2014/main" id="{40A0E00A-E964-7115-2C6C-19230D42A579}"/>
              </a:ext>
            </a:extLst>
          </p:cNvPr>
          <p:cNvSpPr txBox="1"/>
          <p:nvPr/>
        </p:nvSpPr>
        <p:spPr>
          <a:xfrm>
            <a:off x="7548112" y="5873150"/>
            <a:ext cx="3810002"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0">
                <a:solidFill>
                  <a:srgbClr val="000000"/>
                </a:solidFill>
                <a:latin typeface="Segoe UI"/>
                <a:ea typeface="quote-cjk-patch"/>
                <a:cs typeface="Segoe UI"/>
              </a:rPr>
              <a:t>55% of participants chose the dominant card, </a:t>
            </a:r>
            <a:endParaRPr lang="en-US" sz="1400">
              <a:solidFill>
                <a:srgbClr val="000000"/>
              </a:solidFill>
              <a:latin typeface="Segoe UI"/>
              <a:ea typeface="quote-cjk-patch"/>
              <a:cs typeface="Segoe UI"/>
            </a:endParaRPr>
          </a:p>
          <a:p>
            <a:r>
              <a:rPr lang="en-US" sz="1400" b="0">
                <a:solidFill>
                  <a:srgbClr val="000000"/>
                </a:solidFill>
                <a:latin typeface="Segoe UI"/>
                <a:ea typeface="quote-cjk-patch"/>
                <a:cs typeface="Segoe UI"/>
              </a:rPr>
              <a:t>while 45% selected suboptimal alternatives.</a:t>
            </a:r>
            <a:endParaRPr lang="en-US" sz="1400">
              <a:solidFill>
                <a:srgbClr val="000000"/>
              </a:solidFill>
              <a:latin typeface="Segoe UI"/>
              <a:cs typeface="Segoe UI"/>
            </a:endParaRPr>
          </a:p>
          <a:p>
            <a:pPr algn="ctr"/>
            <a:endParaRPr lang="en-US" sz="1400">
              <a:solidFill>
                <a:srgbClr val="000000"/>
              </a:solidFill>
              <a:latin typeface="Segoe UI"/>
              <a:cs typeface="Segoe UI"/>
            </a:endParaRPr>
          </a:p>
        </p:txBody>
      </p:sp>
    </p:spTree>
    <p:extLst>
      <p:ext uri="{BB962C8B-B14F-4D97-AF65-F5344CB8AC3E}">
        <p14:creationId xmlns:p14="http://schemas.microsoft.com/office/powerpoint/2010/main" val="24760027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444CC-EC34-7FB6-B929-F294E9E9EAD2}"/>
            </a:ext>
          </a:extLst>
        </p:cNvPr>
        <p:cNvGrpSpPr/>
        <p:nvPr/>
      </p:nvGrpSpPr>
      <p:grpSpPr>
        <a:xfrm>
          <a:off x="0" y="0"/>
          <a:ext cx="0" cy="0"/>
          <a:chOff x="0" y="0"/>
          <a:chExt cx="0" cy="0"/>
        </a:xfrm>
      </p:grpSpPr>
      <p:pic>
        <p:nvPicPr>
          <p:cNvPr id="2" name="Picture 1" descr="A graph of different colored bars&#10;&#10;AI-generated content may be incorrect.">
            <a:extLst>
              <a:ext uri="{FF2B5EF4-FFF2-40B4-BE49-F238E27FC236}">
                <a16:creationId xmlns:a16="http://schemas.microsoft.com/office/drawing/2014/main" id="{90639611-0828-A800-672E-859C022BF4F0}"/>
              </a:ext>
            </a:extLst>
          </p:cNvPr>
          <p:cNvPicPr>
            <a:picLocks noChangeAspect="1"/>
          </p:cNvPicPr>
          <p:nvPr/>
        </p:nvPicPr>
        <p:blipFill>
          <a:blip r:embed="rId2"/>
          <a:srcRect t="14650" r="84" b="989"/>
          <a:stretch>
            <a:fillRect/>
          </a:stretch>
        </p:blipFill>
        <p:spPr>
          <a:xfrm>
            <a:off x="215899" y="3586765"/>
            <a:ext cx="11750310" cy="3101895"/>
          </a:xfrm>
          <a:prstGeom prst="rect">
            <a:avLst/>
          </a:prstGeom>
        </p:spPr>
      </p:pic>
      <p:sp>
        <p:nvSpPr>
          <p:cNvPr id="3" name="Content Placeholder 2">
            <a:extLst>
              <a:ext uri="{FF2B5EF4-FFF2-40B4-BE49-F238E27FC236}">
                <a16:creationId xmlns:a16="http://schemas.microsoft.com/office/drawing/2014/main" id="{D427E95D-3D8C-7CF0-78F7-1BA6B4834191}"/>
              </a:ext>
            </a:extLst>
          </p:cNvPr>
          <p:cNvSpPr>
            <a:spLocks noGrp="1"/>
          </p:cNvSpPr>
          <p:nvPr>
            <p:ph idx="1"/>
          </p:nvPr>
        </p:nvSpPr>
        <p:spPr>
          <a:xfrm>
            <a:off x="1281811" y="-199264"/>
            <a:ext cx="9638582" cy="828886"/>
          </a:xfrm>
        </p:spPr>
        <p:txBody>
          <a:bodyPr vert="horz" lIns="91440" tIns="45720" rIns="91440" bIns="45720" rtlCol="0" anchor="t">
            <a:normAutofit/>
          </a:bodyPr>
          <a:lstStyle/>
          <a:p>
            <a:pPr marL="0" indent="0" algn="just">
              <a:lnSpc>
                <a:spcPct val="100000"/>
              </a:lnSpc>
              <a:buNone/>
            </a:pPr>
            <a:r>
              <a:rPr lang="en-US" sz="1600">
                <a:latin typeface="Segoe UI"/>
                <a:cs typeface="Segoe UI"/>
              </a:rPr>
              <a:t>My exploratory analysis revealed several important patterns in the data. First, I found that 55% of participants selected the dominant credit card, while 45% chose suboptimal alternatives. This distribution provides a reasonable baseline for my predictive modeling efforts.</a:t>
            </a:r>
          </a:p>
          <a:p>
            <a:pPr marL="742950" lvl="1" indent="-285750">
              <a:lnSpc>
                <a:spcPct val="100000"/>
              </a:lnSpc>
              <a:buFont typeface="Courier New" panose="020B0604020202020204" pitchFamily="34" charset="0"/>
              <a:buChar char="o"/>
            </a:pPr>
            <a:endParaRPr lang="en-US" sz="1600">
              <a:latin typeface="Segoe UI"/>
              <a:cs typeface="Segoe UI"/>
            </a:endParaRPr>
          </a:p>
          <a:p>
            <a:pPr marL="0" indent="0">
              <a:lnSpc>
                <a:spcPct val="100000"/>
              </a:lnSpc>
              <a:buNone/>
            </a:pPr>
            <a:endParaRPr lang="en-US" sz="1600">
              <a:latin typeface="Segoe UI"/>
              <a:cs typeface="Segoe UI"/>
            </a:endParaRPr>
          </a:p>
        </p:txBody>
      </p:sp>
      <p:pic>
        <p:nvPicPr>
          <p:cNvPr id="5" name="Picture 4" descr="A blue background with a light&#10;&#10;AI-generated content may be incorrect.">
            <a:extLst>
              <a:ext uri="{FF2B5EF4-FFF2-40B4-BE49-F238E27FC236}">
                <a16:creationId xmlns:a16="http://schemas.microsoft.com/office/drawing/2014/main" id="{1D0F38B3-F2FD-2804-7E75-739B0675A3AC}"/>
              </a:ext>
            </a:extLst>
          </p:cNvPr>
          <p:cNvPicPr>
            <a:picLocks noChangeAspect="1"/>
          </p:cNvPicPr>
          <p:nvPr/>
        </p:nvPicPr>
        <p:blipFill>
          <a:blip r:embed="rId3"/>
          <a:srcRect l="38" b="78831"/>
          <a:stretch>
            <a:fillRect/>
          </a:stretch>
        </p:blipFill>
        <p:spPr>
          <a:xfrm>
            <a:off x="-130939" y="-366982"/>
            <a:ext cx="12458624" cy="1461046"/>
          </a:xfrm>
          <a:prstGeom prst="rect">
            <a:avLst/>
          </a:prstGeom>
        </p:spPr>
      </p:pic>
      <p:sp>
        <p:nvSpPr>
          <p:cNvPr id="7" name="Title 1">
            <a:extLst>
              <a:ext uri="{FF2B5EF4-FFF2-40B4-BE49-F238E27FC236}">
                <a16:creationId xmlns:a16="http://schemas.microsoft.com/office/drawing/2014/main" id="{CC5072B3-EEF1-7A3F-392B-001127BFF5E9}"/>
              </a:ext>
            </a:extLst>
          </p:cNvPr>
          <p:cNvSpPr txBox="1">
            <a:spLocks/>
          </p:cNvSpPr>
          <p:nvPr/>
        </p:nvSpPr>
        <p:spPr>
          <a:xfrm>
            <a:off x="838200" y="178219"/>
            <a:ext cx="10515600" cy="90861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a:solidFill>
                  <a:srgbClr val="FFFFFF"/>
                </a:solidFill>
                <a:latin typeface="Bell MT"/>
              </a:rPr>
              <a:t>Data Analysis Findings</a:t>
            </a:r>
            <a:endParaRPr lang="en-US"/>
          </a:p>
        </p:txBody>
      </p:sp>
      <p:graphicFrame>
        <p:nvGraphicFramePr>
          <p:cNvPr id="4" name="Table 3">
            <a:extLst>
              <a:ext uri="{FF2B5EF4-FFF2-40B4-BE49-F238E27FC236}">
                <a16:creationId xmlns:a16="http://schemas.microsoft.com/office/drawing/2014/main" id="{6F522990-B71F-A492-6C70-118388E173C7}"/>
              </a:ext>
            </a:extLst>
          </p:cNvPr>
          <p:cNvGraphicFramePr>
            <a:graphicFrameLocks noGrp="1"/>
          </p:cNvGraphicFramePr>
          <p:nvPr>
            <p:extLst>
              <p:ext uri="{D42A27DB-BD31-4B8C-83A1-F6EECF244321}">
                <p14:modId xmlns:p14="http://schemas.microsoft.com/office/powerpoint/2010/main" val="2959427635"/>
              </p:ext>
            </p:extLst>
          </p:nvPr>
        </p:nvGraphicFramePr>
        <p:xfrm>
          <a:off x="589935" y="1994910"/>
          <a:ext cx="11013778" cy="1902460"/>
        </p:xfrm>
        <a:graphic>
          <a:graphicData uri="http://schemas.openxmlformats.org/drawingml/2006/table">
            <a:tbl>
              <a:tblPr firstRow="1" bandRow="1">
                <a:tableStyleId>{2D5ABB26-0587-4C30-8999-92F81FD0307C}</a:tableStyleId>
              </a:tblPr>
              <a:tblGrid>
                <a:gridCol w="5506889">
                  <a:extLst>
                    <a:ext uri="{9D8B030D-6E8A-4147-A177-3AD203B41FA5}">
                      <a16:colId xmlns:a16="http://schemas.microsoft.com/office/drawing/2014/main" val="1171126430"/>
                    </a:ext>
                  </a:extLst>
                </a:gridCol>
                <a:gridCol w="5506889">
                  <a:extLst>
                    <a:ext uri="{9D8B030D-6E8A-4147-A177-3AD203B41FA5}">
                      <a16:colId xmlns:a16="http://schemas.microsoft.com/office/drawing/2014/main" val="3810298711"/>
                    </a:ext>
                  </a:extLst>
                </a:gridCol>
              </a:tblGrid>
              <a:tr h="933449">
                <a:tc>
                  <a:txBody>
                    <a:bodyPr/>
                    <a:lstStyle/>
                    <a:p>
                      <a:pPr marL="0" marR="0" lvl="0" indent="0" algn="l">
                        <a:lnSpc>
                          <a:spcPct val="100000"/>
                        </a:lnSpc>
                        <a:spcBef>
                          <a:spcPts val="1000"/>
                        </a:spcBef>
                        <a:spcAft>
                          <a:spcPts val="0"/>
                        </a:spcAft>
                        <a:buNone/>
                      </a:pPr>
                      <a:r>
                        <a:rPr lang="en-US" sz="1400" b="1" u="none" strike="noStrike" noProof="0">
                          <a:solidFill>
                            <a:schemeClr val="tx1"/>
                          </a:solidFill>
                          <a:latin typeface="Segoe UI"/>
                        </a:rPr>
                        <a:t>Demographic patterns I identified:</a:t>
                      </a:r>
                    </a:p>
                    <a:p>
                      <a:pPr marL="285750" marR="0" lvl="0" indent="-285750" algn="l">
                        <a:lnSpc>
                          <a:spcPct val="100000"/>
                        </a:lnSpc>
                        <a:spcBef>
                          <a:spcPts val="500"/>
                        </a:spcBef>
                        <a:spcAft>
                          <a:spcPts val="0"/>
                        </a:spcAft>
                        <a:buClr>
                          <a:srgbClr val="FFFFFF"/>
                        </a:buClr>
                        <a:buFont typeface="Courier New"/>
                        <a:buChar char="o"/>
                      </a:pPr>
                      <a:r>
                        <a:rPr lang="en-US" sz="1400" u="none" strike="noStrike" noProof="0">
                          <a:solidFill>
                            <a:schemeClr val="tx1"/>
                          </a:solidFill>
                          <a:latin typeface="Segoe UI"/>
                        </a:rPr>
                        <a:t>Age demonstrated a positive correlation with optimal choice (r=0.21)</a:t>
                      </a:r>
                    </a:p>
                    <a:p>
                      <a:pPr marL="285750" marR="0" lvl="0" indent="-285750" algn="l">
                        <a:lnSpc>
                          <a:spcPct val="100000"/>
                        </a:lnSpc>
                        <a:spcBef>
                          <a:spcPts val="500"/>
                        </a:spcBef>
                        <a:spcAft>
                          <a:spcPts val="0"/>
                        </a:spcAft>
                        <a:buClr>
                          <a:srgbClr val="FFFFFF"/>
                        </a:buClr>
                        <a:buFont typeface="Courier New"/>
                        <a:buChar char="o"/>
                      </a:pPr>
                      <a:r>
                        <a:rPr lang="en-US" sz="1400" u="none" strike="noStrike" noProof="0">
                          <a:solidFill>
                            <a:schemeClr val="tx1"/>
                          </a:solidFill>
                          <a:latin typeface="Segoe UI"/>
                        </a:rPr>
                        <a:t>Male participants selected the dominant card 62% of the time versus 58% for females</a:t>
                      </a:r>
                    </a:p>
                    <a:p>
                      <a:pPr marL="285750" marR="0" lvl="0" indent="-285750" algn="l">
                        <a:lnSpc>
                          <a:spcPct val="100000"/>
                        </a:lnSpc>
                        <a:spcBef>
                          <a:spcPts val="500"/>
                        </a:spcBef>
                        <a:spcAft>
                          <a:spcPts val="0"/>
                        </a:spcAft>
                        <a:buClr>
                          <a:srgbClr val="FFFFFF"/>
                        </a:buClr>
                        <a:buFont typeface="Courier New"/>
                        <a:buChar char="o"/>
                      </a:pPr>
                      <a:r>
                        <a:rPr lang="en-US" sz="1400" u="none" strike="noStrike" noProof="0">
                          <a:solidFill>
                            <a:schemeClr val="tx1"/>
                          </a:solidFill>
                          <a:latin typeface="Segoe UI"/>
                        </a:rPr>
                        <a:t>Higher income levels correlated with better decision quality</a:t>
                      </a:r>
                    </a:p>
                    <a:p>
                      <a:pPr marL="0" marR="0" lvl="0" indent="0" algn="l">
                        <a:lnSpc>
                          <a:spcPct val="100000"/>
                        </a:lnSpc>
                        <a:spcBef>
                          <a:spcPts val="1000"/>
                        </a:spcBef>
                        <a:spcAft>
                          <a:spcPts val="0"/>
                        </a:spcAft>
                        <a:buClr>
                          <a:srgbClr val="FFFFFF"/>
                        </a:buClr>
                        <a:buFont typeface="Courier New"/>
                        <a:buChar char="o"/>
                      </a:pPr>
                      <a:endParaRPr lang="en-US" sz="1400" u="none" strike="noStrike" noProof="0">
                        <a:solidFill>
                          <a:schemeClr val="tx1"/>
                        </a:solidFill>
                        <a:latin typeface="Segoe UI"/>
                      </a:endParaRPr>
                    </a:p>
                  </a:txBody>
                  <a:tcPr/>
                </a:tc>
                <a:tc>
                  <a:txBody>
                    <a:bodyPr/>
                    <a:lstStyle/>
                    <a:p>
                      <a:pPr marL="0" marR="0" lvl="0" indent="0" algn="l">
                        <a:lnSpc>
                          <a:spcPct val="100000"/>
                        </a:lnSpc>
                        <a:spcBef>
                          <a:spcPts val="1000"/>
                        </a:spcBef>
                        <a:spcAft>
                          <a:spcPts val="0"/>
                        </a:spcAft>
                        <a:buNone/>
                      </a:pPr>
                      <a:r>
                        <a:rPr lang="en-US" sz="1400" b="1" u="none" strike="noStrike" noProof="0">
                          <a:solidFill>
                            <a:schemeClr val="tx1"/>
                          </a:solidFill>
                          <a:latin typeface="Segoe UI"/>
                        </a:rPr>
                        <a:t>Experimental conditions I analyzed:</a:t>
                      </a:r>
                    </a:p>
                    <a:p>
                      <a:pPr marL="285750" marR="0" lvl="0" indent="-285750" algn="l">
                        <a:lnSpc>
                          <a:spcPct val="100000"/>
                        </a:lnSpc>
                        <a:spcBef>
                          <a:spcPts val="500"/>
                        </a:spcBef>
                        <a:spcAft>
                          <a:spcPts val="0"/>
                        </a:spcAft>
                        <a:buClr>
                          <a:srgbClr val="FFFFFF"/>
                        </a:buClr>
                        <a:buFont typeface="Courier New"/>
                        <a:buChar char="o"/>
                      </a:pPr>
                      <a:r>
                        <a:rPr lang="en-US" sz="1400" u="none" strike="noStrike" noProof="0">
                          <a:solidFill>
                            <a:schemeClr val="tx1"/>
                          </a:solidFill>
                          <a:latin typeface="Segoe UI"/>
                        </a:rPr>
                        <a:t>Implemental videos improved dominant card selection by 10 percentage points</a:t>
                      </a:r>
                    </a:p>
                    <a:p>
                      <a:pPr marL="285750" marR="0" lvl="0" indent="-285750" algn="l">
                        <a:lnSpc>
                          <a:spcPct val="100000"/>
                        </a:lnSpc>
                        <a:spcBef>
                          <a:spcPts val="500"/>
                        </a:spcBef>
                        <a:spcAft>
                          <a:spcPts val="0"/>
                        </a:spcAft>
                        <a:buClr>
                          <a:srgbClr val="FFFFFF"/>
                        </a:buClr>
                        <a:buFont typeface="Courier New"/>
                        <a:buChar char="o"/>
                      </a:pPr>
                      <a:r>
                        <a:rPr lang="en-US" sz="1400" u="none" strike="noStrike" noProof="0">
                          <a:solidFill>
                            <a:schemeClr val="tx1"/>
                          </a:solidFill>
                          <a:latin typeface="Segoe UI"/>
                        </a:rPr>
                        <a:t>Tagline presence showed minimal effect on choice outcomes</a:t>
                      </a:r>
                    </a:p>
                    <a:p>
                      <a:pPr marL="285750" marR="0" lvl="0" indent="-285750" algn="l">
                        <a:lnSpc>
                          <a:spcPct val="100000"/>
                        </a:lnSpc>
                        <a:spcBef>
                          <a:spcPts val="500"/>
                        </a:spcBef>
                        <a:spcAft>
                          <a:spcPts val="0"/>
                        </a:spcAft>
                        <a:buClr>
                          <a:srgbClr val="FFFFFF"/>
                        </a:buClr>
                        <a:buFont typeface="Courier New"/>
                        <a:buChar char="o"/>
                      </a:pPr>
                      <a:r>
                        <a:rPr lang="en-US" sz="1400" u="none" strike="noStrike" noProof="0">
                          <a:solidFill>
                            <a:schemeClr val="tx1"/>
                          </a:solidFill>
                          <a:latin typeface="Segoe UI"/>
                        </a:rPr>
                        <a:t>Confidence ratings emerged as the strongest predictor of optimal choice</a:t>
                      </a:r>
                      <a:endParaRPr lang="en-US" sz="1400">
                        <a:solidFill>
                          <a:schemeClr val="tx1"/>
                        </a:solidFill>
                        <a:latin typeface="Segoe UI"/>
                      </a:endParaRPr>
                    </a:p>
                  </a:txBody>
                  <a:tcPr/>
                </a:tc>
                <a:extLst>
                  <a:ext uri="{0D108BD9-81ED-4DB2-BD59-A6C34878D82A}">
                    <a16:rowId xmlns:a16="http://schemas.microsoft.com/office/drawing/2014/main" val="49449440"/>
                  </a:ext>
                </a:extLst>
              </a:tr>
            </a:tbl>
          </a:graphicData>
        </a:graphic>
      </p:graphicFrame>
      <p:sp>
        <p:nvSpPr>
          <p:cNvPr id="6" name="TextBox 5">
            <a:extLst>
              <a:ext uri="{FF2B5EF4-FFF2-40B4-BE49-F238E27FC236}">
                <a16:creationId xmlns:a16="http://schemas.microsoft.com/office/drawing/2014/main" id="{B62702FC-0DE8-8F24-168F-EA38291D8872}"/>
              </a:ext>
            </a:extLst>
          </p:cNvPr>
          <p:cNvSpPr txBox="1"/>
          <p:nvPr/>
        </p:nvSpPr>
        <p:spPr>
          <a:xfrm>
            <a:off x="1168400" y="1231900"/>
            <a:ext cx="985520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400">
                <a:solidFill>
                  <a:srgbClr val="000000"/>
                </a:solidFill>
                <a:latin typeface="Segoe UI"/>
                <a:ea typeface="quote-cjk-patch"/>
                <a:cs typeface="Segoe UI"/>
              </a:rPr>
              <a:t>55% of participants selected the dominant credit card, while 45% chose suboptimal alternatives. This distribution is the  baseline for my predictive modeling efforts.</a:t>
            </a:r>
            <a:endParaRPr lang="en-US" sz="1400">
              <a:solidFill>
                <a:srgbClr val="000000"/>
              </a:solidFill>
              <a:latin typeface="Segoe UI"/>
              <a:cs typeface="Segoe UI"/>
            </a:endParaRPr>
          </a:p>
          <a:p>
            <a:pPr algn="just"/>
            <a:endParaRPr lang="en-US" sz="1400">
              <a:solidFill>
                <a:srgbClr val="000000"/>
              </a:solidFill>
              <a:latin typeface="Segoe UI"/>
              <a:cs typeface="Segoe UI"/>
            </a:endParaRPr>
          </a:p>
        </p:txBody>
      </p:sp>
      <p:sp>
        <p:nvSpPr>
          <p:cNvPr id="8" name="TextBox 7">
            <a:extLst>
              <a:ext uri="{FF2B5EF4-FFF2-40B4-BE49-F238E27FC236}">
                <a16:creationId xmlns:a16="http://schemas.microsoft.com/office/drawing/2014/main" id="{F91B61F4-BEC1-6A3D-4433-F32D30E4FDD4}"/>
              </a:ext>
            </a:extLst>
          </p:cNvPr>
          <p:cNvSpPr txBox="1"/>
          <p:nvPr/>
        </p:nvSpPr>
        <p:spPr>
          <a:xfrm>
            <a:off x="2171700" y="6591300"/>
            <a:ext cx="78486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000000"/>
                </a:solidFill>
                <a:latin typeface="Segoe UI"/>
                <a:ea typeface="quote-cjk-patch"/>
                <a:cs typeface="Segoe UI"/>
              </a:rPr>
              <a:t>Implemental videos increased dominant card selection from 50% to 60%.</a:t>
            </a:r>
            <a:endParaRPr lang="en-US" sz="1400">
              <a:solidFill>
                <a:srgbClr val="000000"/>
              </a:solidFill>
              <a:latin typeface="Segoe UI"/>
              <a:cs typeface="Segoe UI"/>
            </a:endParaRPr>
          </a:p>
        </p:txBody>
      </p:sp>
    </p:spTree>
    <p:extLst>
      <p:ext uri="{BB962C8B-B14F-4D97-AF65-F5344CB8AC3E}">
        <p14:creationId xmlns:p14="http://schemas.microsoft.com/office/powerpoint/2010/main" val="41339744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A172C-CD30-047C-9F1C-3487A4F6483E}"/>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1CC8C8CA-2C9D-1EF7-45BA-9AEE255B3290}"/>
              </a:ext>
            </a:extLst>
          </p:cNvPr>
          <p:cNvPicPr>
            <a:picLocks noChangeAspect="1"/>
          </p:cNvPicPr>
          <p:nvPr/>
        </p:nvPicPr>
        <p:blipFill>
          <a:blip r:embed="rId2"/>
          <a:stretch>
            <a:fillRect/>
          </a:stretch>
        </p:blipFill>
        <p:spPr>
          <a:xfrm>
            <a:off x="6096765" y="1090246"/>
            <a:ext cx="6235148" cy="5767754"/>
          </a:xfrm>
          <a:prstGeom prst="rect">
            <a:avLst/>
          </a:prstGeom>
        </p:spPr>
      </p:pic>
      <p:sp>
        <p:nvSpPr>
          <p:cNvPr id="3" name="Content Placeholder 2">
            <a:extLst>
              <a:ext uri="{FF2B5EF4-FFF2-40B4-BE49-F238E27FC236}">
                <a16:creationId xmlns:a16="http://schemas.microsoft.com/office/drawing/2014/main" id="{6D804F84-38B1-A3E6-D49A-30472C3F4E18}"/>
              </a:ext>
            </a:extLst>
          </p:cNvPr>
          <p:cNvSpPr>
            <a:spLocks noGrp="1"/>
          </p:cNvSpPr>
          <p:nvPr>
            <p:ph idx="1"/>
          </p:nvPr>
        </p:nvSpPr>
        <p:spPr>
          <a:xfrm>
            <a:off x="835768" y="1423059"/>
            <a:ext cx="5078305" cy="5156470"/>
          </a:xfrm>
        </p:spPr>
        <p:txBody>
          <a:bodyPr vert="horz" lIns="91440" tIns="45720" rIns="91440" bIns="45720" rtlCol="0" anchor="t">
            <a:noAutofit/>
          </a:bodyPr>
          <a:lstStyle/>
          <a:p>
            <a:pPr marL="0" indent="0">
              <a:lnSpc>
                <a:spcPct val="120000"/>
              </a:lnSpc>
              <a:buNone/>
            </a:pPr>
            <a:r>
              <a:rPr lang="en-US" sz="1400">
                <a:latin typeface="Segoe UI"/>
                <a:cs typeface="Segoe UI"/>
              </a:rPr>
              <a:t>Behavioral metrics provided the strongest predictors of optimal choice in my analysis. Confidence ratings showed the highest correlation with dominant card selection (r=0.32), with each one-point increase in confidence associated with an 18% higher probability of choosing the optimal card.</a:t>
            </a:r>
          </a:p>
          <a:p>
            <a:pPr marL="0" indent="0">
              <a:lnSpc>
                <a:spcPct val="120000"/>
              </a:lnSpc>
              <a:buNone/>
            </a:pPr>
            <a:endParaRPr lang="en-US" sz="1400">
              <a:latin typeface="Segoe UI"/>
              <a:cs typeface="Segoe UI"/>
            </a:endParaRPr>
          </a:p>
          <a:p>
            <a:pPr marL="0" indent="0">
              <a:lnSpc>
                <a:spcPct val="120000"/>
              </a:lnSpc>
              <a:buNone/>
            </a:pPr>
            <a:r>
              <a:rPr lang="en-US" sz="1400" b="1">
                <a:latin typeface="Segoe UI"/>
                <a:cs typeface="Segoe UI"/>
              </a:rPr>
              <a:t>Key behavioral insights from my analysis:</a:t>
            </a:r>
          </a:p>
          <a:p>
            <a:pPr marL="742950" lvl="1" indent="-285750">
              <a:lnSpc>
                <a:spcPct val="120000"/>
              </a:lnSpc>
              <a:buFont typeface="Courier New" panose="020B0604020202020204" pitchFamily="34" charset="0"/>
              <a:buChar char="o"/>
            </a:pPr>
            <a:r>
              <a:rPr lang="en-US" sz="1400">
                <a:latin typeface="Segoe UI"/>
                <a:cs typeface="Segoe UI"/>
              </a:rPr>
              <a:t>Confidence levels: Participants reporting confidence above 5 (on a 7-point scale) chose the dominant card 78% of the time</a:t>
            </a:r>
          </a:p>
          <a:p>
            <a:pPr marL="742950" lvl="1" indent="-285750">
              <a:lnSpc>
                <a:spcPct val="120000"/>
              </a:lnSpc>
              <a:buFont typeface="Courier New" panose="020B0604020202020204" pitchFamily="34" charset="0"/>
              <a:buChar char="o"/>
            </a:pPr>
            <a:r>
              <a:rPr lang="en-US" sz="1400">
                <a:latin typeface="Segoe UI"/>
                <a:cs typeface="Segoe UI"/>
              </a:rPr>
              <a:t>Decision timing: Optimal decision time ranged between 60-120 seconds</a:t>
            </a:r>
          </a:p>
          <a:p>
            <a:pPr marL="742950" lvl="1" indent="-285750">
              <a:lnSpc>
                <a:spcPct val="120000"/>
              </a:lnSpc>
              <a:buFont typeface="Courier New" panose="020B0604020202020204" pitchFamily="34" charset="0"/>
              <a:buChar char="o"/>
            </a:pPr>
            <a:r>
              <a:rPr lang="en-US" sz="1400">
                <a:latin typeface="Segoe UI"/>
                <a:cs typeface="Segoe UI"/>
              </a:rPr>
              <a:t>Attention patterns: Viewing the dominant card longest increased selection probability by 40%</a:t>
            </a:r>
          </a:p>
          <a:p>
            <a:pPr marL="742950" lvl="1" indent="-285750">
              <a:lnSpc>
                <a:spcPct val="120000"/>
              </a:lnSpc>
              <a:buFont typeface="Courier New" panose="020B0604020202020204" pitchFamily="34" charset="0"/>
              <a:buChar char="o"/>
            </a:pPr>
            <a:r>
              <a:rPr lang="en-US" sz="1400">
                <a:latin typeface="Segoe UI"/>
                <a:cs typeface="Segoe UI"/>
              </a:rPr>
              <a:t>Click behavior: Higher click counts correlated with more deliberative decision-making</a:t>
            </a:r>
          </a:p>
        </p:txBody>
      </p:sp>
      <p:pic>
        <p:nvPicPr>
          <p:cNvPr id="5" name="Picture 4" descr="A blue background with a light&#10;&#10;AI-generated content may be incorrect.">
            <a:extLst>
              <a:ext uri="{FF2B5EF4-FFF2-40B4-BE49-F238E27FC236}">
                <a16:creationId xmlns:a16="http://schemas.microsoft.com/office/drawing/2014/main" id="{B38328F5-FCD3-6E57-B1A5-340B688B8028}"/>
              </a:ext>
            </a:extLst>
          </p:cNvPr>
          <p:cNvPicPr>
            <a:picLocks noChangeAspect="1"/>
          </p:cNvPicPr>
          <p:nvPr/>
        </p:nvPicPr>
        <p:blipFill>
          <a:blip r:embed="rId3"/>
          <a:srcRect l="38" b="78831"/>
          <a:stretch>
            <a:fillRect/>
          </a:stretch>
        </p:blipFill>
        <p:spPr>
          <a:xfrm>
            <a:off x="-130939" y="-366982"/>
            <a:ext cx="12458624" cy="1461046"/>
          </a:xfrm>
          <a:prstGeom prst="rect">
            <a:avLst/>
          </a:prstGeom>
        </p:spPr>
      </p:pic>
      <p:sp>
        <p:nvSpPr>
          <p:cNvPr id="7" name="Title 1">
            <a:extLst>
              <a:ext uri="{FF2B5EF4-FFF2-40B4-BE49-F238E27FC236}">
                <a16:creationId xmlns:a16="http://schemas.microsoft.com/office/drawing/2014/main" id="{6F46152E-B6BC-4FB9-D30F-3324EFBD766A}"/>
              </a:ext>
            </a:extLst>
          </p:cNvPr>
          <p:cNvSpPr txBox="1">
            <a:spLocks/>
          </p:cNvSpPr>
          <p:nvPr/>
        </p:nvSpPr>
        <p:spPr>
          <a:xfrm>
            <a:off x="838200" y="178219"/>
            <a:ext cx="10515600" cy="90861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a:solidFill>
                  <a:srgbClr val="FFFFFF"/>
                </a:solidFill>
                <a:latin typeface="Bell MT"/>
              </a:rPr>
              <a:t>Behavioral Metrics And Correlation Analysis</a:t>
            </a:r>
            <a:endParaRPr lang="en-US"/>
          </a:p>
        </p:txBody>
      </p:sp>
    </p:spTree>
    <p:extLst>
      <p:ext uri="{BB962C8B-B14F-4D97-AF65-F5344CB8AC3E}">
        <p14:creationId xmlns:p14="http://schemas.microsoft.com/office/powerpoint/2010/main" val="12974016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BAA08-B722-7401-EE39-A2A5423E3BD6}"/>
            </a:ext>
          </a:extLst>
        </p:cNvPr>
        <p:cNvGrpSpPr/>
        <p:nvPr/>
      </p:nvGrpSpPr>
      <p:grpSpPr>
        <a:xfrm>
          <a:off x="0" y="0"/>
          <a:ext cx="0" cy="0"/>
          <a:chOff x="0" y="0"/>
          <a:chExt cx="0" cy="0"/>
        </a:xfrm>
      </p:grpSpPr>
      <p:pic>
        <p:nvPicPr>
          <p:cNvPr id="2" name="Picture 1" descr="A graph of a graph showing different colored bars&#10;&#10;AI-generated content may be incorrect.">
            <a:extLst>
              <a:ext uri="{FF2B5EF4-FFF2-40B4-BE49-F238E27FC236}">
                <a16:creationId xmlns:a16="http://schemas.microsoft.com/office/drawing/2014/main" id="{ECF00F0A-DC81-37D5-ADC0-FE41B2956AC2}"/>
              </a:ext>
            </a:extLst>
          </p:cNvPr>
          <p:cNvPicPr>
            <a:picLocks noChangeAspect="1"/>
          </p:cNvPicPr>
          <p:nvPr/>
        </p:nvPicPr>
        <p:blipFill>
          <a:blip r:embed="rId2"/>
          <a:srcRect t="-73" r="3158" b="-304"/>
          <a:stretch>
            <a:fillRect/>
          </a:stretch>
        </p:blipFill>
        <p:spPr>
          <a:xfrm>
            <a:off x="110612" y="2565609"/>
            <a:ext cx="8381573" cy="4293732"/>
          </a:xfrm>
          <a:prstGeom prst="rect">
            <a:avLst/>
          </a:prstGeom>
        </p:spPr>
      </p:pic>
      <p:sp>
        <p:nvSpPr>
          <p:cNvPr id="3" name="Content Placeholder 2">
            <a:extLst>
              <a:ext uri="{FF2B5EF4-FFF2-40B4-BE49-F238E27FC236}">
                <a16:creationId xmlns:a16="http://schemas.microsoft.com/office/drawing/2014/main" id="{7B78136C-B762-4B3F-3587-AC2990DE4470}"/>
              </a:ext>
            </a:extLst>
          </p:cNvPr>
          <p:cNvSpPr>
            <a:spLocks noGrp="1"/>
          </p:cNvSpPr>
          <p:nvPr>
            <p:ph idx="1"/>
          </p:nvPr>
        </p:nvSpPr>
        <p:spPr>
          <a:xfrm>
            <a:off x="637916" y="1228564"/>
            <a:ext cx="7676071" cy="1684802"/>
          </a:xfrm>
        </p:spPr>
        <p:txBody>
          <a:bodyPr vert="horz" lIns="91440" tIns="45720" rIns="91440" bIns="45720" rtlCol="0" anchor="t">
            <a:noAutofit/>
          </a:bodyPr>
          <a:lstStyle/>
          <a:p>
            <a:pPr marL="0" indent="0" algn="just">
              <a:lnSpc>
                <a:spcPct val="120000"/>
              </a:lnSpc>
              <a:buNone/>
            </a:pPr>
            <a:r>
              <a:rPr lang="en-US" sz="1400">
                <a:latin typeface="Segoe UI"/>
                <a:cs typeface="Segoe UI"/>
              </a:rPr>
              <a:t>I first applied logistic regression to identify linear relationships between predictors and the target variable. Using an 80/20 train-test split with stratified sampling, I developed a model that achieved 72.5% accuracy on the test set. The model's ROC-AUC score of 0.748 indicates good discrimination ability between those who would and would not choose the dominant card.</a:t>
            </a:r>
            <a:endParaRPr lang="en-US" sz="1400"/>
          </a:p>
          <a:p>
            <a:pPr marL="0" indent="0" algn="just">
              <a:lnSpc>
                <a:spcPct val="120000"/>
              </a:lnSpc>
              <a:buNone/>
            </a:pPr>
            <a:endParaRPr lang="en-US" sz="1400">
              <a:latin typeface="Segoe UI"/>
              <a:cs typeface="Segoe UI"/>
            </a:endParaRPr>
          </a:p>
        </p:txBody>
      </p:sp>
      <p:pic>
        <p:nvPicPr>
          <p:cNvPr id="5" name="Picture 4" descr="A blue background with a light&#10;&#10;AI-generated content may be incorrect.">
            <a:extLst>
              <a:ext uri="{FF2B5EF4-FFF2-40B4-BE49-F238E27FC236}">
                <a16:creationId xmlns:a16="http://schemas.microsoft.com/office/drawing/2014/main" id="{E70348B5-6E3D-5515-9ECB-9D5524C3D9A2}"/>
              </a:ext>
            </a:extLst>
          </p:cNvPr>
          <p:cNvPicPr>
            <a:picLocks noChangeAspect="1"/>
          </p:cNvPicPr>
          <p:nvPr/>
        </p:nvPicPr>
        <p:blipFill>
          <a:blip r:embed="rId3"/>
          <a:srcRect l="38" b="78831"/>
          <a:stretch>
            <a:fillRect/>
          </a:stretch>
        </p:blipFill>
        <p:spPr>
          <a:xfrm>
            <a:off x="-130939" y="-366982"/>
            <a:ext cx="12458624" cy="1461046"/>
          </a:xfrm>
          <a:prstGeom prst="rect">
            <a:avLst/>
          </a:prstGeom>
        </p:spPr>
      </p:pic>
      <p:sp>
        <p:nvSpPr>
          <p:cNvPr id="7" name="Title 1">
            <a:extLst>
              <a:ext uri="{FF2B5EF4-FFF2-40B4-BE49-F238E27FC236}">
                <a16:creationId xmlns:a16="http://schemas.microsoft.com/office/drawing/2014/main" id="{8FDB6CAD-957B-CEA5-95B7-9B3F5B159100}"/>
              </a:ext>
            </a:extLst>
          </p:cNvPr>
          <p:cNvSpPr txBox="1">
            <a:spLocks/>
          </p:cNvSpPr>
          <p:nvPr/>
        </p:nvSpPr>
        <p:spPr>
          <a:xfrm>
            <a:off x="838200" y="178219"/>
            <a:ext cx="10515600" cy="90861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a:solidFill>
                  <a:srgbClr val="FFFFFF"/>
                </a:solidFill>
                <a:latin typeface="Bell MT"/>
              </a:rPr>
              <a:t>Technique 1 - Logistic Regression Results</a:t>
            </a:r>
            <a:endParaRPr lang="en-US"/>
          </a:p>
        </p:txBody>
      </p:sp>
      <p:sp>
        <p:nvSpPr>
          <p:cNvPr id="4" name="TextBox 3">
            <a:extLst>
              <a:ext uri="{FF2B5EF4-FFF2-40B4-BE49-F238E27FC236}">
                <a16:creationId xmlns:a16="http://schemas.microsoft.com/office/drawing/2014/main" id="{733BF853-86B6-895D-FA5D-C8BC6FD48EB5}"/>
              </a:ext>
            </a:extLst>
          </p:cNvPr>
          <p:cNvSpPr txBox="1"/>
          <p:nvPr/>
        </p:nvSpPr>
        <p:spPr>
          <a:xfrm>
            <a:off x="8815176" y="4498258"/>
            <a:ext cx="3076755"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rtl="0"/>
            <a:r>
              <a:rPr lang="en-US" sz="1400" b="1" baseline="0">
                <a:latin typeface="Segoe UI"/>
                <a:ea typeface="Segoe UI"/>
                <a:cs typeface="Segoe UI"/>
              </a:rPr>
              <a:t>My model performance metrics:</a:t>
            </a:r>
            <a:r>
              <a:rPr lang="en-US" sz="1400">
                <a:latin typeface="Segoe UI"/>
                <a:ea typeface="Segoe UI"/>
                <a:cs typeface="Segoe UI"/>
              </a:rPr>
              <a:t>​</a:t>
            </a:r>
          </a:p>
          <a:p>
            <a:pPr marL="742950" lvl="1" indent="-285750" rtl="0">
              <a:buFont typeface="Courier New,monospace"/>
              <a:buChar char="o"/>
            </a:pPr>
            <a:r>
              <a:rPr lang="en-US" sz="1400" baseline="0">
                <a:latin typeface="Segoe UI"/>
                <a:ea typeface="Arial"/>
                <a:cs typeface="Arial"/>
              </a:rPr>
              <a:t>Accuracy: 72.5%</a:t>
            </a:r>
            <a:r>
              <a:rPr lang="en-US" sz="1400">
                <a:latin typeface="Segoe UI"/>
                <a:ea typeface="Arial"/>
                <a:cs typeface="Arial"/>
              </a:rPr>
              <a:t>​</a:t>
            </a:r>
          </a:p>
          <a:p>
            <a:pPr marL="742950" lvl="1" indent="-285750" rtl="0">
              <a:buFont typeface="Courier New,monospace"/>
              <a:buChar char="o"/>
            </a:pPr>
            <a:r>
              <a:rPr lang="en-US" sz="1400" baseline="0">
                <a:latin typeface="Segoe UI"/>
                <a:ea typeface="Arial"/>
                <a:cs typeface="Arial"/>
              </a:rPr>
              <a:t>Precision: 71.4%</a:t>
            </a:r>
            <a:r>
              <a:rPr lang="en-US" sz="1400">
                <a:latin typeface="Segoe UI"/>
                <a:ea typeface="Arial"/>
                <a:cs typeface="Arial"/>
              </a:rPr>
              <a:t>​</a:t>
            </a:r>
          </a:p>
          <a:p>
            <a:pPr marL="742950" lvl="1" indent="-285750" rtl="0">
              <a:buFont typeface="Courier New,monospace"/>
              <a:buChar char="o"/>
            </a:pPr>
            <a:r>
              <a:rPr lang="en-US" sz="1400" baseline="0">
                <a:latin typeface="Segoe UI"/>
                <a:ea typeface="Arial"/>
                <a:cs typeface="Arial"/>
              </a:rPr>
              <a:t>Recall: 76.9%</a:t>
            </a:r>
            <a:r>
              <a:rPr lang="en-US" sz="1400">
                <a:latin typeface="Segoe UI"/>
                <a:ea typeface="Arial"/>
                <a:cs typeface="Arial"/>
              </a:rPr>
              <a:t>​</a:t>
            </a:r>
          </a:p>
          <a:p>
            <a:pPr marL="742950" lvl="1" indent="-285750" rtl="0">
              <a:buFont typeface="Courier New,monospace"/>
              <a:buChar char="o"/>
            </a:pPr>
            <a:r>
              <a:rPr lang="en-US" sz="1400" baseline="0">
                <a:latin typeface="Segoe UI"/>
                <a:ea typeface="Arial"/>
                <a:cs typeface="Arial"/>
              </a:rPr>
              <a:t>F1-Score: 74.1%</a:t>
            </a:r>
            <a:r>
              <a:rPr lang="en-US" sz="1400">
                <a:latin typeface="Segoe UI"/>
                <a:ea typeface="Arial"/>
                <a:cs typeface="Arial"/>
              </a:rPr>
              <a:t>​</a:t>
            </a:r>
          </a:p>
          <a:p>
            <a:pPr marL="742950" lvl="1" indent="-285750" rtl="0">
              <a:buFont typeface="Courier New,monospace"/>
              <a:buChar char="o"/>
            </a:pPr>
            <a:r>
              <a:rPr lang="en-US" sz="1400" baseline="0">
                <a:latin typeface="Segoe UI"/>
                <a:ea typeface="Arial"/>
                <a:cs typeface="Arial"/>
              </a:rPr>
              <a:t>ROC-AUC: 0.748</a:t>
            </a:r>
          </a:p>
        </p:txBody>
      </p:sp>
      <p:sp>
        <p:nvSpPr>
          <p:cNvPr id="6" name="TextBox 5">
            <a:extLst>
              <a:ext uri="{FF2B5EF4-FFF2-40B4-BE49-F238E27FC236}">
                <a16:creationId xmlns:a16="http://schemas.microsoft.com/office/drawing/2014/main" id="{AFAAAC28-2C41-1588-8CA2-20CF52378D87}"/>
              </a:ext>
            </a:extLst>
          </p:cNvPr>
          <p:cNvSpPr txBox="1"/>
          <p:nvPr/>
        </p:nvSpPr>
        <p:spPr>
          <a:xfrm>
            <a:off x="8492613" y="1536290"/>
            <a:ext cx="3699386" cy="31700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rtl="0"/>
            <a:r>
              <a:rPr lang="en-US" sz="1400">
                <a:latin typeface="Segoe UI"/>
                <a:ea typeface="Segoe UI"/>
                <a:cs typeface="Segoe UI"/>
              </a:rPr>
              <a:t>​</a:t>
            </a:r>
          </a:p>
          <a:p>
            <a:pPr rtl="0"/>
            <a:r>
              <a:rPr lang="en-US" sz="1400" b="1" baseline="0">
                <a:latin typeface="Segoe UI"/>
                <a:ea typeface="Segoe UI"/>
                <a:cs typeface="Segoe UI"/>
              </a:rPr>
              <a:t>Feature importance analysis from my logistic regression:</a:t>
            </a:r>
            <a:r>
              <a:rPr lang="en-US" sz="1400">
                <a:latin typeface="Segoe UI"/>
                <a:ea typeface="Segoe UI"/>
                <a:cs typeface="Segoe UI"/>
              </a:rPr>
              <a:t>​</a:t>
            </a:r>
          </a:p>
          <a:p>
            <a:pPr marL="742950" lvl="1" indent="-285750" rtl="0">
              <a:buFont typeface="Courier New,monospace"/>
              <a:buChar char="o"/>
            </a:pPr>
            <a:r>
              <a:rPr lang="en-US" sz="1400" baseline="0">
                <a:latin typeface="Segoe UI"/>
                <a:ea typeface="Arial"/>
                <a:cs typeface="Arial"/>
              </a:rPr>
              <a:t>Confidence ratings emerged as the strongest predictor (coefficient = 0.42)</a:t>
            </a:r>
            <a:r>
              <a:rPr lang="en-US" sz="1400">
                <a:latin typeface="Segoe UI"/>
                <a:ea typeface="Arial"/>
                <a:cs typeface="Arial"/>
              </a:rPr>
              <a:t>​</a:t>
            </a:r>
          </a:p>
          <a:p>
            <a:pPr marL="742950" lvl="1" indent="-285750" rtl="0">
              <a:buFont typeface="Courier New,monospace"/>
              <a:buChar char="o"/>
            </a:pPr>
            <a:r>
              <a:rPr lang="en-US" sz="1400" baseline="0">
                <a:latin typeface="Segoe UI"/>
                <a:ea typeface="Arial"/>
                <a:cs typeface="Arial"/>
              </a:rPr>
              <a:t>Implemental video condition showed significant positive impact (coefficient = 0.28)</a:t>
            </a:r>
            <a:r>
              <a:rPr lang="en-US" sz="1400">
                <a:latin typeface="Segoe UI"/>
                <a:ea typeface="Arial"/>
                <a:cs typeface="Arial"/>
              </a:rPr>
              <a:t>​</a:t>
            </a:r>
          </a:p>
          <a:p>
            <a:pPr marL="742950" lvl="1" indent="-285750" rtl="0">
              <a:buFont typeface="Courier New,monospace"/>
              <a:buChar char="o"/>
            </a:pPr>
            <a:r>
              <a:rPr lang="en-US" sz="1400" baseline="0">
                <a:latin typeface="Segoe UI"/>
                <a:ea typeface="Arial"/>
                <a:cs typeface="Arial"/>
              </a:rPr>
              <a:t>Decision time demonstrated a moderate positive effect on choice quality</a:t>
            </a:r>
            <a:r>
              <a:rPr lang="en-US" sz="1400">
                <a:latin typeface="Segoe UI"/>
                <a:ea typeface="Arial"/>
                <a:cs typeface="Arial"/>
              </a:rPr>
              <a:t>​</a:t>
            </a:r>
          </a:p>
          <a:p>
            <a:pPr rtl="0"/>
            <a:r>
              <a:rPr lang="en-US" sz="1400">
                <a:latin typeface="Segoe UI"/>
                <a:ea typeface="Segoe UI"/>
                <a:cs typeface="Segoe UI"/>
              </a:rPr>
              <a:t>​</a:t>
            </a:r>
          </a:p>
          <a:p>
            <a:pPr algn="ctr"/>
            <a:endParaRPr lang="en-US"/>
          </a:p>
        </p:txBody>
      </p:sp>
    </p:spTree>
    <p:extLst>
      <p:ext uri="{BB962C8B-B14F-4D97-AF65-F5344CB8AC3E}">
        <p14:creationId xmlns:p14="http://schemas.microsoft.com/office/powerpoint/2010/main" val="5253261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3AD25-0F04-82B3-5B51-2336358B2E67}"/>
            </a:ext>
          </a:extLst>
        </p:cNvPr>
        <p:cNvGrpSpPr/>
        <p:nvPr/>
      </p:nvGrpSpPr>
      <p:grpSpPr>
        <a:xfrm>
          <a:off x="0" y="0"/>
          <a:ext cx="0" cy="0"/>
          <a:chOff x="0" y="0"/>
          <a:chExt cx="0" cy="0"/>
        </a:xfrm>
      </p:grpSpPr>
      <p:pic>
        <p:nvPicPr>
          <p:cNvPr id="2" name="Picture 1" descr="A diagram of a decision tree&#10;&#10;AI-generated content may be incorrect.">
            <a:extLst>
              <a:ext uri="{FF2B5EF4-FFF2-40B4-BE49-F238E27FC236}">
                <a16:creationId xmlns:a16="http://schemas.microsoft.com/office/drawing/2014/main" id="{8B9FDC08-3BE4-05B5-9265-045C379AB98C}"/>
              </a:ext>
            </a:extLst>
          </p:cNvPr>
          <p:cNvPicPr>
            <a:picLocks noChangeAspect="1"/>
          </p:cNvPicPr>
          <p:nvPr/>
        </p:nvPicPr>
        <p:blipFill>
          <a:blip r:embed="rId2"/>
          <a:srcRect l="945" r="2479" b="7109"/>
          <a:stretch>
            <a:fillRect/>
          </a:stretch>
        </p:blipFill>
        <p:spPr>
          <a:xfrm>
            <a:off x="201283" y="1099360"/>
            <a:ext cx="11774619" cy="5631269"/>
          </a:xfrm>
          <a:prstGeom prst="rect">
            <a:avLst/>
          </a:prstGeom>
        </p:spPr>
      </p:pic>
      <p:pic>
        <p:nvPicPr>
          <p:cNvPr id="5" name="Picture 4" descr="A blue background with a light&#10;&#10;AI-generated content may be incorrect.">
            <a:extLst>
              <a:ext uri="{FF2B5EF4-FFF2-40B4-BE49-F238E27FC236}">
                <a16:creationId xmlns:a16="http://schemas.microsoft.com/office/drawing/2014/main" id="{3BFD1B7D-F111-9F66-1D64-EE5D20416A1A}"/>
              </a:ext>
            </a:extLst>
          </p:cNvPr>
          <p:cNvPicPr>
            <a:picLocks noChangeAspect="1"/>
          </p:cNvPicPr>
          <p:nvPr/>
        </p:nvPicPr>
        <p:blipFill>
          <a:blip r:embed="rId3"/>
          <a:srcRect l="38" b="78831"/>
          <a:stretch>
            <a:fillRect/>
          </a:stretch>
        </p:blipFill>
        <p:spPr>
          <a:xfrm>
            <a:off x="-130939" y="-366982"/>
            <a:ext cx="12458624" cy="1461046"/>
          </a:xfrm>
          <a:prstGeom prst="rect">
            <a:avLst/>
          </a:prstGeom>
        </p:spPr>
      </p:pic>
      <p:sp>
        <p:nvSpPr>
          <p:cNvPr id="7" name="Title 1">
            <a:extLst>
              <a:ext uri="{FF2B5EF4-FFF2-40B4-BE49-F238E27FC236}">
                <a16:creationId xmlns:a16="http://schemas.microsoft.com/office/drawing/2014/main" id="{C56D0E9D-0DE9-14B4-6641-08EB41001404}"/>
              </a:ext>
            </a:extLst>
          </p:cNvPr>
          <p:cNvSpPr txBox="1">
            <a:spLocks/>
          </p:cNvSpPr>
          <p:nvPr/>
        </p:nvSpPr>
        <p:spPr>
          <a:xfrm>
            <a:off x="838200" y="178219"/>
            <a:ext cx="10515600" cy="90861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a:solidFill>
                  <a:srgbClr val="FFFFFF"/>
                </a:solidFill>
                <a:latin typeface="Bell MT"/>
              </a:rPr>
              <a:t>Technique 2 - Decision Tree Analysis Results</a:t>
            </a:r>
            <a:endParaRPr lang="en-US"/>
          </a:p>
        </p:txBody>
      </p:sp>
      <p:sp>
        <p:nvSpPr>
          <p:cNvPr id="9" name="TextBox 8">
            <a:extLst>
              <a:ext uri="{FF2B5EF4-FFF2-40B4-BE49-F238E27FC236}">
                <a16:creationId xmlns:a16="http://schemas.microsoft.com/office/drawing/2014/main" id="{8A9E4253-5178-44A1-74EB-017E6D85E790}"/>
              </a:ext>
            </a:extLst>
          </p:cNvPr>
          <p:cNvSpPr txBox="1"/>
          <p:nvPr/>
        </p:nvSpPr>
        <p:spPr>
          <a:xfrm>
            <a:off x="7361207" y="1258020"/>
            <a:ext cx="4701396"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400">
                <a:latin typeface="Segoe UI"/>
                <a:cs typeface="Segoe UI"/>
              </a:rPr>
              <a:t>Key splitting rules based on confidence and video type.</a:t>
            </a:r>
            <a:endParaRPr lang="en-US"/>
          </a:p>
        </p:txBody>
      </p:sp>
    </p:spTree>
    <p:extLst>
      <p:ext uri="{BB962C8B-B14F-4D97-AF65-F5344CB8AC3E}">
        <p14:creationId xmlns:p14="http://schemas.microsoft.com/office/powerpoint/2010/main" val="25885673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27C50-DBB6-B353-3464-85878291B76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BD69DD1-C791-5F50-BB5D-5DC50A796178}"/>
              </a:ext>
            </a:extLst>
          </p:cNvPr>
          <p:cNvSpPr>
            <a:spLocks noGrp="1"/>
          </p:cNvSpPr>
          <p:nvPr>
            <p:ph idx="1"/>
          </p:nvPr>
        </p:nvSpPr>
        <p:spPr>
          <a:xfrm>
            <a:off x="1269521" y="1423059"/>
            <a:ext cx="9638582" cy="5156470"/>
          </a:xfrm>
        </p:spPr>
        <p:txBody>
          <a:bodyPr vert="horz" lIns="91440" tIns="45720" rIns="91440" bIns="45720" rtlCol="0" anchor="t">
            <a:normAutofit/>
          </a:bodyPr>
          <a:lstStyle/>
          <a:p>
            <a:pPr marL="0" indent="0">
              <a:lnSpc>
                <a:spcPct val="100000"/>
              </a:lnSpc>
              <a:buNone/>
            </a:pPr>
            <a:r>
              <a:rPr lang="en-US" sz="1800">
                <a:latin typeface="Segoe UI"/>
                <a:cs typeface="Segoe UI"/>
              </a:rPr>
              <a:t>My decision tree model achieved 70% accuracy while providing clear, interpretable rules for predicting credit card choices. My analysis revealed that confidence levels play a crucial role in decision quality, with participants reporting confidence above 5 / 7 choosing the dominant card 78% of the time.</a:t>
            </a:r>
          </a:p>
          <a:p>
            <a:pPr marL="0" indent="0">
              <a:lnSpc>
                <a:spcPct val="100000"/>
              </a:lnSpc>
              <a:buNone/>
            </a:pPr>
            <a:endParaRPr lang="en-US" sz="1800">
              <a:latin typeface="Segoe UI"/>
              <a:cs typeface="Segoe UI"/>
            </a:endParaRPr>
          </a:p>
          <a:p>
            <a:pPr marL="0" indent="0">
              <a:lnSpc>
                <a:spcPct val="100000"/>
              </a:lnSpc>
              <a:buNone/>
            </a:pPr>
            <a:r>
              <a:rPr lang="en-US" sz="1800" b="1">
                <a:latin typeface="Segoe UI"/>
                <a:cs typeface="Segoe UI"/>
              </a:rPr>
              <a:t>Key decision pathways I identified:</a:t>
            </a:r>
          </a:p>
          <a:p>
            <a:pPr marL="742950" lvl="1" indent="-285750">
              <a:lnSpc>
                <a:spcPct val="100000"/>
              </a:lnSpc>
              <a:buFont typeface="Courier New" panose="020B0604020202020204" pitchFamily="34" charset="0"/>
              <a:buChar char="o"/>
            </a:pPr>
            <a:r>
              <a:rPr lang="en-US" sz="1800">
                <a:latin typeface="Segoe UI"/>
                <a:cs typeface="Segoe UI"/>
              </a:rPr>
              <a:t>High confidence path: Confidence &gt; 5 -&gt; 78% choose dominant card</a:t>
            </a:r>
          </a:p>
          <a:p>
            <a:pPr marL="742950" lvl="1" indent="-285750">
              <a:lnSpc>
                <a:spcPct val="100000"/>
              </a:lnSpc>
              <a:buFont typeface="Courier New" panose="020B0604020202020204" pitchFamily="34" charset="0"/>
              <a:buChar char="o"/>
            </a:pPr>
            <a:r>
              <a:rPr lang="en-US" sz="1800">
                <a:latin typeface="Segoe UI"/>
                <a:cs typeface="Segoe UI"/>
              </a:rPr>
              <a:t>Educational boost: Confidence 4-5 AND Implemental video -&gt; 73% choose dominant</a:t>
            </a:r>
          </a:p>
          <a:p>
            <a:pPr marL="742950" lvl="1" indent="-285750">
              <a:lnSpc>
                <a:spcPct val="100000"/>
              </a:lnSpc>
              <a:buFont typeface="Courier New" panose="020B0604020202020204" pitchFamily="34" charset="0"/>
              <a:buChar char="o"/>
            </a:pPr>
            <a:r>
              <a:rPr lang="en-US" sz="1800">
                <a:latin typeface="Segoe UI"/>
                <a:cs typeface="Segoe UI"/>
              </a:rPr>
              <a:t>Risk factors present: Confidence ≤ 3 AND decision time &gt; 120s -&gt; Only 32% choose dominant</a:t>
            </a:r>
          </a:p>
          <a:p>
            <a:pPr marL="0" indent="0">
              <a:lnSpc>
                <a:spcPct val="100000"/>
              </a:lnSpc>
              <a:buNone/>
            </a:pPr>
            <a:r>
              <a:rPr lang="en-US" sz="1800">
                <a:latin typeface="Segoe UI"/>
                <a:cs typeface="Segoe UI"/>
              </a:rPr>
              <a:t>These rules provide insights for the intervention design that I developed. With it I recommend targeting customers with moderate confidence levels (4-5) with educational content to improve their decision outcomes. Similarly, customers with low confidence and long decision times need additional support mechanisms based on my findings.</a:t>
            </a:r>
          </a:p>
          <a:p>
            <a:pPr marL="0" indent="0">
              <a:lnSpc>
                <a:spcPct val="100000"/>
              </a:lnSpc>
              <a:buNone/>
            </a:pPr>
            <a:endParaRPr lang="en-US" sz="1800">
              <a:latin typeface="Segoe UI"/>
              <a:cs typeface="Segoe UI"/>
            </a:endParaRPr>
          </a:p>
        </p:txBody>
      </p:sp>
      <p:pic>
        <p:nvPicPr>
          <p:cNvPr id="5" name="Picture 4" descr="A blue background with a light&#10;&#10;AI-generated content may be incorrect.">
            <a:extLst>
              <a:ext uri="{FF2B5EF4-FFF2-40B4-BE49-F238E27FC236}">
                <a16:creationId xmlns:a16="http://schemas.microsoft.com/office/drawing/2014/main" id="{1DE26C31-0054-2A4E-366A-E3848D0098FC}"/>
              </a:ext>
            </a:extLst>
          </p:cNvPr>
          <p:cNvPicPr>
            <a:picLocks noChangeAspect="1"/>
          </p:cNvPicPr>
          <p:nvPr/>
        </p:nvPicPr>
        <p:blipFill>
          <a:blip r:embed="rId2"/>
          <a:srcRect l="38" b="78831"/>
          <a:stretch>
            <a:fillRect/>
          </a:stretch>
        </p:blipFill>
        <p:spPr>
          <a:xfrm>
            <a:off x="-130939" y="-366982"/>
            <a:ext cx="12458624" cy="1461046"/>
          </a:xfrm>
          <a:prstGeom prst="rect">
            <a:avLst/>
          </a:prstGeom>
        </p:spPr>
      </p:pic>
      <p:sp>
        <p:nvSpPr>
          <p:cNvPr id="7" name="Title 1">
            <a:extLst>
              <a:ext uri="{FF2B5EF4-FFF2-40B4-BE49-F238E27FC236}">
                <a16:creationId xmlns:a16="http://schemas.microsoft.com/office/drawing/2014/main" id="{7099EBF1-6918-A57C-23A9-79357D247554}"/>
              </a:ext>
            </a:extLst>
          </p:cNvPr>
          <p:cNvSpPr txBox="1">
            <a:spLocks/>
          </p:cNvSpPr>
          <p:nvPr/>
        </p:nvSpPr>
        <p:spPr>
          <a:xfrm>
            <a:off x="838200" y="178219"/>
            <a:ext cx="10515600" cy="90861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a:solidFill>
                  <a:srgbClr val="FFFFFF"/>
                </a:solidFill>
                <a:latin typeface="Bell MT"/>
              </a:rPr>
              <a:t>Technique 2 - Decision Tree Analysis Results</a:t>
            </a:r>
            <a:endParaRPr lang="en-US"/>
          </a:p>
        </p:txBody>
      </p:sp>
    </p:spTree>
    <p:extLst>
      <p:ext uri="{BB962C8B-B14F-4D97-AF65-F5344CB8AC3E}">
        <p14:creationId xmlns:p14="http://schemas.microsoft.com/office/powerpoint/2010/main" val="39938019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2FE72B-067D-A1B5-17BF-EBBEB51D6822}"/>
            </a:ext>
          </a:extLst>
        </p:cNvPr>
        <p:cNvGrpSpPr/>
        <p:nvPr/>
      </p:nvGrpSpPr>
      <p:grpSpPr>
        <a:xfrm>
          <a:off x="0" y="0"/>
          <a:ext cx="0" cy="0"/>
          <a:chOff x="0" y="0"/>
          <a:chExt cx="0" cy="0"/>
        </a:xfrm>
      </p:grpSpPr>
      <p:pic>
        <p:nvPicPr>
          <p:cNvPr id="2" name="Picture 1" descr="A diagram of a cluster of dots&#10;&#10;AI-generated content may be incorrect.">
            <a:extLst>
              <a:ext uri="{FF2B5EF4-FFF2-40B4-BE49-F238E27FC236}">
                <a16:creationId xmlns:a16="http://schemas.microsoft.com/office/drawing/2014/main" id="{33B0B82D-AF6B-AFA7-B8AC-9B0F700CF32C}"/>
              </a:ext>
            </a:extLst>
          </p:cNvPr>
          <p:cNvPicPr>
            <a:picLocks noChangeAspect="1"/>
          </p:cNvPicPr>
          <p:nvPr/>
        </p:nvPicPr>
        <p:blipFill>
          <a:blip r:embed="rId2"/>
          <a:stretch>
            <a:fillRect/>
          </a:stretch>
        </p:blipFill>
        <p:spPr>
          <a:xfrm>
            <a:off x="5246705" y="1240163"/>
            <a:ext cx="6950267" cy="5150805"/>
          </a:xfrm>
          <a:prstGeom prst="rect">
            <a:avLst/>
          </a:prstGeom>
        </p:spPr>
      </p:pic>
      <p:sp>
        <p:nvSpPr>
          <p:cNvPr id="3" name="Content Placeholder 2">
            <a:extLst>
              <a:ext uri="{FF2B5EF4-FFF2-40B4-BE49-F238E27FC236}">
                <a16:creationId xmlns:a16="http://schemas.microsoft.com/office/drawing/2014/main" id="{BFB3F357-E3A0-A20C-91F5-810FD64123B1}"/>
              </a:ext>
            </a:extLst>
          </p:cNvPr>
          <p:cNvSpPr>
            <a:spLocks noGrp="1"/>
          </p:cNvSpPr>
          <p:nvPr>
            <p:ph idx="1"/>
          </p:nvPr>
        </p:nvSpPr>
        <p:spPr>
          <a:xfrm>
            <a:off x="532102" y="1238704"/>
            <a:ext cx="4710163" cy="5156470"/>
          </a:xfrm>
        </p:spPr>
        <p:txBody>
          <a:bodyPr vert="horz" lIns="91440" tIns="45720" rIns="91440" bIns="45720" rtlCol="0" anchor="t">
            <a:noAutofit/>
          </a:bodyPr>
          <a:lstStyle/>
          <a:p>
            <a:pPr marL="0" indent="0">
              <a:lnSpc>
                <a:spcPct val="120000"/>
              </a:lnSpc>
              <a:buNone/>
            </a:pPr>
            <a:r>
              <a:rPr lang="en-US" sz="1400">
                <a:latin typeface="Segoe UI"/>
                <a:cs typeface="Segoe UI"/>
              </a:rPr>
              <a:t>My unsupervised clustering identified 4 consumer segments based on confidence levels, decision patterns, and demographic characteristics. Using the elbow method and silhouette scores, I determined that k=4 provided optimal segmentation. The clusters revealed patterns in decision-making behavior.</a:t>
            </a:r>
          </a:p>
          <a:p>
            <a:pPr marL="0" indent="0">
              <a:lnSpc>
                <a:spcPct val="100000"/>
              </a:lnSpc>
              <a:buNone/>
            </a:pPr>
            <a:endParaRPr lang="en-US" sz="1400">
              <a:latin typeface="Segoe UI"/>
              <a:cs typeface="Segoe UI"/>
            </a:endParaRPr>
          </a:p>
          <a:p>
            <a:pPr marL="0" indent="0">
              <a:lnSpc>
                <a:spcPct val="100000"/>
              </a:lnSpc>
              <a:buNone/>
            </a:pPr>
            <a:r>
              <a:rPr lang="en-US" sz="1400" b="1">
                <a:latin typeface="Segoe UI"/>
                <a:cs typeface="Segoe UI"/>
              </a:rPr>
              <a:t>Cluster profiles I identified:</a:t>
            </a:r>
          </a:p>
          <a:p>
            <a:pPr marL="0" indent="0">
              <a:lnSpc>
                <a:spcPct val="100000"/>
              </a:lnSpc>
              <a:buNone/>
            </a:pPr>
            <a:r>
              <a:rPr lang="en-US" sz="1400" b="1">
                <a:latin typeface="Segoe UI"/>
                <a:cs typeface="Segoe UI"/>
              </a:rPr>
              <a:t>Cluster 0:</a:t>
            </a:r>
            <a:r>
              <a:rPr lang="en-US" sz="1400">
                <a:latin typeface="Segoe UI"/>
                <a:cs typeface="Segoe UI"/>
              </a:rPr>
              <a:t> Hesitant Deciders (25% of sample) - Low confidence (mean=2.8), long decision times (142s), poor choice rates (35% dominant)</a:t>
            </a:r>
          </a:p>
          <a:p>
            <a:pPr marL="0" indent="0">
              <a:lnSpc>
                <a:spcPct val="100000"/>
              </a:lnSpc>
              <a:buNone/>
            </a:pPr>
            <a:r>
              <a:rPr lang="en-US" sz="1400" b="1">
                <a:latin typeface="Segoe UI"/>
                <a:cs typeface="Segoe UI"/>
              </a:rPr>
              <a:t>Cluster 1:</a:t>
            </a:r>
            <a:r>
              <a:rPr lang="en-US" sz="1400">
                <a:latin typeface="Segoe UI"/>
                <a:cs typeface="Segoe UI"/>
              </a:rPr>
              <a:t> Balanced Consumers (35%) - Moderate confidence (4.1), reasonable decision times (98s), mixed choices (62% dominant)</a:t>
            </a:r>
          </a:p>
          <a:p>
            <a:pPr marL="0" indent="0">
              <a:lnSpc>
                <a:spcPct val="100000"/>
              </a:lnSpc>
              <a:buNone/>
            </a:pPr>
            <a:r>
              <a:rPr lang="en-US" sz="1400" b="1">
                <a:latin typeface="Segoe UI"/>
                <a:cs typeface="Segoe UI"/>
              </a:rPr>
              <a:t>Cluster 2:</a:t>
            </a:r>
            <a:r>
              <a:rPr lang="en-US" sz="1400">
                <a:latin typeface="Segoe UI"/>
                <a:cs typeface="Segoe UI"/>
              </a:rPr>
              <a:t> Confident Optimizers (20%) - High confidence (5.7), efficient decisions (76s), excellent choices (85% dominant)</a:t>
            </a:r>
          </a:p>
          <a:p>
            <a:pPr marL="0" indent="0">
              <a:lnSpc>
                <a:spcPct val="100000"/>
              </a:lnSpc>
              <a:buNone/>
            </a:pPr>
            <a:r>
              <a:rPr lang="en-US" sz="1400" b="1">
                <a:latin typeface="Segoe UI"/>
                <a:cs typeface="Segoe UI"/>
              </a:rPr>
              <a:t>Cluster 3:</a:t>
            </a:r>
            <a:r>
              <a:rPr lang="en-US" sz="1400">
                <a:latin typeface="Segoe UI"/>
                <a:cs typeface="Segoe UI"/>
              </a:rPr>
              <a:t> Impulsive Choosers (20%) - Moderate confidence (4.3), quick decisions (54s), suboptimal choices (48% dominant)</a:t>
            </a:r>
          </a:p>
          <a:p>
            <a:pPr marL="0" indent="0">
              <a:lnSpc>
                <a:spcPct val="100000"/>
              </a:lnSpc>
              <a:buNone/>
            </a:pPr>
            <a:endParaRPr lang="en-US" sz="1400">
              <a:latin typeface="Segoe UI"/>
              <a:cs typeface="Segoe UI"/>
            </a:endParaRPr>
          </a:p>
        </p:txBody>
      </p:sp>
      <p:pic>
        <p:nvPicPr>
          <p:cNvPr id="5" name="Picture 4" descr="A blue background with a light&#10;&#10;AI-generated content may be incorrect.">
            <a:extLst>
              <a:ext uri="{FF2B5EF4-FFF2-40B4-BE49-F238E27FC236}">
                <a16:creationId xmlns:a16="http://schemas.microsoft.com/office/drawing/2014/main" id="{CC2034B0-DD44-0772-D4A8-0402D0998F5A}"/>
              </a:ext>
            </a:extLst>
          </p:cNvPr>
          <p:cNvPicPr>
            <a:picLocks noChangeAspect="1"/>
          </p:cNvPicPr>
          <p:nvPr/>
        </p:nvPicPr>
        <p:blipFill>
          <a:blip r:embed="rId3"/>
          <a:srcRect l="38" b="78831"/>
          <a:stretch>
            <a:fillRect/>
          </a:stretch>
        </p:blipFill>
        <p:spPr>
          <a:xfrm>
            <a:off x="-130939" y="-366982"/>
            <a:ext cx="12458624" cy="1461046"/>
          </a:xfrm>
          <a:prstGeom prst="rect">
            <a:avLst/>
          </a:prstGeom>
        </p:spPr>
      </p:pic>
      <p:sp>
        <p:nvSpPr>
          <p:cNvPr id="7" name="Title 1">
            <a:extLst>
              <a:ext uri="{FF2B5EF4-FFF2-40B4-BE49-F238E27FC236}">
                <a16:creationId xmlns:a16="http://schemas.microsoft.com/office/drawing/2014/main" id="{D901AD7F-DFD1-B4F0-56FF-2D6DD149AA42}"/>
              </a:ext>
            </a:extLst>
          </p:cNvPr>
          <p:cNvSpPr txBox="1">
            <a:spLocks/>
          </p:cNvSpPr>
          <p:nvPr/>
        </p:nvSpPr>
        <p:spPr>
          <a:xfrm>
            <a:off x="838200" y="178219"/>
            <a:ext cx="10515600" cy="90861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a:solidFill>
                  <a:srgbClr val="FFFFFF"/>
                </a:solidFill>
                <a:latin typeface="Bell MT"/>
              </a:rPr>
              <a:t>Technique 3 - K-means Clustering Results</a:t>
            </a:r>
            <a:endParaRPr lang="en-US"/>
          </a:p>
        </p:txBody>
      </p:sp>
    </p:spTree>
    <p:extLst>
      <p:ext uri="{BB962C8B-B14F-4D97-AF65-F5344CB8AC3E}">
        <p14:creationId xmlns:p14="http://schemas.microsoft.com/office/powerpoint/2010/main" val="34865599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5694B0-B056-7B36-1796-0CB9374E9E9B}"/>
            </a:ext>
          </a:extLst>
        </p:cNvPr>
        <p:cNvGrpSpPr/>
        <p:nvPr/>
      </p:nvGrpSpPr>
      <p:grpSpPr>
        <a:xfrm>
          <a:off x="0" y="0"/>
          <a:ext cx="0" cy="0"/>
          <a:chOff x="0" y="0"/>
          <a:chExt cx="0" cy="0"/>
        </a:xfrm>
      </p:grpSpPr>
      <p:pic>
        <p:nvPicPr>
          <p:cNvPr id="6" name="Picture 5" descr="A graph of a performance comparison&#10;&#10;AI-generated content may be incorrect.">
            <a:extLst>
              <a:ext uri="{FF2B5EF4-FFF2-40B4-BE49-F238E27FC236}">
                <a16:creationId xmlns:a16="http://schemas.microsoft.com/office/drawing/2014/main" id="{BF34CAF8-3602-EA8B-194E-F42CC850F68A}"/>
              </a:ext>
            </a:extLst>
          </p:cNvPr>
          <p:cNvPicPr>
            <a:picLocks noChangeAspect="1"/>
          </p:cNvPicPr>
          <p:nvPr/>
        </p:nvPicPr>
        <p:blipFill>
          <a:blip r:embed="rId2"/>
          <a:srcRect l="-275" t="19839" r="21226" b="1340"/>
          <a:stretch>
            <a:fillRect/>
          </a:stretch>
        </p:blipFill>
        <p:spPr>
          <a:xfrm>
            <a:off x="4963327" y="2616677"/>
            <a:ext cx="7228216" cy="4235400"/>
          </a:xfrm>
          <a:prstGeom prst="rect">
            <a:avLst/>
          </a:prstGeom>
        </p:spPr>
      </p:pic>
      <p:pic>
        <p:nvPicPr>
          <p:cNvPr id="10" name="Picture 9" descr="A blue background with a light&#10;&#10;AI-generated content may be incorrect.">
            <a:extLst>
              <a:ext uri="{FF2B5EF4-FFF2-40B4-BE49-F238E27FC236}">
                <a16:creationId xmlns:a16="http://schemas.microsoft.com/office/drawing/2014/main" id="{F735CF3D-83A5-17F4-AEFD-5538E8E0439C}"/>
              </a:ext>
            </a:extLst>
          </p:cNvPr>
          <p:cNvPicPr>
            <a:picLocks noChangeAspect="1"/>
          </p:cNvPicPr>
          <p:nvPr/>
        </p:nvPicPr>
        <p:blipFill>
          <a:blip r:embed="rId3"/>
          <a:srcRect l="38" b="78831"/>
          <a:stretch>
            <a:fillRect/>
          </a:stretch>
        </p:blipFill>
        <p:spPr>
          <a:xfrm>
            <a:off x="-130939" y="-366982"/>
            <a:ext cx="12458624" cy="1461046"/>
          </a:xfrm>
          <a:prstGeom prst="rect">
            <a:avLst/>
          </a:prstGeom>
        </p:spPr>
      </p:pic>
      <p:pic>
        <p:nvPicPr>
          <p:cNvPr id="8" name="Picture 7" descr="A graph of a performance comparison&#10;&#10;AI-generated content may be incorrect.">
            <a:extLst>
              <a:ext uri="{FF2B5EF4-FFF2-40B4-BE49-F238E27FC236}">
                <a16:creationId xmlns:a16="http://schemas.microsoft.com/office/drawing/2014/main" id="{35637CDB-DA45-170A-A46C-1D25776CF8E4}"/>
              </a:ext>
            </a:extLst>
          </p:cNvPr>
          <p:cNvPicPr>
            <a:picLocks noChangeAspect="1"/>
          </p:cNvPicPr>
          <p:nvPr/>
        </p:nvPicPr>
        <p:blipFill>
          <a:blip r:embed="rId2"/>
          <a:srcRect l="83313" t="4148" r="596" b="81302"/>
          <a:stretch>
            <a:fillRect/>
          </a:stretch>
        </p:blipFill>
        <p:spPr>
          <a:xfrm>
            <a:off x="2400157" y="5330499"/>
            <a:ext cx="2561764" cy="1342845"/>
          </a:xfrm>
          <a:prstGeom prst="rect">
            <a:avLst/>
          </a:prstGeom>
        </p:spPr>
      </p:pic>
      <p:sp>
        <p:nvSpPr>
          <p:cNvPr id="7" name="Title 1">
            <a:extLst>
              <a:ext uri="{FF2B5EF4-FFF2-40B4-BE49-F238E27FC236}">
                <a16:creationId xmlns:a16="http://schemas.microsoft.com/office/drawing/2014/main" id="{938BC502-F0D3-F3E4-5AA6-55B438830ECF}"/>
              </a:ext>
            </a:extLst>
          </p:cNvPr>
          <p:cNvSpPr txBox="1">
            <a:spLocks/>
          </p:cNvSpPr>
          <p:nvPr/>
        </p:nvSpPr>
        <p:spPr>
          <a:xfrm>
            <a:off x="838200" y="178219"/>
            <a:ext cx="10515600" cy="90861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a:solidFill>
                  <a:srgbClr val="FFFFFF"/>
                </a:solidFill>
                <a:latin typeface="Bell MT"/>
              </a:rPr>
              <a:t>Model Performance Comparison</a:t>
            </a:r>
            <a:endParaRPr lang="en-US"/>
          </a:p>
        </p:txBody>
      </p:sp>
      <p:graphicFrame>
        <p:nvGraphicFramePr>
          <p:cNvPr id="4" name="Table 3">
            <a:extLst>
              <a:ext uri="{FF2B5EF4-FFF2-40B4-BE49-F238E27FC236}">
                <a16:creationId xmlns:a16="http://schemas.microsoft.com/office/drawing/2014/main" id="{B5C33B5F-B5E5-F08A-CDC2-443CE292E6B7}"/>
              </a:ext>
            </a:extLst>
          </p:cNvPr>
          <p:cNvGraphicFramePr>
            <a:graphicFrameLocks noGrp="1"/>
          </p:cNvGraphicFramePr>
          <p:nvPr>
            <p:extLst>
              <p:ext uri="{D42A27DB-BD31-4B8C-83A1-F6EECF244321}">
                <p14:modId xmlns:p14="http://schemas.microsoft.com/office/powerpoint/2010/main" val="571536460"/>
              </p:ext>
            </p:extLst>
          </p:nvPr>
        </p:nvGraphicFramePr>
        <p:xfrm>
          <a:off x="5492150" y="1423357"/>
          <a:ext cx="6473546" cy="1025397"/>
        </p:xfrm>
        <a:graphic>
          <a:graphicData uri="http://schemas.openxmlformats.org/drawingml/2006/table">
            <a:tbl>
              <a:tblPr bandRow="1">
                <a:tableStyleId>{5C22544A-7EE6-4342-B048-85BDC9FD1C3A}</a:tableStyleId>
              </a:tblPr>
              <a:tblGrid>
                <a:gridCol w="1809749">
                  <a:extLst>
                    <a:ext uri="{9D8B030D-6E8A-4147-A177-3AD203B41FA5}">
                      <a16:colId xmlns:a16="http://schemas.microsoft.com/office/drawing/2014/main" val="818910930"/>
                    </a:ext>
                  </a:extLst>
                </a:gridCol>
                <a:gridCol w="887561">
                  <a:extLst>
                    <a:ext uri="{9D8B030D-6E8A-4147-A177-3AD203B41FA5}">
                      <a16:colId xmlns:a16="http://schemas.microsoft.com/office/drawing/2014/main" val="985463347"/>
                    </a:ext>
                  </a:extLst>
                </a:gridCol>
                <a:gridCol w="1422217">
                  <a:extLst>
                    <a:ext uri="{9D8B030D-6E8A-4147-A177-3AD203B41FA5}">
                      <a16:colId xmlns:a16="http://schemas.microsoft.com/office/drawing/2014/main" val="175771303"/>
                    </a:ext>
                  </a:extLst>
                </a:gridCol>
                <a:gridCol w="2354019">
                  <a:extLst>
                    <a:ext uri="{9D8B030D-6E8A-4147-A177-3AD203B41FA5}">
                      <a16:colId xmlns:a16="http://schemas.microsoft.com/office/drawing/2014/main" val="816052335"/>
                    </a:ext>
                  </a:extLst>
                </a:gridCol>
              </a:tblGrid>
              <a:tr h="285750">
                <a:tc>
                  <a:txBody>
                    <a:bodyPr/>
                    <a:lstStyle/>
                    <a:p>
                      <a:pPr algn="ctr" rtl="0" fontAlgn="base">
                        <a:lnSpc>
                          <a:spcPts val="1200"/>
                        </a:lnSpc>
                        <a:buNone/>
                      </a:pPr>
                      <a:r>
                        <a:rPr lang="en-CA" sz="1400">
                          <a:effectLst/>
                          <a:latin typeface="Segoe UI"/>
                        </a:rPr>
                        <a:t>Model </a:t>
                      </a:r>
                    </a:p>
                  </a:txBody>
                  <a:tcPr marL="57150" marR="57150">
                    <a:lnL w="9525" cap="flat" cmpd="sng" algn="ctr">
                      <a:solidFill>
                        <a:srgbClr val="E02FCF"/>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02DCF"/>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1200"/>
                        </a:lnSpc>
                        <a:buNone/>
                      </a:pPr>
                      <a:r>
                        <a:rPr lang="en-CA" sz="1400">
                          <a:effectLst/>
                          <a:latin typeface="Segoe UI"/>
                        </a:rPr>
                        <a:t>Accuracy </a:t>
                      </a:r>
                    </a:p>
                  </a:txBody>
                  <a:tcPr marL="57150" marR="571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02DCF"/>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1200"/>
                        </a:lnSpc>
                        <a:buNone/>
                      </a:pPr>
                      <a:r>
                        <a:rPr lang="en-CA" sz="1400">
                          <a:effectLst/>
                          <a:latin typeface="Segoe UI"/>
                        </a:rPr>
                        <a:t>ROC-AUC </a:t>
                      </a:r>
                    </a:p>
                  </a:txBody>
                  <a:tcPr marL="57150" marR="571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402ACF"/>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1200"/>
                        </a:lnSpc>
                        <a:buNone/>
                      </a:pPr>
                      <a:r>
                        <a:rPr lang="en-CA" sz="1400">
                          <a:effectLst/>
                          <a:latin typeface="Segoe UI"/>
                        </a:rPr>
                        <a:t>Key Strength </a:t>
                      </a:r>
                    </a:p>
                  </a:txBody>
                  <a:tcPr marL="57150" marR="57150">
                    <a:lnL w="9525" cap="flat" cmpd="sng" algn="ctr">
                      <a:solidFill>
                        <a:srgbClr val="000000"/>
                      </a:solidFill>
                      <a:prstDash val="solid"/>
                      <a:round/>
                      <a:headEnd type="none" w="med" len="med"/>
                      <a:tailEnd type="none" w="med" len="med"/>
                    </a:lnL>
                    <a:lnR w="9525" cap="flat" cmpd="sng" algn="ctr">
                      <a:solidFill>
                        <a:srgbClr val="2032CF"/>
                      </a:solidFill>
                      <a:prstDash val="solid"/>
                      <a:round/>
                      <a:headEnd type="none" w="med" len="med"/>
                      <a:tailEnd type="none" w="med" len="med"/>
                    </a:lnR>
                    <a:lnT w="9525" cap="flat" cmpd="sng" algn="ctr">
                      <a:solidFill>
                        <a:srgbClr val="C036CF"/>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35962097"/>
                  </a:ext>
                </a:extLst>
              </a:tr>
              <a:tr h="190500">
                <a:tc>
                  <a:txBody>
                    <a:bodyPr/>
                    <a:lstStyle/>
                    <a:p>
                      <a:pPr rtl="0" fontAlgn="base">
                        <a:lnSpc>
                          <a:spcPts val="1200"/>
                        </a:lnSpc>
                        <a:buNone/>
                      </a:pPr>
                      <a:r>
                        <a:rPr lang="en-CA" sz="1400">
                          <a:effectLst/>
                          <a:latin typeface="Segoe UI"/>
                        </a:rPr>
                        <a:t>Logistic Regression </a:t>
                      </a:r>
                    </a:p>
                  </a:txBody>
                  <a:tcPr marL="57150" marR="57150">
                    <a:lnL w="9525" cap="flat" cmpd="sng" algn="ctr">
                      <a:solidFill>
                        <a:srgbClr val="C036CF"/>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1200"/>
                        </a:lnSpc>
                        <a:buNone/>
                      </a:pPr>
                      <a:r>
                        <a:rPr lang="en-CA" sz="1400">
                          <a:effectLst/>
                          <a:latin typeface="Segoe UI"/>
                        </a:rPr>
                        <a:t>0.725 </a:t>
                      </a:r>
                    </a:p>
                  </a:txBody>
                  <a:tcPr marL="57150" marR="571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1200"/>
                        </a:lnSpc>
                        <a:buNone/>
                      </a:pPr>
                      <a:r>
                        <a:rPr lang="en-CA" sz="1400">
                          <a:effectLst/>
                          <a:latin typeface="Segoe UI"/>
                        </a:rPr>
                        <a:t>0.748 </a:t>
                      </a:r>
                    </a:p>
                  </a:txBody>
                  <a:tcPr marL="57150" marR="571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200"/>
                        </a:lnSpc>
                        <a:buNone/>
                      </a:pPr>
                      <a:r>
                        <a:rPr lang="en-CA" sz="1400">
                          <a:effectLst/>
                          <a:latin typeface="Segoe UI"/>
                        </a:rPr>
                        <a:t>Interpretable coefficients </a:t>
                      </a:r>
                    </a:p>
                  </a:txBody>
                  <a:tcPr marL="57150" marR="57150">
                    <a:lnL w="9525" cap="flat" cmpd="sng" algn="ctr">
                      <a:solidFill>
                        <a:srgbClr val="000000"/>
                      </a:solidFill>
                      <a:prstDash val="solid"/>
                      <a:round/>
                      <a:headEnd type="none" w="med" len="med"/>
                      <a:tailEnd type="none" w="med" len="med"/>
                    </a:lnL>
                    <a:lnR w="9525" cap="flat" cmpd="sng" algn="ctr">
                      <a:solidFill>
                        <a:srgbClr val="6032CF"/>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56616404"/>
                  </a:ext>
                </a:extLst>
              </a:tr>
              <a:tr h="247649">
                <a:tc>
                  <a:txBody>
                    <a:bodyPr/>
                    <a:lstStyle/>
                    <a:p>
                      <a:pPr rtl="0" fontAlgn="base">
                        <a:lnSpc>
                          <a:spcPts val="1200"/>
                        </a:lnSpc>
                        <a:buNone/>
                      </a:pPr>
                      <a:r>
                        <a:rPr lang="en-CA" sz="1400">
                          <a:effectLst/>
                          <a:latin typeface="Segoe UI"/>
                        </a:rPr>
                        <a:t>Decision Tree </a:t>
                      </a:r>
                    </a:p>
                  </a:txBody>
                  <a:tcPr marL="57150" marR="57150">
                    <a:lnL w="9525" cap="flat" cmpd="sng" algn="ctr">
                      <a:solidFill>
                        <a:srgbClr val="E04DCF"/>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1200"/>
                        </a:lnSpc>
                        <a:buNone/>
                      </a:pPr>
                      <a:r>
                        <a:rPr lang="en-CA" sz="1400">
                          <a:effectLst/>
                          <a:latin typeface="Segoe UI"/>
                        </a:rPr>
                        <a:t>0.700 </a:t>
                      </a:r>
                    </a:p>
                  </a:txBody>
                  <a:tcPr marL="57150" marR="571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1200"/>
                        </a:lnSpc>
                        <a:buNone/>
                      </a:pPr>
                      <a:r>
                        <a:rPr lang="en-CA" sz="1400">
                          <a:effectLst/>
                          <a:latin typeface="Segoe UI"/>
                        </a:rPr>
                        <a:t>0.712 </a:t>
                      </a:r>
                    </a:p>
                  </a:txBody>
                  <a:tcPr marL="57150" marR="571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200"/>
                        </a:lnSpc>
                        <a:buNone/>
                      </a:pPr>
                      <a:r>
                        <a:rPr lang="en-CA" sz="1400">
                          <a:effectLst/>
                          <a:latin typeface="Segoe UI"/>
                        </a:rPr>
                        <a:t>Clear decision rules </a:t>
                      </a:r>
                    </a:p>
                  </a:txBody>
                  <a:tcPr marL="57150" marR="57150">
                    <a:lnL w="9525" cap="flat" cmpd="sng" algn="ctr">
                      <a:solidFill>
                        <a:srgbClr val="000000"/>
                      </a:solidFill>
                      <a:prstDash val="solid"/>
                      <a:round/>
                      <a:headEnd type="none" w="med" len="med"/>
                      <a:tailEnd type="none" w="med" len="med"/>
                    </a:lnL>
                    <a:lnR w="9525" cap="flat" cmpd="sng" algn="ctr">
                      <a:solidFill>
                        <a:srgbClr val="C056CF"/>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39985584"/>
                  </a:ext>
                </a:extLst>
              </a:tr>
              <a:tr h="190500">
                <a:tc>
                  <a:txBody>
                    <a:bodyPr/>
                    <a:lstStyle/>
                    <a:p>
                      <a:pPr rtl="0" fontAlgn="base">
                        <a:lnSpc>
                          <a:spcPts val="1200"/>
                        </a:lnSpc>
                        <a:buNone/>
                      </a:pPr>
                      <a:r>
                        <a:rPr lang="en-CA" sz="1400">
                          <a:effectLst/>
                          <a:latin typeface="Segoe UI"/>
                        </a:rPr>
                        <a:t>Random Forest </a:t>
                      </a:r>
                    </a:p>
                  </a:txBody>
                  <a:tcPr marL="57150" marR="57150">
                    <a:lnL w="9525" cap="flat" cmpd="sng" algn="ctr">
                      <a:solidFill>
                        <a:srgbClr val="406CCF"/>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06ACF"/>
                      </a:solidFill>
                      <a:prstDash val="solid"/>
                      <a:round/>
                      <a:headEnd type="none" w="med" len="med"/>
                      <a:tailEnd type="none" w="med" len="med"/>
                    </a:lnB>
                    <a:noFill/>
                  </a:tcPr>
                </a:tc>
                <a:tc>
                  <a:txBody>
                    <a:bodyPr/>
                    <a:lstStyle/>
                    <a:p>
                      <a:pPr algn="ctr" rtl="0" fontAlgn="base">
                        <a:lnSpc>
                          <a:spcPts val="1200"/>
                        </a:lnSpc>
                        <a:buNone/>
                      </a:pPr>
                      <a:r>
                        <a:rPr lang="en-CA" sz="1400">
                          <a:effectLst/>
                          <a:latin typeface="Segoe UI"/>
                        </a:rPr>
                        <a:t>0.750 </a:t>
                      </a:r>
                    </a:p>
                  </a:txBody>
                  <a:tcPr marL="57150" marR="571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6ACF"/>
                      </a:solidFill>
                      <a:prstDash val="solid"/>
                      <a:round/>
                      <a:headEnd type="none" w="med" len="med"/>
                      <a:tailEnd type="none" w="med" len="med"/>
                    </a:lnB>
                    <a:noFill/>
                  </a:tcPr>
                </a:tc>
                <a:tc>
                  <a:txBody>
                    <a:bodyPr/>
                    <a:lstStyle/>
                    <a:p>
                      <a:pPr algn="ctr" rtl="0" fontAlgn="base">
                        <a:lnSpc>
                          <a:spcPts val="1200"/>
                        </a:lnSpc>
                        <a:buNone/>
                      </a:pPr>
                      <a:r>
                        <a:rPr lang="en-CA" sz="1400">
                          <a:effectLst/>
                          <a:latin typeface="Segoe UI"/>
                        </a:rPr>
                        <a:t>0.812 </a:t>
                      </a:r>
                    </a:p>
                  </a:txBody>
                  <a:tcPr marL="57150" marR="571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8073CF"/>
                      </a:solidFill>
                      <a:prstDash val="solid"/>
                      <a:round/>
                      <a:headEnd type="none" w="med" len="med"/>
                      <a:tailEnd type="none" w="med" len="med"/>
                    </a:lnB>
                    <a:noFill/>
                  </a:tcPr>
                </a:tc>
                <a:tc>
                  <a:txBody>
                    <a:bodyPr/>
                    <a:lstStyle/>
                    <a:p>
                      <a:pPr rtl="0" fontAlgn="base">
                        <a:lnSpc>
                          <a:spcPts val="1200"/>
                        </a:lnSpc>
                        <a:buNone/>
                      </a:pPr>
                      <a:r>
                        <a:rPr lang="en-CA" sz="1400">
                          <a:effectLst/>
                          <a:latin typeface="Segoe UI"/>
                        </a:rPr>
                        <a:t>Best overall performance </a:t>
                      </a:r>
                    </a:p>
                  </a:txBody>
                  <a:tcPr marL="57150" marR="57150">
                    <a:lnL w="9525" cap="flat" cmpd="sng" algn="ctr">
                      <a:solidFill>
                        <a:srgbClr val="000000"/>
                      </a:solidFill>
                      <a:prstDash val="solid"/>
                      <a:round/>
                      <a:headEnd type="none" w="med" len="med"/>
                      <a:tailEnd type="none" w="med" len="med"/>
                    </a:lnL>
                    <a:lnR w="9525" cap="flat" cmpd="sng" algn="ctr">
                      <a:solidFill>
                        <a:srgbClr val="C07BCF"/>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07DCF"/>
                      </a:solidFill>
                      <a:prstDash val="solid"/>
                      <a:round/>
                      <a:headEnd type="none" w="med" len="med"/>
                      <a:tailEnd type="none" w="med" len="med"/>
                    </a:lnB>
                    <a:noFill/>
                  </a:tcPr>
                </a:tc>
                <a:extLst>
                  <a:ext uri="{0D108BD9-81ED-4DB2-BD59-A6C34878D82A}">
                    <a16:rowId xmlns:a16="http://schemas.microsoft.com/office/drawing/2014/main" val="2104420225"/>
                  </a:ext>
                </a:extLst>
              </a:tr>
            </a:tbl>
          </a:graphicData>
        </a:graphic>
      </p:graphicFrame>
      <p:sp>
        <p:nvSpPr>
          <p:cNvPr id="15" name="Content Placeholder 2">
            <a:extLst>
              <a:ext uri="{FF2B5EF4-FFF2-40B4-BE49-F238E27FC236}">
                <a16:creationId xmlns:a16="http://schemas.microsoft.com/office/drawing/2014/main" id="{BEA79882-E8E6-5FE7-8BC1-A2DBFD143499}"/>
              </a:ext>
            </a:extLst>
          </p:cNvPr>
          <p:cNvSpPr>
            <a:spLocks noGrp="1"/>
          </p:cNvSpPr>
          <p:nvPr>
            <p:ph idx="1"/>
          </p:nvPr>
        </p:nvSpPr>
        <p:spPr>
          <a:xfrm>
            <a:off x="680051" y="1538077"/>
            <a:ext cx="4275825" cy="4221943"/>
          </a:xfrm>
        </p:spPr>
        <p:txBody>
          <a:bodyPr vert="horz" lIns="91440" tIns="45720" rIns="91440" bIns="45720" rtlCol="0" anchor="t">
            <a:normAutofit/>
          </a:bodyPr>
          <a:lstStyle/>
          <a:p>
            <a:pPr marL="0" indent="0">
              <a:lnSpc>
                <a:spcPct val="100000"/>
              </a:lnSpc>
              <a:buNone/>
            </a:pPr>
            <a:r>
              <a:rPr lang="en-US" sz="1600">
                <a:latin typeface="Segoe UI"/>
                <a:cs typeface="Segoe UI"/>
              </a:rPr>
              <a:t>I compared the performance of my 3 primary techniques along with a random forest ensemble method. My random forest model achieved the best overall performance with 75.0% accuracy and a ROC-AUC score of 0.812. All my models got at least 70% accuracy, showing the predictability of credit card choices using the features.</a:t>
            </a:r>
          </a:p>
          <a:p>
            <a:pPr marL="0" indent="0">
              <a:lnSpc>
                <a:spcPct val="100000"/>
              </a:lnSpc>
              <a:buNone/>
            </a:pPr>
            <a:r>
              <a:rPr lang="en-US" sz="1600">
                <a:latin typeface="Segoe UI"/>
                <a:cs typeface="Segoe UI"/>
              </a:rPr>
              <a:t>The consistency across my models in identifying confidence as the most important predictor proves that finding. The performance of the random forest model suggests that group methods may be effective for this type of prediction task.</a:t>
            </a:r>
          </a:p>
        </p:txBody>
      </p:sp>
    </p:spTree>
    <p:extLst>
      <p:ext uri="{BB962C8B-B14F-4D97-AF65-F5344CB8AC3E}">
        <p14:creationId xmlns:p14="http://schemas.microsoft.com/office/powerpoint/2010/main" val="13198205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9FFD62-74D8-3EFF-A387-4ECB8A63BD02}"/>
            </a:ext>
          </a:extLst>
        </p:cNvPr>
        <p:cNvGrpSpPr/>
        <p:nvPr/>
      </p:nvGrpSpPr>
      <p:grpSpPr>
        <a:xfrm>
          <a:off x="0" y="0"/>
          <a:ext cx="0" cy="0"/>
          <a:chOff x="0" y="0"/>
          <a:chExt cx="0" cy="0"/>
        </a:xfrm>
      </p:grpSpPr>
      <p:grpSp>
        <p:nvGrpSpPr>
          <p:cNvPr id="14" name="Group 13">
            <a:extLst>
              <a:ext uri="{FF2B5EF4-FFF2-40B4-BE49-F238E27FC236}">
                <a16:creationId xmlns:a16="http://schemas.microsoft.com/office/drawing/2014/main" id="{EB74CBE4-A1D9-EC4E-C37C-E696E3265C9D}"/>
              </a:ext>
            </a:extLst>
          </p:cNvPr>
          <p:cNvGrpSpPr/>
          <p:nvPr/>
        </p:nvGrpSpPr>
        <p:grpSpPr>
          <a:xfrm>
            <a:off x="7446343" y="1095362"/>
            <a:ext cx="4642667" cy="5998155"/>
            <a:chOff x="7532607" y="1095362"/>
            <a:chExt cx="4642667" cy="5998155"/>
          </a:xfrm>
        </p:grpSpPr>
        <p:pic>
          <p:nvPicPr>
            <p:cNvPr id="6" name="Picture 5" descr="A graph of different colored squares&#10;&#10;AI-generated content may be incorrect.">
              <a:extLst>
                <a:ext uri="{FF2B5EF4-FFF2-40B4-BE49-F238E27FC236}">
                  <a16:creationId xmlns:a16="http://schemas.microsoft.com/office/drawing/2014/main" id="{54B40D32-AA2B-7F16-76E7-120736606AC0}"/>
                </a:ext>
              </a:extLst>
            </p:cNvPr>
            <p:cNvPicPr>
              <a:picLocks noChangeAspect="1"/>
            </p:cNvPicPr>
            <p:nvPr/>
          </p:nvPicPr>
          <p:blipFill>
            <a:blip r:embed="rId2"/>
            <a:srcRect r="94411" b="-171"/>
            <a:stretch>
              <a:fillRect/>
            </a:stretch>
          </p:blipFill>
          <p:spPr>
            <a:xfrm>
              <a:off x="7532607" y="1095362"/>
              <a:ext cx="393579" cy="5853901"/>
            </a:xfrm>
            <a:prstGeom prst="rect">
              <a:avLst/>
            </a:prstGeom>
          </p:spPr>
        </p:pic>
        <p:pic>
          <p:nvPicPr>
            <p:cNvPr id="8" name="Picture 7" descr="A graph of different colored squares&#10;&#10;AI-generated content may be incorrect.">
              <a:extLst>
                <a:ext uri="{FF2B5EF4-FFF2-40B4-BE49-F238E27FC236}">
                  <a16:creationId xmlns:a16="http://schemas.microsoft.com/office/drawing/2014/main" id="{C6E0006C-2A5A-7411-2730-853EBB13BA91}"/>
                </a:ext>
              </a:extLst>
            </p:cNvPr>
            <p:cNvPicPr>
              <a:picLocks noChangeAspect="1"/>
            </p:cNvPicPr>
            <p:nvPr/>
          </p:nvPicPr>
          <p:blipFill>
            <a:blip r:embed="rId2"/>
            <a:srcRect l="10867" t="5644" r="76070" b="-1220"/>
            <a:stretch>
              <a:fillRect/>
            </a:stretch>
          </p:blipFill>
          <p:spPr>
            <a:xfrm>
              <a:off x="7920511" y="1505003"/>
              <a:ext cx="919803" cy="5585391"/>
            </a:xfrm>
            <a:prstGeom prst="rect">
              <a:avLst/>
            </a:prstGeom>
          </p:spPr>
        </p:pic>
        <p:pic>
          <p:nvPicPr>
            <p:cNvPr id="9" name="Picture 8" descr="A graph of different colored squares&#10;&#10;AI-generated content may be incorrect.">
              <a:extLst>
                <a:ext uri="{FF2B5EF4-FFF2-40B4-BE49-F238E27FC236}">
                  <a16:creationId xmlns:a16="http://schemas.microsoft.com/office/drawing/2014/main" id="{8FB4A29F-D579-BCAF-62FE-1A00EBF66F82}"/>
                </a:ext>
              </a:extLst>
            </p:cNvPr>
            <p:cNvPicPr>
              <a:picLocks noChangeAspect="1"/>
            </p:cNvPicPr>
            <p:nvPr/>
          </p:nvPicPr>
          <p:blipFill>
            <a:blip r:embed="rId2"/>
            <a:srcRect l="34615" t="5899" r="52308" b="-1495"/>
            <a:stretch>
              <a:fillRect/>
            </a:stretch>
          </p:blipFill>
          <p:spPr>
            <a:xfrm>
              <a:off x="8840117" y="1507018"/>
              <a:ext cx="921063" cy="5586499"/>
            </a:xfrm>
            <a:prstGeom prst="rect">
              <a:avLst/>
            </a:prstGeom>
          </p:spPr>
        </p:pic>
        <p:pic>
          <p:nvPicPr>
            <p:cNvPr id="10" name="Picture 9" descr="A graph of different colored squares&#10;&#10;AI-generated content may be incorrect.">
              <a:extLst>
                <a:ext uri="{FF2B5EF4-FFF2-40B4-BE49-F238E27FC236}">
                  <a16:creationId xmlns:a16="http://schemas.microsoft.com/office/drawing/2014/main" id="{F7D56786-6A3D-4F6A-DB01-867B3951C946}"/>
                </a:ext>
              </a:extLst>
            </p:cNvPr>
            <p:cNvPicPr>
              <a:picLocks noChangeAspect="1"/>
            </p:cNvPicPr>
            <p:nvPr/>
          </p:nvPicPr>
          <p:blipFill>
            <a:blip r:embed="rId2"/>
            <a:srcRect l="58242" t="6030" r="28242" b="-1627"/>
            <a:stretch>
              <a:fillRect/>
            </a:stretch>
          </p:blipFill>
          <p:spPr>
            <a:xfrm>
              <a:off x="9762333" y="1498501"/>
              <a:ext cx="952049" cy="5586631"/>
            </a:xfrm>
            <a:prstGeom prst="rect">
              <a:avLst/>
            </a:prstGeom>
          </p:spPr>
        </p:pic>
        <p:pic>
          <p:nvPicPr>
            <p:cNvPr id="11" name="Picture 10" descr="A graph of different colored squares&#10;&#10;AI-generated content may be incorrect.">
              <a:extLst>
                <a:ext uri="{FF2B5EF4-FFF2-40B4-BE49-F238E27FC236}">
                  <a16:creationId xmlns:a16="http://schemas.microsoft.com/office/drawing/2014/main" id="{25BBC05E-7DED-6A35-0D51-B6A11A3F81E9}"/>
                </a:ext>
              </a:extLst>
            </p:cNvPr>
            <p:cNvPicPr>
              <a:picLocks noChangeAspect="1"/>
            </p:cNvPicPr>
            <p:nvPr/>
          </p:nvPicPr>
          <p:blipFill>
            <a:blip r:embed="rId2"/>
            <a:srcRect l="81837" t="3691" r="-2609" b="69"/>
            <a:stretch>
              <a:fillRect/>
            </a:stretch>
          </p:blipFill>
          <p:spPr>
            <a:xfrm>
              <a:off x="10712252" y="1311187"/>
              <a:ext cx="1463022" cy="5624150"/>
            </a:xfrm>
            <a:prstGeom prst="rect">
              <a:avLst/>
            </a:prstGeom>
          </p:spPr>
        </p:pic>
      </p:grpSp>
      <p:sp>
        <p:nvSpPr>
          <p:cNvPr id="3" name="Content Placeholder 2">
            <a:extLst>
              <a:ext uri="{FF2B5EF4-FFF2-40B4-BE49-F238E27FC236}">
                <a16:creationId xmlns:a16="http://schemas.microsoft.com/office/drawing/2014/main" id="{CE33086E-0FD6-241C-40DD-E45BED76BD30}"/>
              </a:ext>
            </a:extLst>
          </p:cNvPr>
          <p:cNvSpPr>
            <a:spLocks noGrp="1"/>
          </p:cNvSpPr>
          <p:nvPr>
            <p:ph idx="1"/>
          </p:nvPr>
        </p:nvSpPr>
        <p:spPr>
          <a:xfrm>
            <a:off x="838201" y="1293663"/>
            <a:ext cx="6691222" cy="5300243"/>
          </a:xfrm>
        </p:spPr>
        <p:txBody>
          <a:bodyPr vert="horz" lIns="91440" tIns="45720" rIns="91440" bIns="45720" rtlCol="0" anchor="t">
            <a:noAutofit/>
          </a:bodyPr>
          <a:lstStyle/>
          <a:p>
            <a:pPr marL="0" indent="0">
              <a:lnSpc>
                <a:spcPct val="120000"/>
              </a:lnSpc>
              <a:buNone/>
            </a:pPr>
            <a:r>
              <a:rPr lang="en-US" sz="1400" b="1">
                <a:latin typeface="Segoe UI"/>
                <a:cs typeface="Segoe UI"/>
              </a:rPr>
              <a:t>1. Confidence drives better decisions.</a:t>
            </a:r>
            <a:br>
              <a:rPr lang="en-US" sz="1400">
                <a:latin typeface="Segoe UI"/>
                <a:cs typeface="Segoe UI"/>
              </a:rPr>
            </a:br>
            <a:r>
              <a:rPr lang="en-US" sz="1400">
                <a:latin typeface="Segoe UI"/>
                <a:cs typeface="Segoe UI"/>
              </a:rPr>
              <a:t>I found that confidence ratings show the strongest correlation with optimal choice (r=0.32). Each one-point increase in confidence corresponds to an 18% higher probability of selecting the dominant card. This finding suggests that confidence-building should be a primary focus of customer education efforts.</a:t>
            </a:r>
          </a:p>
          <a:p>
            <a:pPr marL="0" indent="0">
              <a:lnSpc>
                <a:spcPct val="120000"/>
              </a:lnSpc>
              <a:buNone/>
            </a:pPr>
            <a:r>
              <a:rPr lang="en-US" sz="1400" b="1">
                <a:latin typeface="Segoe UI"/>
                <a:cs typeface="Segoe UI"/>
              </a:rPr>
              <a:t>2. Educational content improves choice quality.</a:t>
            </a:r>
            <a:br>
              <a:rPr lang="en-US" sz="1400">
                <a:latin typeface="Segoe UI"/>
                <a:cs typeface="Segoe UI"/>
              </a:rPr>
            </a:br>
            <a:r>
              <a:rPr lang="en-US" sz="1400">
                <a:latin typeface="Segoe UI"/>
                <a:cs typeface="Segoe UI"/>
              </a:rPr>
              <a:t>My analysis shows participants who viewed the Implemental video, which explained key credit card terms, selected the dominant card 60% of the time compared to only 50% for the Baseline video group. The 10% improvement with educational content, shows the value of it.</a:t>
            </a:r>
          </a:p>
          <a:p>
            <a:pPr marL="0" indent="0">
              <a:lnSpc>
                <a:spcPct val="120000"/>
              </a:lnSpc>
              <a:buNone/>
            </a:pPr>
            <a:r>
              <a:rPr lang="en-US" sz="1400" b="1">
                <a:latin typeface="Segoe UI"/>
                <a:cs typeface="Segoe UI"/>
              </a:rPr>
              <a:t>3. Attention patterns significantly influence outcomes.</a:t>
            </a:r>
            <a:br>
              <a:rPr lang="en-US" sz="1400">
                <a:latin typeface="Segoe UI"/>
                <a:cs typeface="Segoe UI"/>
              </a:rPr>
            </a:br>
            <a:r>
              <a:rPr lang="en-US" sz="1400">
                <a:latin typeface="Segoe UI"/>
                <a:cs typeface="Segoe UI"/>
              </a:rPr>
              <a:t>My analysis demonstrates that viewing the dominant card longest increases selection probability by 40%. This highlights the importance of interface design in guiding attention to optimal options.</a:t>
            </a:r>
          </a:p>
          <a:p>
            <a:pPr marL="0" indent="0">
              <a:lnSpc>
                <a:spcPct val="120000"/>
              </a:lnSpc>
              <a:buNone/>
            </a:pPr>
            <a:r>
              <a:rPr lang="en-US" sz="1400" b="1">
                <a:latin typeface="Segoe UI"/>
                <a:cs typeface="Segoe UI"/>
              </a:rPr>
              <a:t>4. Consumer segmentation enables targeted interventions.</a:t>
            </a:r>
            <a:br>
              <a:rPr lang="en-US" sz="1400">
                <a:latin typeface="Segoe UI"/>
                <a:cs typeface="Segoe UI"/>
              </a:rPr>
            </a:br>
            <a:r>
              <a:rPr lang="en-US" sz="1400">
                <a:latin typeface="Segoe UI"/>
                <a:cs typeface="Segoe UI"/>
              </a:rPr>
              <a:t>I identified 4 consumer segments with different decision patterns and needs. Confident Optimizers (20% of customers) choose correctly 85% of the time, while Hesitant Deciders (25%) choose correctly only 35% of the time. This segmentation allows for personalized marketing approaches.</a:t>
            </a:r>
          </a:p>
        </p:txBody>
      </p:sp>
      <p:pic>
        <p:nvPicPr>
          <p:cNvPr id="5" name="Picture 4" descr="A blue background with a light&#10;&#10;AI-generated content may be incorrect.">
            <a:extLst>
              <a:ext uri="{FF2B5EF4-FFF2-40B4-BE49-F238E27FC236}">
                <a16:creationId xmlns:a16="http://schemas.microsoft.com/office/drawing/2014/main" id="{BF5C5349-D79A-0EA8-993F-F9883CC91DFE}"/>
              </a:ext>
            </a:extLst>
          </p:cNvPr>
          <p:cNvPicPr>
            <a:picLocks noChangeAspect="1"/>
          </p:cNvPicPr>
          <p:nvPr/>
        </p:nvPicPr>
        <p:blipFill>
          <a:blip r:embed="rId3"/>
          <a:srcRect l="38" b="78831"/>
          <a:stretch>
            <a:fillRect/>
          </a:stretch>
        </p:blipFill>
        <p:spPr>
          <a:xfrm>
            <a:off x="-130939" y="-366982"/>
            <a:ext cx="12458624" cy="1461046"/>
          </a:xfrm>
          <a:prstGeom prst="rect">
            <a:avLst/>
          </a:prstGeom>
        </p:spPr>
      </p:pic>
      <p:sp>
        <p:nvSpPr>
          <p:cNvPr id="7" name="Title 1">
            <a:extLst>
              <a:ext uri="{FF2B5EF4-FFF2-40B4-BE49-F238E27FC236}">
                <a16:creationId xmlns:a16="http://schemas.microsoft.com/office/drawing/2014/main" id="{49BF3E98-9785-6A08-EFE9-203B58C0C21D}"/>
              </a:ext>
            </a:extLst>
          </p:cNvPr>
          <p:cNvSpPr txBox="1">
            <a:spLocks/>
          </p:cNvSpPr>
          <p:nvPr/>
        </p:nvSpPr>
        <p:spPr>
          <a:xfrm>
            <a:off x="838200" y="178219"/>
            <a:ext cx="10515600" cy="90861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a:solidFill>
                  <a:srgbClr val="FFFFFF"/>
                </a:solidFill>
                <a:latin typeface="Bell MT"/>
              </a:rPr>
              <a:t>Insights for Strategy Development</a:t>
            </a:r>
            <a:endParaRPr lang="en-US"/>
          </a:p>
        </p:txBody>
      </p:sp>
      <p:pic>
        <p:nvPicPr>
          <p:cNvPr id="12" name="Picture 11" descr="A graph of different colored squares&#10;&#10;AI-generated content may be incorrect.">
            <a:extLst>
              <a:ext uri="{FF2B5EF4-FFF2-40B4-BE49-F238E27FC236}">
                <a16:creationId xmlns:a16="http://schemas.microsoft.com/office/drawing/2014/main" id="{1B843BAC-04B5-5129-70D9-CB2D85321EDB}"/>
              </a:ext>
            </a:extLst>
          </p:cNvPr>
          <p:cNvPicPr>
            <a:picLocks noChangeAspect="1"/>
          </p:cNvPicPr>
          <p:nvPr/>
        </p:nvPicPr>
        <p:blipFill>
          <a:blip r:embed="rId2"/>
          <a:srcRect l="37525" r="31571" b="95595"/>
          <a:stretch>
            <a:fillRect/>
          </a:stretch>
        </p:blipFill>
        <p:spPr>
          <a:xfrm>
            <a:off x="8677564" y="1226078"/>
            <a:ext cx="2176281" cy="257443"/>
          </a:xfrm>
          <a:prstGeom prst="rect">
            <a:avLst/>
          </a:prstGeom>
        </p:spPr>
      </p:pic>
    </p:spTree>
    <p:extLst>
      <p:ext uri="{BB962C8B-B14F-4D97-AF65-F5344CB8AC3E}">
        <p14:creationId xmlns:p14="http://schemas.microsoft.com/office/powerpoint/2010/main" val="29539594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5FE9ED-22E1-054B-3F83-CFA11F1505B9}"/>
            </a:ext>
          </a:extLst>
        </p:cNvPr>
        <p:cNvGrpSpPr/>
        <p:nvPr/>
      </p:nvGrpSpPr>
      <p:grpSpPr>
        <a:xfrm>
          <a:off x="0" y="0"/>
          <a:ext cx="0" cy="0"/>
          <a:chOff x="0" y="0"/>
          <a:chExt cx="0" cy="0"/>
        </a:xfrm>
      </p:grpSpPr>
      <p:pic>
        <p:nvPicPr>
          <p:cNvPr id="5" name="Picture 4" descr="A blue background with a light&#10;&#10;AI-generated content may be incorrect.">
            <a:extLst>
              <a:ext uri="{FF2B5EF4-FFF2-40B4-BE49-F238E27FC236}">
                <a16:creationId xmlns:a16="http://schemas.microsoft.com/office/drawing/2014/main" id="{BCC0FCC3-228B-5DF8-6A90-0B62DDA86F14}"/>
              </a:ext>
            </a:extLst>
          </p:cNvPr>
          <p:cNvPicPr>
            <a:picLocks noChangeAspect="1"/>
          </p:cNvPicPr>
          <p:nvPr/>
        </p:nvPicPr>
        <p:blipFill>
          <a:blip r:embed="rId2"/>
          <a:srcRect l="38" b="78831"/>
          <a:stretch>
            <a:fillRect/>
          </a:stretch>
        </p:blipFill>
        <p:spPr>
          <a:xfrm>
            <a:off x="-130939" y="-366982"/>
            <a:ext cx="12458624" cy="1461046"/>
          </a:xfrm>
          <a:prstGeom prst="rect">
            <a:avLst/>
          </a:prstGeom>
        </p:spPr>
      </p:pic>
      <p:sp>
        <p:nvSpPr>
          <p:cNvPr id="7" name="Title 1">
            <a:extLst>
              <a:ext uri="{FF2B5EF4-FFF2-40B4-BE49-F238E27FC236}">
                <a16:creationId xmlns:a16="http://schemas.microsoft.com/office/drawing/2014/main" id="{A2CC2B41-F4A5-ACE8-FE89-013CCA80E60F}"/>
              </a:ext>
            </a:extLst>
          </p:cNvPr>
          <p:cNvSpPr txBox="1">
            <a:spLocks/>
          </p:cNvSpPr>
          <p:nvPr/>
        </p:nvSpPr>
        <p:spPr>
          <a:xfrm>
            <a:off x="838200" y="178219"/>
            <a:ext cx="10515600" cy="90861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a:solidFill>
                  <a:srgbClr val="FFFFFF"/>
                </a:solidFill>
                <a:latin typeface="Bell MT"/>
              </a:rPr>
              <a:t>Recommendations for Financial Institutions</a:t>
            </a:r>
            <a:endParaRPr lang="en-US"/>
          </a:p>
        </p:txBody>
      </p:sp>
      <p:graphicFrame>
        <p:nvGraphicFramePr>
          <p:cNvPr id="4" name="Table 3">
            <a:extLst>
              <a:ext uri="{FF2B5EF4-FFF2-40B4-BE49-F238E27FC236}">
                <a16:creationId xmlns:a16="http://schemas.microsoft.com/office/drawing/2014/main" id="{1F2143E1-110E-9905-ED01-434A3A986A07}"/>
              </a:ext>
            </a:extLst>
          </p:cNvPr>
          <p:cNvGraphicFramePr>
            <a:graphicFrameLocks noGrp="1"/>
          </p:cNvGraphicFramePr>
          <p:nvPr>
            <p:extLst>
              <p:ext uri="{D42A27DB-BD31-4B8C-83A1-F6EECF244321}">
                <p14:modId xmlns:p14="http://schemas.microsoft.com/office/powerpoint/2010/main" val="943643420"/>
              </p:ext>
            </p:extLst>
          </p:nvPr>
        </p:nvGraphicFramePr>
        <p:xfrm>
          <a:off x="503206" y="1265207"/>
          <a:ext cx="11189118" cy="5359597"/>
        </p:xfrm>
        <a:graphic>
          <a:graphicData uri="http://schemas.openxmlformats.org/drawingml/2006/table">
            <a:tbl>
              <a:tblPr bandRow="1">
                <a:tableStyleId>{5C22544A-7EE6-4342-B048-85BDC9FD1C3A}</a:tableStyleId>
              </a:tblPr>
              <a:tblGrid>
                <a:gridCol w="5594559">
                  <a:extLst>
                    <a:ext uri="{9D8B030D-6E8A-4147-A177-3AD203B41FA5}">
                      <a16:colId xmlns:a16="http://schemas.microsoft.com/office/drawing/2014/main" val="4115019730"/>
                    </a:ext>
                  </a:extLst>
                </a:gridCol>
                <a:gridCol w="5594559">
                  <a:extLst>
                    <a:ext uri="{9D8B030D-6E8A-4147-A177-3AD203B41FA5}">
                      <a16:colId xmlns:a16="http://schemas.microsoft.com/office/drawing/2014/main" val="1806873137"/>
                    </a:ext>
                  </a:extLst>
                </a:gridCol>
              </a:tblGrid>
              <a:tr h="2642419">
                <a:tc>
                  <a:txBody>
                    <a:bodyPr/>
                    <a:lstStyle/>
                    <a:p>
                      <a:pPr rtl="0" fontAlgn="base">
                        <a:lnSpc>
                          <a:spcPct val="100000"/>
                        </a:lnSpc>
                        <a:buNone/>
                      </a:pPr>
                      <a:r>
                        <a:rPr lang="en-CA" sz="1400" b="1">
                          <a:effectLst/>
                          <a:latin typeface="Segoe UI"/>
                        </a:rPr>
                        <a:t>1. Implement Confidence-Building Interventions </a:t>
                      </a:r>
                    </a:p>
                    <a:p>
                      <a:pPr marL="342900" lvl="0" indent="-342900" rtl="0" fontAlgn="base">
                        <a:lnSpc>
                          <a:spcPct val="100000"/>
                        </a:lnSpc>
                        <a:buFont typeface="Arial" panose="020B0604020202020204" pitchFamily="34" charset="0"/>
                        <a:buChar char="•"/>
                      </a:pPr>
                      <a:r>
                        <a:rPr lang="en-CA" sz="1400">
                          <a:effectLst/>
                          <a:latin typeface="Segoe UI"/>
                        </a:rPr>
                        <a:t>Primary finding: Confidence shows the strongest correlation with optimal choice </a:t>
                      </a:r>
                    </a:p>
                    <a:p>
                      <a:pPr marL="342900" lvl="0" indent="-342900" rtl="0" fontAlgn="base">
                        <a:lnSpc>
                          <a:spcPct val="100000"/>
                        </a:lnSpc>
                        <a:buFont typeface="Arial" panose="020B0604020202020204" pitchFamily="34" charset="0"/>
                        <a:buChar char="•"/>
                      </a:pPr>
                      <a:r>
                        <a:rPr lang="en-CA" sz="1400">
                          <a:effectLst/>
                          <a:latin typeface="Segoe UI"/>
                        </a:rPr>
                        <a:t>Expected impact: Increase dominant card selection by 15-20% </a:t>
                      </a:r>
                    </a:p>
                    <a:p>
                      <a:pPr marL="742950" lvl="1" indent="-285750" rtl="0" fontAlgn="base">
                        <a:lnSpc>
                          <a:spcPct val="100000"/>
                        </a:lnSpc>
                        <a:buFont typeface="Arial" panose="020B0604020202020204" pitchFamily="34" charset="0"/>
                        <a:buChar char="•"/>
                      </a:pPr>
                      <a:r>
                        <a:rPr lang="en-CA" sz="1400">
                          <a:effectLst/>
                          <a:latin typeface="Segoe UI"/>
                        </a:rPr>
                        <a:t>Develop interactive decision support tools that provide real-time feedback </a:t>
                      </a:r>
                    </a:p>
                    <a:p>
                      <a:pPr marL="742950" lvl="1" indent="-285750" rtl="0" fontAlgn="base">
                        <a:lnSpc>
                          <a:spcPct val="100000"/>
                        </a:lnSpc>
                        <a:buFont typeface="Arial" panose="020B0604020202020204" pitchFamily="34" charset="0"/>
                        <a:buChar char="•"/>
                      </a:pPr>
                      <a:r>
                        <a:rPr lang="en-CA" sz="1400">
                          <a:effectLst/>
                          <a:latin typeface="Segoe UI"/>
                        </a:rPr>
                        <a:t>Implement confidence sliders during the selection process </a:t>
                      </a:r>
                    </a:p>
                    <a:p>
                      <a:pPr marL="742950" lvl="1" indent="-285750" rtl="0" fontAlgn="base">
                        <a:lnSpc>
                          <a:spcPct val="100000"/>
                        </a:lnSpc>
                        <a:buFont typeface="Arial" panose="020B0604020202020204" pitchFamily="34" charset="0"/>
                        <a:buChar char="•"/>
                      </a:pPr>
                      <a:r>
                        <a:rPr lang="en-CA" sz="1400">
                          <a:effectLst/>
                          <a:latin typeface="Segoe UI"/>
                        </a:rPr>
                        <a:t>Include comparative scorecards that clearly highlight key differences </a:t>
                      </a:r>
                    </a:p>
                    <a:p>
                      <a:pPr marL="742950" lvl="1" indent="-285750" rtl="0" fontAlgn="base">
                        <a:lnSpc>
                          <a:spcPct val="100000"/>
                        </a:lnSpc>
                        <a:buFont typeface="Arial" panose="020B0604020202020204" pitchFamily="34" charset="0"/>
                        <a:buChar char="•"/>
                      </a:pPr>
                      <a:r>
                        <a:rPr lang="en-CA" sz="1400">
                          <a:effectLst/>
                          <a:latin typeface="Segoe UI"/>
                        </a:rPr>
                        <a:t>Incorporate testimonials and success stories from similar customers </a:t>
                      </a:r>
                    </a:p>
                  </a:txBody>
                  <a:tcPr marL="66675" marR="66675">
                    <a:lnL>
                      <a:noFill/>
                    </a:lnL>
                    <a:lnR>
                      <a:noFill/>
                    </a:lnR>
                    <a:lnT>
                      <a:noFill/>
                    </a:lnT>
                    <a:lnB>
                      <a:noFill/>
                    </a:lnB>
                    <a:noFill/>
                  </a:tcPr>
                </a:tc>
                <a:tc>
                  <a:txBody>
                    <a:bodyPr/>
                    <a:lstStyle/>
                    <a:p>
                      <a:pPr rtl="0" fontAlgn="base">
                        <a:lnSpc>
                          <a:spcPct val="100000"/>
                        </a:lnSpc>
                        <a:buNone/>
                      </a:pPr>
                      <a:r>
                        <a:rPr lang="en-CA" sz="1400" b="1">
                          <a:effectLst/>
                          <a:latin typeface="Segoe UI"/>
                        </a:rPr>
                        <a:t>2. Optimize Educational Content Delivery </a:t>
                      </a:r>
                    </a:p>
                    <a:p>
                      <a:pPr marL="342900" lvl="0" indent="-342900" rtl="0" fontAlgn="base">
                        <a:lnSpc>
                          <a:spcPct val="100000"/>
                        </a:lnSpc>
                        <a:buFont typeface="Arial" panose="020B0604020202020204" pitchFamily="34" charset="0"/>
                        <a:buChar char="•"/>
                      </a:pPr>
                      <a:r>
                        <a:rPr lang="en-CA" sz="1400">
                          <a:effectLst/>
                          <a:latin typeface="Segoe UI"/>
                        </a:rPr>
                        <a:t>Primary finding: Implemental videos improve choice quality by 10 percentage points </a:t>
                      </a:r>
                    </a:p>
                    <a:p>
                      <a:pPr marL="342900" lvl="0" indent="-342900" rtl="0" fontAlgn="base">
                        <a:lnSpc>
                          <a:spcPct val="100000"/>
                        </a:lnSpc>
                        <a:buFont typeface="Arial" panose="020B0604020202020204" pitchFamily="34" charset="0"/>
                        <a:buChar char="•"/>
                      </a:pPr>
                      <a:r>
                        <a:rPr lang="en-CA" sz="1400">
                          <a:effectLst/>
                          <a:latin typeface="Segoe UI"/>
                        </a:rPr>
                        <a:t>Expected impact: Improve decision quality by 10-15% </a:t>
                      </a:r>
                    </a:p>
                    <a:p>
                      <a:pPr marL="742950" lvl="1" indent="-285750" rtl="0" fontAlgn="base">
                        <a:lnSpc>
                          <a:spcPct val="100000"/>
                        </a:lnSpc>
                        <a:buFont typeface="Arial" panose="020B0604020202020204" pitchFamily="34" charset="0"/>
                        <a:buChar char="•"/>
                      </a:pPr>
                      <a:r>
                        <a:rPr lang="en-CA" sz="1400">
                          <a:effectLst/>
                          <a:latin typeface="Segoe UI"/>
                        </a:rPr>
                        <a:t>Convert at least 50% of product pages to include explanatory videos </a:t>
                      </a:r>
                    </a:p>
                    <a:p>
                      <a:pPr marL="742950" lvl="1" indent="-285750" rtl="0" fontAlgn="base">
                        <a:lnSpc>
                          <a:spcPct val="100000"/>
                        </a:lnSpc>
                        <a:buFont typeface="Arial" panose="020B0604020202020204" pitchFamily="34" charset="0"/>
                        <a:buChar char="•"/>
                      </a:pPr>
                      <a:r>
                        <a:rPr lang="en-CA" sz="1400">
                          <a:effectLst/>
                          <a:latin typeface="Segoe UI"/>
                        </a:rPr>
                        <a:t>Focus video content on key differentiators and complex terms </a:t>
                      </a:r>
                    </a:p>
                    <a:p>
                      <a:pPr marL="742950" lvl="1" indent="-285750" rtl="0" fontAlgn="base">
                        <a:lnSpc>
                          <a:spcPct val="100000"/>
                        </a:lnSpc>
                        <a:buFont typeface="Arial" panose="020B0604020202020204" pitchFamily="34" charset="0"/>
                        <a:buChar char="•"/>
                      </a:pPr>
                      <a:r>
                        <a:rPr lang="en-CA" sz="1400">
                          <a:effectLst/>
                          <a:latin typeface="Segoe UI"/>
                        </a:rPr>
                        <a:t>Limit video length to 90 seconds to maintain engagement </a:t>
                      </a:r>
                    </a:p>
                    <a:p>
                      <a:pPr marL="742950" lvl="1" indent="-285750" rtl="0" fontAlgn="base">
                        <a:lnSpc>
                          <a:spcPct val="100000"/>
                        </a:lnSpc>
                        <a:buFont typeface="Arial" panose="020B0604020202020204" pitchFamily="34" charset="0"/>
                        <a:buChar char="•"/>
                      </a:pPr>
                      <a:r>
                        <a:rPr lang="en-CA" sz="1400">
                          <a:effectLst/>
                          <a:latin typeface="Segoe UI"/>
                        </a:rPr>
                        <a:t>Implement A/B testing to optimize video formats and presenters </a:t>
                      </a:r>
                    </a:p>
                  </a:txBody>
                  <a:tcPr marL="66675" marR="66675">
                    <a:lnL>
                      <a:noFill/>
                    </a:lnL>
                    <a:lnR>
                      <a:noFill/>
                    </a:lnR>
                    <a:lnT>
                      <a:noFill/>
                    </a:lnT>
                    <a:lnB>
                      <a:noFill/>
                    </a:lnB>
                    <a:noFill/>
                  </a:tcPr>
                </a:tc>
                <a:extLst>
                  <a:ext uri="{0D108BD9-81ED-4DB2-BD59-A6C34878D82A}">
                    <a16:rowId xmlns:a16="http://schemas.microsoft.com/office/drawing/2014/main" val="448949320"/>
                  </a:ext>
                </a:extLst>
              </a:tr>
              <a:tr h="2717178">
                <a:tc>
                  <a:txBody>
                    <a:bodyPr/>
                    <a:lstStyle/>
                    <a:p>
                      <a:pPr rtl="0" fontAlgn="base">
                        <a:lnSpc>
                          <a:spcPct val="100000"/>
                        </a:lnSpc>
                        <a:spcAft>
                          <a:spcPts val="800"/>
                        </a:spcAft>
                        <a:buNone/>
                      </a:pPr>
                      <a:r>
                        <a:rPr lang="en-CA" sz="1400" b="1">
                          <a:effectLst/>
                          <a:latin typeface="Segoe UI"/>
                        </a:rPr>
                        <a:t>3. Redesign Decision Interfaces for Better Attention Guidance</a:t>
                      </a:r>
                      <a:r>
                        <a:rPr lang="en-CA" sz="1400">
                          <a:effectLst/>
                          <a:latin typeface="Segoe UI"/>
                        </a:rPr>
                        <a:t> </a:t>
                      </a:r>
                    </a:p>
                    <a:p>
                      <a:pPr marL="342900" lvl="0" indent="-342900" rtl="0" fontAlgn="base">
                        <a:lnSpc>
                          <a:spcPct val="100000"/>
                        </a:lnSpc>
                        <a:buFont typeface="Arial" panose="020B0604020202020204" pitchFamily="34" charset="0"/>
                        <a:buChar char="•"/>
                      </a:pPr>
                      <a:r>
                        <a:rPr lang="en-CA" sz="1400">
                          <a:effectLst/>
                          <a:latin typeface="Segoe UI"/>
                        </a:rPr>
                        <a:t>Primary finding: Viewing the dominant card longest increases selection probability by 40% </a:t>
                      </a:r>
                    </a:p>
                    <a:p>
                      <a:pPr marL="342900" lvl="0" indent="-342900" rtl="0" fontAlgn="base">
                        <a:lnSpc>
                          <a:spcPct val="100000"/>
                        </a:lnSpc>
                        <a:buFont typeface="Arial" panose="020B0604020202020204" pitchFamily="34" charset="0"/>
                        <a:buChar char="•"/>
                      </a:pPr>
                      <a:r>
                        <a:rPr lang="en-CA" sz="1400">
                          <a:effectLst/>
                          <a:latin typeface="Segoe UI"/>
                        </a:rPr>
                        <a:t>Expected impact: Reduce poor choices by 25% </a:t>
                      </a:r>
                    </a:p>
                    <a:p>
                      <a:pPr marL="742950" lvl="1" indent="-285750" rtl="0" fontAlgn="base">
                        <a:lnSpc>
                          <a:spcPct val="100000"/>
                        </a:lnSpc>
                        <a:buFont typeface="Arial" panose="020B0604020202020204" pitchFamily="34" charset="0"/>
                        <a:buChar char="•"/>
                      </a:pPr>
                      <a:r>
                        <a:rPr lang="en-CA" sz="1400">
                          <a:effectLst/>
                          <a:latin typeface="Segoe UI"/>
                        </a:rPr>
                        <a:t>Use visual cues (color, position, size) to highlight optimal options </a:t>
                      </a:r>
                    </a:p>
                    <a:p>
                      <a:pPr marL="742950" lvl="1" indent="-285750" rtl="0" fontAlgn="base">
                        <a:lnSpc>
                          <a:spcPct val="100000"/>
                        </a:lnSpc>
                        <a:buFont typeface="Arial" panose="020B0604020202020204" pitchFamily="34" charset="0"/>
                        <a:buChar char="•"/>
                      </a:pPr>
                      <a:r>
                        <a:rPr lang="en-CA" sz="1400">
                          <a:effectLst/>
                          <a:latin typeface="Segoe UI"/>
                        </a:rPr>
                        <a:t>Implement progressive disclosure to reduce cognitive overload </a:t>
                      </a:r>
                    </a:p>
                    <a:p>
                      <a:pPr marL="742950" lvl="1" indent="-285750" rtl="0" fontAlgn="base">
                        <a:lnSpc>
                          <a:spcPct val="100000"/>
                        </a:lnSpc>
                        <a:buFont typeface="Arial" panose="020B0604020202020204" pitchFamily="34" charset="0"/>
                        <a:buChar char="•"/>
                      </a:pPr>
                      <a:r>
                        <a:rPr lang="en-CA" sz="1400">
                          <a:effectLst/>
                          <a:latin typeface="Segoe UI"/>
                        </a:rPr>
                        <a:t>Create side-by-side comparison tools with clear scoring </a:t>
                      </a:r>
                    </a:p>
                    <a:p>
                      <a:pPr marL="742950" lvl="1" indent="-285750" rtl="0" fontAlgn="base">
                        <a:lnSpc>
                          <a:spcPct val="100000"/>
                        </a:lnSpc>
                        <a:buFont typeface="Arial" panose="020B0604020202020204" pitchFamily="34" charset="0"/>
                        <a:buChar char="•"/>
                      </a:pPr>
                      <a:r>
                        <a:rPr lang="en-CA" sz="1400">
                          <a:effectLst/>
                          <a:latin typeface="Segoe UI"/>
                        </a:rPr>
                        <a:t>Optimize information architecture based on attention patterns </a:t>
                      </a:r>
                    </a:p>
                  </a:txBody>
                  <a:tcPr marL="66675" marR="66675">
                    <a:lnL>
                      <a:noFill/>
                    </a:lnL>
                    <a:lnR>
                      <a:noFill/>
                    </a:lnR>
                    <a:lnT>
                      <a:noFill/>
                    </a:lnT>
                    <a:lnB>
                      <a:noFill/>
                    </a:lnB>
                    <a:noFill/>
                  </a:tcPr>
                </a:tc>
                <a:tc>
                  <a:txBody>
                    <a:bodyPr/>
                    <a:lstStyle/>
                    <a:p>
                      <a:pPr rtl="0" fontAlgn="base">
                        <a:lnSpc>
                          <a:spcPct val="100000"/>
                        </a:lnSpc>
                        <a:buNone/>
                      </a:pPr>
                      <a:r>
                        <a:rPr lang="en-CA" sz="1400" b="1">
                          <a:effectLst/>
                          <a:latin typeface="Segoe UI"/>
                        </a:rPr>
                        <a:t>4. Develop Personalized Marketing Approaches </a:t>
                      </a:r>
                    </a:p>
                    <a:p>
                      <a:pPr marL="342900" lvl="0" indent="-342900" rtl="0" fontAlgn="base">
                        <a:lnSpc>
                          <a:spcPct val="100000"/>
                        </a:lnSpc>
                        <a:buFont typeface="Arial" panose="020B0604020202020204" pitchFamily="34" charset="0"/>
                        <a:buChar char="•"/>
                      </a:pPr>
                      <a:r>
                        <a:rPr lang="en-CA" sz="1400">
                          <a:effectLst/>
                          <a:latin typeface="Segoe UI"/>
                        </a:rPr>
                        <a:t>Primary finding: Four distinct consumer segments with different needs </a:t>
                      </a:r>
                    </a:p>
                    <a:p>
                      <a:pPr marL="342900" lvl="0" indent="-342900" rtl="0" fontAlgn="base">
                        <a:lnSpc>
                          <a:spcPct val="100000"/>
                        </a:lnSpc>
                        <a:buFont typeface="Arial" panose="020B0604020202020204" pitchFamily="34" charset="0"/>
                        <a:buChar char="•"/>
                      </a:pPr>
                      <a:r>
                        <a:rPr lang="en-CA" sz="1400">
                          <a:effectLst/>
                          <a:latin typeface="Segoe UI"/>
                        </a:rPr>
                        <a:t>Expected impact: Overall improvement of 8-12% in optimal choices </a:t>
                      </a:r>
                    </a:p>
                    <a:p>
                      <a:pPr marL="742950" lvl="1" indent="-285750" rtl="0" fontAlgn="base">
                        <a:lnSpc>
                          <a:spcPct val="100000"/>
                        </a:lnSpc>
                        <a:buFont typeface="Arial" panose="020B0604020202020204" pitchFamily="34" charset="0"/>
                        <a:buChar char="•"/>
                      </a:pPr>
                      <a:r>
                        <a:rPr lang="en-CA" sz="1400">
                          <a:effectLst/>
                          <a:latin typeface="Segoe UI"/>
                        </a:rPr>
                        <a:t>Target "Hesitant Deciders" with educational content and reassurance </a:t>
                      </a:r>
                    </a:p>
                    <a:p>
                      <a:pPr marL="742950" lvl="1" indent="-285750" rtl="0" fontAlgn="base">
                        <a:lnSpc>
                          <a:spcPct val="100000"/>
                        </a:lnSpc>
                        <a:buFont typeface="Arial" panose="020B0604020202020204" pitchFamily="34" charset="0"/>
                        <a:buChar char="•"/>
                      </a:pPr>
                      <a:r>
                        <a:rPr lang="en-CA" sz="1400">
                          <a:effectLst/>
                          <a:latin typeface="Segoe UI"/>
                        </a:rPr>
                        <a:t>Provide "Confident Optimizers" with efficient decision paths </a:t>
                      </a:r>
                    </a:p>
                    <a:p>
                      <a:pPr marL="742950" lvl="1" indent="-285750" rtl="0" fontAlgn="base">
                        <a:lnSpc>
                          <a:spcPct val="100000"/>
                        </a:lnSpc>
                        <a:buFont typeface="Arial" panose="020B0604020202020204" pitchFamily="34" charset="0"/>
                        <a:buChar char="•"/>
                      </a:pPr>
                      <a:r>
                        <a:rPr lang="en-CA" sz="1400">
                          <a:effectLst/>
                          <a:latin typeface="Segoe UI"/>
                        </a:rPr>
                        <a:t>Offer decision support tools to "Impulsive Choosers" </a:t>
                      </a:r>
                    </a:p>
                    <a:p>
                      <a:pPr marL="742950" lvl="1" indent="-285750" rtl="0" fontAlgn="base">
                        <a:lnSpc>
                          <a:spcPct val="100000"/>
                        </a:lnSpc>
                        <a:buFont typeface="Arial" panose="020B0604020202020204" pitchFamily="34" charset="0"/>
                        <a:buChar char="•"/>
                      </a:pPr>
                      <a:r>
                        <a:rPr lang="en-CA" sz="1400">
                          <a:effectLst/>
                          <a:latin typeface="Segoe UI"/>
                        </a:rPr>
                        <a:t>Implement real-time segmentation and personalized messaging </a:t>
                      </a:r>
                    </a:p>
                  </a:txBody>
                  <a:tcPr marL="66675" marR="66675">
                    <a:lnL>
                      <a:noFill/>
                    </a:lnL>
                    <a:lnR>
                      <a:noFill/>
                    </a:lnR>
                    <a:lnT>
                      <a:noFill/>
                    </a:lnT>
                    <a:lnB>
                      <a:noFill/>
                    </a:lnB>
                    <a:noFill/>
                  </a:tcPr>
                </a:tc>
                <a:extLst>
                  <a:ext uri="{0D108BD9-81ED-4DB2-BD59-A6C34878D82A}">
                    <a16:rowId xmlns:a16="http://schemas.microsoft.com/office/drawing/2014/main" val="4194530474"/>
                  </a:ext>
                </a:extLst>
              </a:tr>
            </a:tbl>
          </a:graphicData>
        </a:graphic>
      </p:graphicFrame>
    </p:spTree>
    <p:extLst>
      <p:ext uri="{BB962C8B-B14F-4D97-AF65-F5344CB8AC3E}">
        <p14:creationId xmlns:p14="http://schemas.microsoft.com/office/powerpoint/2010/main" val="28496075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EEC65-30AE-3A26-59D1-05A5357FDDF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B56720-1880-6583-28B5-D8B3940C2F46}"/>
              </a:ext>
            </a:extLst>
          </p:cNvPr>
          <p:cNvSpPr>
            <a:spLocks noGrp="1"/>
          </p:cNvSpPr>
          <p:nvPr>
            <p:ph idx="1"/>
          </p:nvPr>
        </p:nvSpPr>
        <p:spPr>
          <a:xfrm>
            <a:off x="1281811" y="1509091"/>
            <a:ext cx="9638582" cy="4049414"/>
          </a:xfrm>
        </p:spPr>
        <p:txBody>
          <a:bodyPr vert="horz" lIns="91440" tIns="45720" rIns="91440" bIns="45720" rtlCol="0" anchor="t">
            <a:normAutofit/>
          </a:bodyPr>
          <a:lstStyle/>
          <a:p>
            <a:pPr marL="0" indent="0">
              <a:lnSpc>
                <a:spcPct val="100000"/>
              </a:lnSpc>
              <a:buNone/>
            </a:pPr>
            <a:r>
              <a:rPr lang="en-US" sz="1800">
                <a:latin typeface="Segoe UI"/>
                <a:cs typeface="Segoe UI"/>
              </a:rPr>
              <a:t>This project successfully demonstrates the value of data mining in understanding and predicting consumer financial decisions. My analysis reveals that consumer confidence, educational content, and attention patterns significantly influence credit card selection quality. The predictive models I developed achieve 75% accuracy, making it a practical tool for identifying customers at risk of poor choices.</a:t>
            </a:r>
          </a:p>
          <a:p>
            <a:pPr marL="0" indent="0">
              <a:lnSpc>
                <a:spcPct val="100000"/>
              </a:lnSpc>
              <a:buNone/>
            </a:pPr>
            <a:endParaRPr lang="en-US" sz="1800">
              <a:latin typeface="Segoe UI"/>
              <a:cs typeface="Segoe UI"/>
            </a:endParaRPr>
          </a:p>
          <a:p>
            <a:pPr marL="0" indent="0">
              <a:lnSpc>
                <a:spcPct val="100000"/>
              </a:lnSpc>
              <a:buNone/>
            </a:pPr>
            <a:r>
              <a:rPr lang="en-US" sz="1800" b="1">
                <a:latin typeface="Segoe UI"/>
                <a:cs typeface="Segoe UI"/>
              </a:rPr>
              <a:t>Key takeaways from my analysis:</a:t>
            </a:r>
          </a:p>
          <a:p>
            <a:pPr marL="742950" lvl="1" indent="-285750">
              <a:lnSpc>
                <a:spcPct val="100000"/>
              </a:lnSpc>
              <a:buFont typeface="Courier New" panose="020B0604020202020204" pitchFamily="34" charset="0"/>
              <a:buChar char="o"/>
            </a:pPr>
            <a:r>
              <a:rPr lang="en-US" sz="1800">
                <a:latin typeface="Segoe UI"/>
                <a:cs typeface="Segoe UI"/>
              </a:rPr>
              <a:t>Confidence is the strongest predictor of optimal credit card choice</a:t>
            </a:r>
          </a:p>
          <a:p>
            <a:pPr marL="742950" lvl="1" indent="-285750">
              <a:lnSpc>
                <a:spcPct val="100000"/>
              </a:lnSpc>
              <a:buFont typeface="Courier New" panose="020B0604020202020204" pitchFamily="34" charset="0"/>
              <a:buChar char="o"/>
            </a:pPr>
            <a:r>
              <a:rPr lang="en-US" sz="1800">
                <a:latin typeface="Segoe UI"/>
                <a:cs typeface="Segoe UI"/>
              </a:rPr>
              <a:t>Educational videos improve decisions by 10% </a:t>
            </a:r>
          </a:p>
          <a:p>
            <a:pPr marL="742950" lvl="1" indent="-285750">
              <a:lnSpc>
                <a:spcPct val="100000"/>
              </a:lnSpc>
              <a:buFont typeface="Courier New" panose="020B0604020202020204" pitchFamily="34" charset="0"/>
              <a:buChar char="o"/>
            </a:pPr>
            <a:r>
              <a:rPr lang="en-US" sz="1800">
                <a:latin typeface="Segoe UI"/>
                <a:cs typeface="Segoe UI"/>
              </a:rPr>
              <a:t>Four consumer segments enable targeted interventions</a:t>
            </a:r>
          </a:p>
          <a:p>
            <a:pPr marL="742950" lvl="1" indent="-285750">
              <a:lnSpc>
                <a:spcPct val="100000"/>
              </a:lnSpc>
              <a:buFont typeface="Courier New" panose="020B0604020202020204" pitchFamily="34" charset="0"/>
              <a:buChar char="o"/>
            </a:pPr>
            <a:r>
              <a:rPr lang="en-US" sz="1800">
                <a:latin typeface="Segoe UI"/>
                <a:cs typeface="Segoe UI"/>
              </a:rPr>
              <a:t>Interface design significantly affects attention and choice quality</a:t>
            </a:r>
          </a:p>
          <a:p>
            <a:pPr marL="742950" lvl="1" indent="-285750">
              <a:lnSpc>
                <a:spcPct val="100000"/>
              </a:lnSpc>
              <a:buFont typeface="Courier New" panose="020B0604020202020204" pitchFamily="34" charset="0"/>
              <a:buChar char="o"/>
            </a:pPr>
            <a:r>
              <a:rPr lang="en-US" sz="1800">
                <a:latin typeface="Segoe UI"/>
                <a:cs typeface="Segoe UI"/>
              </a:rPr>
              <a:t>My predictive models achieve 75% accuracy in forecasting choices</a:t>
            </a:r>
          </a:p>
          <a:p>
            <a:pPr marL="0" indent="0">
              <a:lnSpc>
                <a:spcPct val="100000"/>
              </a:lnSpc>
              <a:buNone/>
            </a:pPr>
            <a:endParaRPr lang="en-US" sz="1800">
              <a:latin typeface="Segoe UI"/>
              <a:cs typeface="Segoe UI"/>
            </a:endParaRPr>
          </a:p>
        </p:txBody>
      </p:sp>
      <p:pic>
        <p:nvPicPr>
          <p:cNvPr id="5" name="Picture 4" descr="A blue background with a light&#10;&#10;AI-generated content may be incorrect.">
            <a:extLst>
              <a:ext uri="{FF2B5EF4-FFF2-40B4-BE49-F238E27FC236}">
                <a16:creationId xmlns:a16="http://schemas.microsoft.com/office/drawing/2014/main" id="{09E681CD-6C4D-F554-2F41-088DBAF0D36F}"/>
              </a:ext>
            </a:extLst>
          </p:cNvPr>
          <p:cNvPicPr>
            <a:picLocks noChangeAspect="1"/>
          </p:cNvPicPr>
          <p:nvPr/>
        </p:nvPicPr>
        <p:blipFill>
          <a:blip r:embed="rId2"/>
          <a:srcRect l="38" b="78831"/>
          <a:stretch>
            <a:fillRect/>
          </a:stretch>
        </p:blipFill>
        <p:spPr>
          <a:xfrm>
            <a:off x="-130939" y="-366982"/>
            <a:ext cx="12458624" cy="1461046"/>
          </a:xfrm>
          <a:prstGeom prst="rect">
            <a:avLst/>
          </a:prstGeom>
        </p:spPr>
      </p:pic>
      <p:sp>
        <p:nvSpPr>
          <p:cNvPr id="7" name="Title 1">
            <a:extLst>
              <a:ext uri="{FF2B5EF4-FFF2-40B4-BE49-F238E27FC236}">
                <a16:creationId xmlns:a16="http://schemas.microsoft.com/office/drawing/2014/main" id="{E07B15FC-ADB9-F0AC-A695-AF45C2098A95}"/>
              </a:ext>
            </a:extLst>
          </p:cNvPr>
          <p:cNvSpPr txBox="1">
            <a:spLocks/>
          </p:cNvSpPr>
          <p:nvPr/>
        </p:nvSpPr>
        <p:spPr>
          <a:xfrm>
            <a:off x="838200" y="178219"/>
            <a:ext cx="10515600" cy="90861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a:solidFill>
                  <a:srgbClr val="FFFFFF"/>
                </a:solidFill>
                <a:latin typeface="Bell MT"/>
              </a:rPr>
              <a:t>Conclusion </a:t>
            </a:r>
            <a:endParaRPr lang="en-US"/>
          </a:p>
        </p:txBody>
      </p:sp>
    </p:spTree>
    <p:extLst>
      <p:ext uri="{BB962C8B-B14F-4D97-AF65-F5344CB8AC3E}">
        <p14:creationId xmlns:p14="http://schemas.microsoft.com/office/powerpoint/2010/main" val="16692752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DF7909-367D-4050-9216-BCC7E66817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26E856-1747-FD4C-0945-0C2011C3F7B3}"/>
              </a:ext>
            </a:extLst>
          </p:cNvPr>
          <p:cNvSpPr>
            <a:spLocks noGrp="1"/>
          </p:cNvSpPr>
          <p:nvPr>
            <p:ph type="ctrTitle"/>
          </p:nvPr>
        </p:nvSpPr>
        <p:spPr>
          <a:xfrm>
            <a:off x="905773" y="1208627"/>
            <a:ext cx="10394830" cy="2013790"/>
          </a:xfrm>
        </p:spPr>
        <p:txBody>
          <a:bodyPr>
            <a:normAutofit/>
          </a:bodyPr>
          <a:lstStyle/>
          <a:p>
            <a:pPr>
              <a:lnSpc>
                <a:spcPct val="100000"/>
              </a:lnSpc>
            </a:pPr>
            <a:r>
              <a:rPr lang="en-US" sz="5400" b="1">
                <a:latin typeface="Bell MT"/>
              </a:rPr>
              <a:t>Any Questions?</a:t>
            </a:r>
          </a:p>
        </p:txBody>
      </p:sp>
      <p:sp>
        <p:nvSpPr>
          <p:cNvPr id="3" name="Subtitle 2">
            <a:extLst>
              <a:ext uri="{FF2B5EF4-FFF2-40B4-BE49-F238E27FC236}">
                <a16:creationId xmlns:a16="http://schemas.microsoft.com/office/drawing/2014/main" id="{5986D153-F9E4-A63E-39E8-D28BF7B8E6C5}"/>
              </a:ext>
            </a:extLst>
          </p:cNvPr>
          <p:cNvSpPr>
            <a:spLocks noGrp="1"/>
          </p:cNvSpPr>
          <p:nvPr>
            <p:ph type="subTitle" idx="1"/>
          </p:nvPr>
        </p:nvSpPr>
        <p:spPr>
          <a:xfrm>
            <a:off x="1538377" y="3975848"/>
            <a:ext cx="9129623" cy="1497612"/>
          </a:xfrm>
        </p:spPr>
        <p:txBody>
          <a:bodyPr vert="horz" lIns="91440" tIns="45720" rIns="91440" bIns="45720" rtlCol="0" anchor="t">
            <a:normAutofit/>
          </a:bodyPr>
          <a:lstStyle/>
          <a:p>
            <a:pPr>
              <a:lnSpc>
                <a:spcPct val="100000"/>
              </a:lnSpc>
            </a:pPr>
            <a:r>
              <a:rPr lang="en-US" sz="2800">
                <a:latin typeface="Segoe UI"/>
                <a:cs typeface="Segoe UI"/>
              </a:rPr>
              <a:t>Thank You For Listening!</a:t>
            </a:r>
          </a:p>
        </p:txBody>
      </p:sp>
      <p:pic>
        <p:nvPicPr>
          <p:cNvPr id="6" name="Picture 5" descr="A blue background with a light&#10;&#10;AI-generated content may be incorrect.">
            <a:extLst>
              <a:ext uri="{FF2B5EF4-FFF2-40B4-BE49-F238E27FC236}">
                <a16:creationId xmlns:a16="http://schemas.microsoft.com/office/drawing/2014/main" id="{1A76D0BB-8733-81F7-7D18-55D46D27A22A}"/>
              </a:ext>
            </a:extLst>
          </p:cNvPr>
          <p:cNvPicPr>
            <a:picLocks noChangeAspect="1"/>
          </p:cNvPicPr>
          <p:nvPr/>
        </p:nvPicPr>
        <p:blipFill>
          <a:blip r:embed="rId2"/>
          <a:srcRect l="38" b="78831"/>
          <a:stretch>
            <a:fillRect/>
          </a:stretch>
        </p:blipFill>
        <p:spPr>
          <a:xfrm>
            <a:off x="1536835" y="3457396"/>
            <a:ext cx="9137452" cy="152708"/>
          </a:xfrm>
          <a:prstGeom prst="rect">
            <a:avLst/>
          </a:prstGeom>
        </p:spPr>
      </p:pic>
    </p:spTree>
    <p:extLst>
      <p:ext uri="{BB962C8B-B14F-4D97-AF65-F5344CB8AC3E}">
        <p14:creationId xmlns:p14="http://schemas.microsoft.com/office/powerpoint/2010/main" val="41843142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15</Slides>
  <Notes>1</Notes>
  <HiddenSlides>0</HiddenSlide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Credit Card Selection Prediction For  Consumer Decision-Making</vt:lpstr>
      <vt:lpstr>Project Agenda And Objectives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Any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revision>4</cp:revision>
  <dcterms:created xsi:type="dcterms:W3CDTF">2013-07-15T20:26:40Z</dcterms:created>
  <dcterms:modified xsi:type="dcterms:W3CDTF">2026-09-27T20:32:53Z</dcterms:modified>
</cp:coreProperties>
</file>