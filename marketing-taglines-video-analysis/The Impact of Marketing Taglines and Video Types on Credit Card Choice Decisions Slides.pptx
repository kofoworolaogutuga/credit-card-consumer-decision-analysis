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79" r:id="rId2"/>
    <p:sldId id="277" r:id="rId3"/>
    <p:sldId id="287" r:id="rId4"/>
    <p:sldId id="288" r:id="rId5"/>
    <p:sldId id="289" r:id="rId6"/>
    <p:sldId id="290" r:id="rId7"/>
    <p:sldId id="291" r:id="rId8"/>
    <p:sldId id="283" r:id="rId9"/>
    <p:sldId id="284" r:id="rId10"/>
    <p:sldId id="285" r:id="rId11"/>
    <p:sldId id="282" r:id="rId12"/>
    <p:sldId id="278"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34BAABE-55E3-71AE-466C-081EDDE07248}" v="2" dt="2026-07-12T22:41:47.139"/>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972" autoAdjust="0"/>
    <p:restoredTop sz="94660"/>
  </p:normalViewPr>
  <p:slideViewPr>
    <p:cSldViewPr snapToGrid="0">
      <p:cViewPr varScale="1">
        <p:scale>
          <a:sx n="86" d="100"/>
          <a:sy n="86" d="100"/>
        </p:scale>
        <p:origin x="96" y="88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microsoft.com/office/2015/10/relationships/revisionInfo" Target="revisionInfo.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9/27/2026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3853878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9/27/2026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9491384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46CE7D5-CF57-46EF-B807-FDD0502418D4}" type="datetimeFigureOut">
              <a:rPr lang="en-US" smtClean="0"/>
              <a:t>9/27/2026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5915245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846CE7D5-CF57-46EF-B807-FDD0502418D4}" type="datetimeFigureOut">
              <a:rPr lang="en-US" smtClean="0"/>
              <a:t>9/27/2026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2030920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846CE7D5-CF57-46EF-B807-FDD0502418D4}" type="datetimeFigureOut">
              <a:rPr lang="en-US" smtClean="0"/>
              <a:t>9/27/2026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7331723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846CE7D5-CF57-46EF-B807-FDD0502418D4}" type="datetimeFigureOut">
              <a:rPr lang="en-US" smtClean="0"/>
              <a:t>9/27/2026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2103125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46CE7D5-CF57-46EF-B807-FDD0502418D4}" type="datetimeFigureOut">
              <a:rPr lang="en-US" smtClean="0"/>
              <a:t>9/27/2026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463889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9/27/2026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718414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9/27/2026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7189582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9/27/2026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2029054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9/27/2026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47944565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846CE7D5-CF57-46EF-B807-FDD0502418D4}" type="datetimeFigureOut">
              <a:rPr lang="en-US" smtClean="0"/>
              <a:t>9/27/2026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30EA680-D336-4FF7-8B7A-9848BB0A1C32}" type="slidenum">
              <a:rPr lang="en-US" smtClean="0"/>
              <a:t>‹#›</a:t>
            </a:fld>
            <a:endParaRPr lang="en-US"/>
          </a:p>
        </p:txBody>
      </p:sp>
    </p:spTree>
    <p:extLst>
      <p:ext uri="{BB962C8B-B14F-4D97-AF65-F5344CB8AC3E}">
        <p14:creationId xmlns:p14="http://schemas.microsoft.com/office/powerpoint/2010/main" val="246095407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905773" y="1208627"/>
            <a:ext cx="10394830" cy="2013790"/>
          </a:xfrm>
        </p:spPr>
        <p:txBody>
          <a:bodyPr>
            <a:normAutofit fontScale="90000"/>
          </a:bodyPr>
          <a:lstStyle/>
          <a:p>
            <a:pPr>
              <a:lnSpc>
                <a:spcPct val="100000"/>
              </a:lnSpc>
            </a:pPr>
            <a:r>
              <a:rPr lang="en-US" sz="4400" b="1" dirty="0">
                <a:latin typeface="Bell MT"/>
              </a:rPr>
              <a:t>The Impact of Marketing Taglines and Video Types on Credit Card Choice Decisions</a:t>
            </a:r>
            <a:endParaRPr lang="en-US" dirty="0"/>
          </a:p>
        </p:txBody>
      </p:sp>
      <p:sp>
        <p:nvSpPr>
          <p:cNvPr id="3" name="Subtitle 2"/>
          <p:cNvSpPr>
            <a:spLocks noGrp="1"/>
          </p:cNvSpPr>
          <p:nvPr>
            <p:ph type="subTitle" idx="1"/>
          </p:nvPr>
        </p:nvSpPr>
        <p:spPr>
          <a:xfrm>
            <a:off x="1538377" y="3975848"/>
            <a:ext cx="9129623" cy="1497612"/>
          </a:xfrm>
        </p:spPr>
        <p:txBody>
          <a:bodyPr vert="horz" lIns="91440" tIns="45720" rIns="91440" bIns="45720" rtlCol="0" anchor="t">
            <a:normAutofit/>
          </a:bodyPr>
          <a:lstStyle/>
          <a:p>
            <a:pPr>
              <a:lnSpc>
                <a:spcPct val="100000"/>
              </a:lnSpc>
            </a:pPr>
            <a:r>
              <a:rPr lang="en-US" sz="1800" dirty="0">
                <a:latin typeface="Segoe UI"/>
                <a:cs typeface="Segoe UI"/>
              </a:rPr>
              <a:t>By: Kofoworola </a:t>
            </a:r>
            <a:r>
              <a:rPr lang="en-US" sz="1800" dirty="0" err="1">
                <a:latin typeface="Segoe UI"/>
                <a:cs typeface="Segoe UI"/>
              </a:rPr>
              <a:t>Ogutuga</a:t>
            </a:r>
            <a:r>
              <a:rPr lang="en-US" sz="1800" dirty="0">
                <a:latin typeface="Segoe UI"/>
                <a:cs typeface="Segoe UI"/>
              </a:rPr>
              <a:t> 101548707</a:t>
            </a:r>
          </a:p>
          <a:p>
            <a:pPr>
              <a:lnSpc>
                <a:spcPct val="100000"/>
              </a:lnSpc>
            </a:pPr>
            <a:r>
              <a:rPr lang="en-US" sz="1800" dirty="0">
                <a:latin typeface="Segoe UI"/>
                <a:cs typeface="Segoe UI"/>
              </a:rPr>
              <a:t>Course: SOCIAL AND DIGITAL ANALYSIS CRN-19995-202501</a:t>
            </a:r>
          </a:p>
          <a:p>
            <a:pPr>
              <a:lnSpc>
                <a:spcPct val="100000"/>
              </a:lnSpc>
            </a:pPr>
            <a:r>
              <a:rPr lang="en-US" sz="1800" dirty="0">
                <a:latin typeface="Segoe UI"/>
                <a:cs typeface="Segoe UI"/>
              </a:rPr>
              <a:t>Due: Thursday Dec 11, 2025, 11:59 PM </a:t>
            </a:r>
          </a:p>
          <a:p>
            <a:pPr>
              <a:lnSpc>
                <a:spcPct val="100000"/>
              </a:lnSpc>
            </a:pPr>
            <a:endParaRPr lang="en-US" sz="1800" dirty="0">
              <a:latin typeface="Segoe UI"/>
              <a:cs typeface="Segoe UI"/>
            </a:endParaRPr>
          </a:p>
        </p:txBody>
      </p:sp>
      <p:pic>
        <p:nvPicPr>
          <p:cNvPr id="6" name="Picture 5" descr="A blue background with a light&#10;&#10;AI-generated content may be incorrect.">
            <a:extLst>
              <a:ext uri="{FF2B5EF4-FFF2-40B4-BE49-F238E27FC236}">
                <a16:creationId xmlns:a16="http://schemas.microsoft.com/office/drawing/2014/main" id="{C44FD074-3A09-0D17-E8D6-29CC29D6FA0D}"/>
              </a:ext>
            </a:extLst>
          </p:cNvPr>
          <p:cNvPicPr>
            <a:picLocks noChangeAspect="1"/>
          </p:cNvPicPr>
          <p:nvPr/>
        </p:nvPicPr>
        <p:blipFill>
          <a:blip r:embed="rId2"/>
          <a:srcRect l="38" b="78831"/>
          <a:stretch>
            <a:fillRect/>
          </a:stretch>
        </p:blipFill>
        <p:spPr>
          <a:xfrm>
            <a:off x="1536835" y="3457396"/>
            <a:ext cx="9137452" cy="152708"/>
          </a:xfrm>
          <a:prstGeom prst="rect">
            <a:avLst/>
          </a:prstGeom>
        </p:spPr>
      </p:pic>
    </p:spTree>
    <p:extLst>
      <p:ext uri="{BB962C8B-B14F-4D97-AF65-F5344CB8AC3E}">
        <p14:creationId xmlns:p14="http://schemas.microsoft.com/office/powerpoint/2010/main" val="310361570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8EEC65-30AE-3A26-59D1-05A5357FDDF7}"/>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FB56720-1880-6583-28B5-D8B3940C2F46}"/>
              </a:ext>
            </a:extLst>
          </p:cNvPr>
          <p:cNvSpPr>
            <a:spLocks noGrp="1"/>
          </p:cNvSpPr>
          <p:nvPr>
            <p:ph idx="1"/>
          </p:nvPr>
        </p:nvSpPr>
        <p:spPr>
          <a:xfrm>
            <a:off x="520659" y="1423059"/>
            <a:ext cx="11149442" cy="2945828"/>
          </a:xfrm>
        </p:spPr>
        <p:txBody>
          <a:bodyPr vert="horz" lIns="91440" tIns="45720" rIns="91440" bIns="45720" rtlCol="0" anchor="t">
            <a:noAutofit/>
          </a:bodyPr>
          <a:lstStyle/>
          <a:p>
            <a:pPr marL="0" indent="0">
              <a:lnSpc>
                <a:spcPct val="120000"/>
              </a:lnSpc>
              <a:buNone/>
            </a:pPr>
            <a:r>
              <a:rPr lang="en-US" sz="1600" dirty="0">
                <a:latin typeface="Segoe UI"/>
                <a:cs typeface="Segoe UI"/>
              </a:rPr>
              <a:t>I analyzed experimental data from 250 participants making credit card decisions and found that marketed financial choices have real consequences. Credit cards involve multiple interest rates, fees, and benefits. Consumers struggle to identify optimal options. Marketing adds complexity through taglines and feature lists. Does this help or hinder decision making?</a:t>
            </a:r>
            <a:endParaRPr lang="en-US"/>
          </a:p>
          <a:p>
            <a:pPr marL="0" indent="0">
              <a:lnSpc>
                <a:spcPct val="120000"/>
              </a:lnSpc>
              <a:buNone/>
            </a:pPr>
            <a:endParaRPr lang="en-US" sz="600" dirty="0">
              <a:latin typeface="Segoe UI"/>
              <a:cs typeface="Segoe UI"/>
            </a:endParaRPr>
          </a:p>
          <a:p>
            <a:pPr marL="0" indent="0">
              <a:lnSpc>
                <a:spcPct val="120000"/>
              </a:lnSpc>
              <a:buNone/>
            </a:pPr>
            <a:r>
              <a:rPr lang="en-US" sz="1800" b="1" dirty="0">
                <a:latin typeface="Segoe UI"/>
                <a:cs typeface="Segoe UI"/>
              </a:rPr>
              <a:t>My Research Question: </a:t>
            </a:r>
            <a:r>
              <a:rPr lang="en-US" sz="1800" dirty="0">
                <a:latin typeface="Segoe UI"/>
                <a:cs typeface="Segoe UI"/>
              </a:rPr>
              <a:t>Do marketing taglines and video formats help consumers make better financial choices?</a:t>
            </a:r>
          </a:p>
          <a:p>
            <a:pPr marL="0" indent="0">
              <a:lnSpc>
                <a:spcPct val="120000"/>
              </a:lnSpc>
              <a:buNone/>
            </a:pPr>
            <a:endParaRPr lang="en-US" sz="600" dirty="0">
              <a:latin typeface="Segoe UI"/>
              <a:cs typeface="Segoe UI"/>
            </a:endParaRPr>
          </a:p>
          <a:p>
            <a:pPr marL="0" indent="0">
              <a:lnSpc>
                <a:spcPct val="120000"/>
              </a:lnSpc>
              <a:buNone/>
            </a:pPr>
            <a:r>
              <a:rPr lang="en-US" sz="1600" b="1" dirty="0">
                <a:latin typeface="Segoe UI"/>
                <a:cs typeface="Segoe UI"/>
              </a:rPr>
              <a:t>3 Predictions I Tested: </a:t>
            </a:r>
            <a:endParaRPr lang="en-US" dirty="0"/>
          </a:p>
          <a:p>
            <a:pPr marL="285750" indent="-285750">
              <a:lnSpc>
                <a:spcPct val="120000"/>
              </a:lnSpc>
            </a:pPr>
            <a:r>
              <a:rPr lang="en-US" sz="1600" dirty="0">
                <a:latin typeface="Segoe UI"/>
                <a:cs typeface="Segoe UI"/>
              </a:rPr>
              <a:t>Hypothesis 1: Taglines increase decision time without improving quality. Extra information creates cognitive load without value.</a:t>
            </a:r>
          </a:p>
          <a:p>
            <a:pPr marL="285750" indent="-285750">
              <a:lnSpc>
                <a:spcPct val="120000"/>
              </a:lnSpc>
            </a:pPr>
            <a:r>
              <a:rPr lang="en-US" sz="1600" dirty="0">
                <a:latin typeface="Segoe UI"/>
                <a:cs typeface="Segoe UI"/>
              </a:rPr>
              <a:t>Hypothesis 2: Instructional videos lead to better choices than basic presentations. Understanding promotes better decisions.</a:t>
            </a:r>
          </a:p>
          <a:p>
            <a:pPr marL="285750" indent="-285750">
              <a:lnSpc>
                <a:spcPct val="120000"/>
              </a:lnSpc>
            </a:pPr>
            <a:r>
              <a:rPr lang="en-US" sz="1600" dirty="0">
                <a:latin typeface="Segoe UI"/>
                <a:cs typeface="Segoe UI"/>
              </a:rPr>
              <a:t>Hypothesis 3: Age, income, and education moderate marketing effectiveness. Different groups have different needs.</a:t>
            </a:r>
          </a:p>
          <a:p>
            <a:pPr marL="285750" indent="-285750">
              <a:lnSpc>
                <a:spcPct val="120000"/>
              </a:lnSpc>
            </a:pPr>
            <a:r>
              <a:rPr lang="en-US" sz="1600" dirty="0">
                <a:latin typeface="Segoe UI"/>
                <a:cs typeface="Segoe UI"/>
              </a:rPr>
              <a:t>My method: 2×2 experimental design with random assignment.</a:t>
            </a:r>
          </a:p>
          <a:p>
            <a:pPr marL="0" indent="0">
              <a:lnSpc>
                <a:spcPct val="120000"/>
              </a:lnSpc>
              <a:buNone/>
            </a:pPr>
            <a:endParaRPr lang="en-US" sz="1600" dirty="0">
              <a:latin typeface="Segoe UI"/>
              <a:cs typeface="Segoe UI"/>
            </a:endParaRPr>
          </a:p>
        </p:txBody>
      </p:sp>
      <p:pic>
        <p:nvPicPr>
          <p:cNvPr id="5" name="Picture 4" descr="A blue background with a light&#10;&#10;AI-generated content may be incorrect.">
            <a:extLst>
              <a:ext uri="{FF2B5EF4-FFF2-40B4-BE49-F238E27FC236}">
                <a16:creationId xmlns:a16="http://schemas.microsoft.com/office/drawing/2014/main" id="{09E681CD-6C4D-F554-2F41-088DBAF0D36F}"/>
              </a:ext>
            </a:extLst>
          </p:cNvPr>
          <p:cNvPicPr>
            <a:picLocks noChangeAspect="1"/>
          </p:cNvPicPr>
          <p:nvPr/>
        </p:nvPicPr>
        <p:blipFill>
          <a:blip r:embed="rId2"/>
          <a:srcRect l="38" b="78831"/>
          <a:stretch>
            <a:fillRect/>
          </a:stretch>
        </p:blipFill>
        <p:spPr>
          <a:xfrm>
            <a:off x="-130939" y="-366982"/>
            <a:ext cx="12458624" cy="1461046"/>
          </a:xfrm>
          <a:prstGeom prst="rect">
            <a:avLst/>
          </a:prstGeom>
        </p:spPr>
      </p:pic>
      <p:sp>
        <p:nvSpPr>
          <p:cNvPr id="7" name="Title 1">
            <a:extLst>
              <a:ext uri="{FF2B5EF4-FFF2-40B4-BE49-F238E27FC236}">
                <a16:creationId xmlns:a16="http://schemas.microsoft.com/office/drawing/2014/main" id="{E07B15FC-ADB9-F0AC-A695-AF45C2098A95}"/>
              </a:ext>
            </a:extLst>
          </p:cNvPr>
          <p:cNvSpPr txBox="1">
            <a:spLocks/>
          </p:cNvSpPr>
          <p:nvPr/>
        </p:nvSpPr>
        <p:spPr>
          <a:xfrm>
            <a:off x="838200" y="178219"/>
            <a:ext cx="10515600" cy="908619"/>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2800" b="1" dirty="0">
                <a:solidFill>
                  <a:srgbClr val="FFFFFF"/>
                </a:solidFill>
                <a:latin typeface="Bell MT"/>
              </a:rPr>
              <a:t>THE PROBLEM &amp; MY HYPOTHESES</a:t>
            </a:r>
            <a:endParaRPr lang="en-US" dirty="0"/>
          </a:p>
        </p:txBody>
      </p:sp>
    </p:spTree>
    <p:extLst>
      <p:ext uri="{BB962C8B-B14F-4D97-AF65-F5344CB8AC3E}">
        <p14:creationId xmlns:p14="http://schemas.microsoft.com/office/powerpoint/2010/main" val="166927523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9470A4-AB73-3C5B-0970-10C07F5EE62F}"/>
            </a:ext>
          </a:extLst>
        </p:cNvPr>
        <p:cNvGrpSpPr/>
        <p:nvPr/>
      </p:nvGrpSpPr>
      <p:grpSpPr>
        <a:xfrm>
          <a:off x="0" y="0"/>
          <a:ext cx="0" cy="0"/>
          <a:chOff x="0" y="0"/>
          <a:chExt cx="0" cy="0"/>
        </a:xfrm>
      </p:grpSpPr>
      <p:pic>
        <p:nvPicPr>
          <p:cNvPr id="2" name="Picture 1">
            <a:extLst>
              <a:ext uri="{FF2B5EF4-FFF2-40B4-BE49-F238E27FC236}">
                <a16:creationId xmlns:a16="http://schemas.microsoft.com/office/drawing/2014/main" id="{E73A4A24-1979-D076-5FCA-513A06BC31A8}"/>
              </a:ext>
            </a:extLst>
          </p:cNvPr>
          <p:cNvPicPr>
            <a:picLocks noChangeAspect="1"/>
          </p:cNvPicPr>
          <p:nvPr/>
        </p:nvPicPr>
        <p:blipFill>
          <a:blip r:embed="rId2"/>
          <a:srcRect r="5497"/>
          <a:stretch>
            <a:fillRect/>
          </a:stretch>
        </p:blipFill>
        <p:spPr>
          <a:xfrm>
            <a:off x="4841921" y="2036380"/>
            <a:ext cx="7348959" cy="4690241"/>
          </a:xfrm>
          <a:prstGeom prst="rect">
            <a:avLst/>
          </a:prstGeom>
        </p:spPr>
      </p:pic>
      <p:sp>
        <p:nvSpPr>
          <p:cNvPr id="3" name="Content Placeholder 2">
            <a:extLst>
              <a:ext uri="{FF2B5EF4-FFF2-40B4-BE49-F238E27FC236}">
                <a16:creationId xmlns:a16="http://schemas.microsoft.com/office/drawing/2014/main" id="{AC769E85-15B0-0837-DC60-0F132DF2D535}"/>
              </a:ext>
            </a:extLst>
          </p:cNvPr>
          <p:cNvSpPr>
            <a:spLocks noGrp="1"/>
          </p:cNvSpPr>
          <p:nvPr>
            <p:ph idx="1"/>
          </p:nvPr>
        </p:nvSpPr>
        <p:spPr>
          <a:xfrm>
            <a:off x="538604" y="1396784"/>
            <a:ext cx="4304580" cy="5047896"/>
          </a:xfrm>
        </p:spPr>
        <p:txBody>
          <a:bodyPr vert="horz" lIns="91440" tIns="45720" rIns="91440" bIns="45720" rtlCol="0" anchor="t">
            <a:normAutofit/>
          </a:bodyPr>
          <a:lstStyle/>
          <a:p>
            <a:pPr marL="0" indent="0" algn="just">
              <a:lnSpc>
                <a:spcPct val="100000"/>
              </a:lnSpc>
              <a:buNone/>
            </a:pPr>
            <a:r>
              <a:rPr lang="en-US" sz="1600" dirty="0">
                <a:latin typeface="Segoe UI"/>
                <a:cs typeface="Segoe UI"/>
              </a:rPr>
              <a:t>Taglines increased decision time. Participants without taglines decided in 85.3 seconds, while those with taglines took 121.4 seconds. This 36.1-second difference represents a 42% increase (t=4.32, p&lt;0.001). Despite longer deliberation, taglines did not improve decision quality. Accuracy was 64.2% without taglines and 63.5% with taglines, a statistically insignificant difference (χ²=0.84, p=0.175).</a:t>
            </a:r>
            <a:endParaRPr lang="en-US" sz="1600"/>
          </a:p>
          <a:p>
            <a:pPr marL="0" indent="0">
              <a:lnSpc>
                <a:spcPct val="100000"/>
              </a:lnSpc>
              <a:buNone/>
            </a:pPr>
            <a:endParaRPr lang="en-US" sz="1600" dirty="0">
              <a:latin typeface="Segoe UI"/>
              <a:cs typeface="Segoe UI"/>
            </a:endParaRPr>
          </a:p>
          <a:p>
            <a:pPr marL="285750" indent="-285750">
              <a:lnSpc>
                <a:spcPct val="100000"/>
              </a:lnSpc>
            </a:pPr>
            <a:r>
              <a:rPr lang="en-US" sz="1600" dirty="0">
                <a:latin typeface="Segoe UI"/>
                <a:cs typeface="Segoe UI"/>
              </a:rPr>
              <a:t>No taglines: 85.3 second decisions</a:t>
            </a:r>
          </a:p>
          <a:p>
            <a:pPr marL="285750" indent="-285750">
              <a:lnSpc>
                <a:spcPct val="100000"/>
              </a:lnSpc>
            </a:pPr>
            <a:r>
              <a:rPr lang="en-US" sz="1600" dirty="0">
                <a:latin typeface="Segoe UI"/>
                <a:cs typeface="Segoe UI"/>
              </a:rPr>
              <a:t>With taglines: 121.4 second decisions</a:t>
            </a:r>
          </a:p>
          <a:p>
            <a:pPr marL="285750" indent="-285750">
              <a:lnSpc>
                <a:spcPct val="100000"/>
              </a:lnSpc>
            </a:pPr>
            <a:r>
              <a:rPr lang="en-US" sz="1600" dirty="0">
                <a:latin typeface="Segoe UI"/>
                <a:cs typeface="Segoe UI"/>
              </a:rPr>
              <a:t>42% longer for same decisions</a:t>
            </a:r>
          </a:p>
          <a:p>
            <a:pPr marL="0" indent="0">
              <a:lnSpc>
                <a:spcPct val="100000"/>
              </a:lnSpc>
              <a:buNone/>
            </a:pPr>
            <a:r>
              <a:rPr lang="en-US" sz="1600" dirty="0">
                <a:latin typeface="Segoe UI"/>
                <a:cs typeface="Segoe UI"/>
              </a:rPr>
              <a:t>Statistical significance: t=4.32, p&lt;0.001</a:t>
            </a:r>
          </a:p>
          <a:p>
            <a:pPr marL="0" indent="0">
              <a:lnSpc>
                <a:spcPct val="100000"/>
              </a:lnSpc>
              <a:buNone/>
            </a:pPr>
            <a:r>
              <a:rPr lang="en-US" sz="1600" dirty="0">
                <a:latin typeface="Segoe UI"/>
                <a:cs typeface="Segoe UI"/>
              </a:rPr>
              <a:t>No quality improvement: 64.2% vs 63.5% accuracy</a:t>
            </a:r>
          </a:p>
          <a:p>
            <a:pPr marL="0" indent="0">
              <a:lnSpc>
                <a:spcPct val="100000"/>
              </a:lnSpc>
              <a:buNone/>
            </a:pPr>
            <a:endParaRPr lang="en-US" sz="1600" dirty="0">
              <a:latin typeface="Segoe UI"/>
              <a:cs typeface="Segoe UI"/>
            </a:endParaRPr>
          </a:p>
        </p:txBody>
      </p:sp>
      <p:pic>
        <p:nvPicPr>
          <p:cNvPr id="5" name="Picture 4" descr="A blue background with a light&#10;&#10;AI-generated content may be incorrect.">
            <a:extLst>
              <a:ext uri="{FF2B5EF4-FFF2-40B4-BE49-F238E27FC236}">
                <a16:creationId xmlns:a16="http://schemas.microsoft.com/office/drawing/2014/main" id="{CE70AB34-E267-9807-AADF-C9100DFD67A5}"/>
              </a:ext>
            </a:extLst>
          </p:cNvPr>
          <p:cNvPicPr>
            <a:picLocks noChangeAspect="1"/>
          </p:cNvPicPr>
          <p:nvPr/>
        </p:nvPicPr>
        <p:blipFill>
          <a:blip r:embed="rId3"/>
          <a:srcRect l="38" b="78831"/>
          <a:stretch>
            <a:fillRect/>
          </a:stretch>
        </p:blipFill>
        <p:spPr>
          <a:xfrm>
            <a:off x="-130939" y="-366982"/>
            <a:ext cx="12458624" cy="1461046"/>
          </a:xfrm>
          <a:prstGeom prst="rect">
            <a:avLst/>
          </a:prstGeom>
        </p:spPr>
      </p:pic>
      <p:sp>
        <p:nvSpPr>
          <p:cNvPr id="7" name="Title 1">
            <a:extLst>
              <a:ext uri="{FF2B5EF4-FFF2-40B4-BE49-F238E27FC236}">
                <a16:creationId xmlns:a16="http://schemas.microsoft.com/office/drawing/2014/main" id="{89052AD9-9B65-DC61-5FF6-588802EF810F}"/>
              </a:ext>
            </a:extLst>
          </p:cNvPr>
          <p:cNvSpPr txBox="1">
            <a:spLocks/>
          </p:cNvSpPr>
          <p:nvPr/>
        </p:nvSpPr>
        <p:spPr>
          <a:xfrm>
            <a:off x="838200" y="178219"/>
            <a:ext cx="10515600" cy="908619"/>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2800" b="1" dirty="0">
                <a:solidFill>
                  <a:srgbClr val="FFFFFF"/>
                </a:solidFill>
                <a:latin typeface="Bell MT"/>
              </a:rPr>
              <a:t>1. TAGLINE EFFECT </a:t>
            </a:r>
            <a:endParaRPr lang="en-US" dirty="0"/>
          </a:p>
        </p:txBody>
      </p:sp>
      <p:sp>
        <p:nvSpPr>
          <p:cNvPr id="4" name="TextBox 3">
            <a:extLst>
              <a:ext uri="{FF2B5EF4-FFF2-40B4-BE49-F238E27FC236}">
                <a16:creationId xmlns:a16="http://schemas.microsoft.com/office/drawing/2014/main" id="{9B2963FA-C0EA-2B15-0201-9C6CB8AC4CEE}"/>
              </a:ext>
            </a:extLst>
          </p:cNvPr>
          <p:cNvSpPr txBox="1"/>
          <p:nvPr/>
        </p:nvSpPr>
        <p:spPr>
          <a:xfrm>
            <a:off x="5544207" y="1392621"/>
            <a:ext cx="6463863"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dirty="0">
                <a:solidFill>
                  <a:srgbClr val="000000"/>
                </a:solidFill>
                <a:latin typeface="Segoe UI"/>
                <a:ea typeface="quote-cjk-patch"/>
                <a:cs typeface="Segoe UI"/>
              </a:rPr>
              <a:t>Taglines create decision friction without benefits, potentially distracting from essential information</a:t>
            </a:r>
            <a:endParaRPr lang="en-US" dirty="0"/>
          </a:p>
        </p:txBody>
      </p:sp>
    </p:spTree>
    <p:extLst>
      <p:ext uri="{BB962C8B-B14F-4D97-AF65-F5344CB8AC3E}">
        <p14:creationId xmlns:p14="http://schemas.microsoft.com/office/powerpoint/2010/main" val="207176845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B3EFA3-F839-66DD-6217-D7D93C9E865A}"/>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A2E3CA1-1DDA-7764-E6E1-DB71DA39EC43}"/>
              </a:ext>
            </a:extLst>
          </p:cNvPr>
          <p:cNvSpPr>
            <a:spLocks noGrp="1"/>
          </p:cNvSpPr>
          <p:nvPr>
            <p:ph idx="1"/>
          </p:nvPr>
        </p:nvSpPr>
        <p:spPr>
          <a:xfrm>
            <a:off x="625764" y="1620127"/>
            <a:ext cx="3529443" cy="5047897"/>
          </a:xfrm>
        </p:spPr>
        <p:txBody>
          <a:bodyPr vert="horz" lIns="91440" tIns="45720" rIns="91440" bIns="45720" rtlCol="0" anchor="t">
            <a:normAutofit/>
          </a:bodyPr>
          <a:lstStyle/>
          <a:p>
            <a:pPr marL="0" indent="0" algn="just">
              <a:lnSpc>
                <a:spcPct val="100000"/>
              </a:lnSpc>
              <a:buNone/>
            </a:pPr>
            <a:r>
              <a:rPr lang="en-US" sz="1700" dirty="0">
                <a:latin typeface="Segoe UI"/>
                <a:cs typeface="Segoe UI"/>
              </a:rPr>
              <a:t>When people understand their options, they make better choices and feel more confident.</a:t>
            </a:r>
            <a:endParaRPr lang="en-US"/>
          </a:p>
          <a:p>
            <a:pPr marL="0" indent="0">
              <a:lnSpc>
                <a:spcPct val="100000"/>
              </a:lnSpc>
              <a:buNone/>
            </a:pPr>
            <a:endParaRPr lang="en-US" sz="1000" dirty="0">
              <a:latin typeface="Segoe UI"/>
              <a:cs typeface="Segoe UI"/>
            </a:endParaRPr>
          </a:p>
          <a:p>
            <a:pPr marL="285750" indent="-285750">
              <a:lnSpc>
                <a:spcPct val="100000"/>
              </a:lnSpc>
            </a:pPr>
            <a:r>
              <a:rPr lang="en-US" sz="1700" dirty="0">
                <a:latin typeface="Segoe UI"/>
                <a:cs typeface="Segoe UI"/>
              </a:rPr>
              <a:t>Baseline videos: 61.2% accuracy</a:t>
            </a:r>
          </a:p>
          <a:p>
            <a:pPr marL="285750" indent="-285750">
              <a:lnSpc>
                <a:spcPct val="100000"/>
              </a:lnSpc>
            </a:pPr>
            <a:r>
              <a:rPr lang="en-US" sz="1700" dirty="0">
                <a:latin typeface="Segoe UI"/>
                <a:cs typeface="Segoe UI"/>
              </a:rPr>
              <a:t>Instructional videos: 68.4% accuracy</a:t>
            </a:r>
          </a:p>
          <a:p>
            <a:pPr marL="285750" indent="-285750">
              <a:lnSpc>
                <a:spcPct val="100000"/>
              </a:lnSpc>
            </a:pPr>
            <a:r>
              <a:rPr lang="en-US" sz="1700" dirty="0">
                <a:latin typeface="Segoe UI"/>
                <a:cs typeface="Segoe UI"/>
              </a:rPr>
              <a:t>7.2% improvement in decision quality</a:t>
            </a:r>
          </a:p>
          <a:p>
            <a:pPr marL="0" indent="0">
              <a:lnSpc>
                <a:spcPct val="100000"/>
              </a:lnSpc>
              <a:buNone/>
            </a:pPr>
            <a:endParaRPr lang="en-US" sz="1000" dirty="0">
              <a:latin typeface="Segoe UI"/>
              <a:cs typeface="Segoe UI"/>
            </a:endParaRPr>
          </a:p>
          <a:p>
            <a:pPr marL="0" indent="0">
              <a:lnSpc>
                <a:spcPct val="100000"/>
              </a:lnSpc>
              <a:buNone/>
            </a:pPr>
            <a:r>
              <a:rPr lang="en-US" sz="1700" dirty="0">
                <a:latin typeface="Segoe UI"/>
                <a:cs typeface="Segoe UI"/>
              </a:rPr>
              <a:t>Statistical significance: χ²=5.84, p=0.031</a:t>
            </a:r>
          </a:p>
          <a:p>
            <a:pPr marL="0" indent="0">
              <a:lnSpc>
                <a:spcPct val="100000"/>
              </a:lnSpc>
              <a:buNone/>
            </a:pPr>
            <a:r>
              <a:rPr lang="en-US" sz="1700" dirty="0">
                <a:latin typeface="Segoe UI"/>
                <a:cs typeface="Segoe UI"/>
              </a:rPr>
              <a:t>Additional benefits: Higher confidence, greater perceived ease</a:t>
            </a:r>
          </a:p>
          <a:p>
            <a:pPr marL="0" indent="0">
              <a:lnSpc>
                <a:spcPct val="100000"/>
              </a:lnSpc>
              <a:buNone/>
            </a:pPr>
            <a:endParaRPr lang="en-US" sz="1700" dirty="0">
              <a:latin typeface="Segoe UI"/>
              <a:cs typeface="Segoe UI"/>
            </a:endParaRPr>
          </a:p>
          <a:p>
            <a:pPr marL="0" indent="0">
              <a:lnSpc>
                <a:spcPct val="100000"/>
              </a:lnSpc>
              <a:buNone/>
            </a:pPr>
            <a:endParaRPr lang="en-US" sz="1700" dirty="0">
              <a:latin typeface="Segoe UI"/>
              <a:cs typeface="Segoe UI"/>
            </a:endParaRPr>
          </a:p>
        </p:txBody>
      </p:sp>
      <p:pic>
        <p:nvPicPr>
          <p:cNvPr id="5" name="Picture 4" descr="A blue background with a light&#10;&#10;AI-generated content may be incorrect.">
            <a:extLst>
              <a:ext uri="{FF2B5EF4-FFF2-40B4-BE49-F238E27FC236}">
                <a16:creationId xmlns:a16="http://schemas.microsoft.com/office/drawing/2014/main" id="{60F4D2E3-AAB9-E72D-80B5-9CE4EE327EE7}"/>
              </a:ext>
            </a:extLst>
          </p:cNvPr>
          <p:cNvPicPr>
            <a:picLocks noChangeAspect="1"/>
          </p:cNvPicPr>
          <p:nvPr/>
        </p:nvPicPr>
        <p:blipFill>
          <a:blip r:embed="rId2"/>
          <a:srcRect l="38" b="78831"/>
          <a:stretch>
            <a:fillRect/>
          </a:stretch>
        </p:blipFill>
        <p:spPr>
          <a:xfrm>
            <a:off x="-130939" y="-366982"/>
            <a:ext cx="12458624" cy="1461046"/>
          </a:xfrm>
          <a:prstGeom prst="rect">
            <a:avLst/>
          </a:prstGeom>
        </p:spPr>
      </p:pic>
      <p:sp>
        <p:nvSpPr>
          <p:cNvPr id="7" name="Title 1">
            <a:extLst>
              <a:ext uri="{FF2B5EF4-FFF2-40B4-BE49-F238E27FC236}">
                <a16:creationId xmlns:a16="http://schemas.microsoft.com/office/drawing/2014/main" id="{5C1279D6-6E1B-2551-6DA4-22B48CBA2ED7}"/>
              </a:ext>
            </a:extLst>
          </p:cNvPr>
          <p:cNvSpPr txBox="1">
            <a:spLocks/>
          </p:cNvSpPr>
          <p:nvPr/>
        </p:nvSpPr>
        <p:spPr>
          <a:xfrm>
            <a:off x="838200" y="178219"/>
            <a:ext cx="10515600" cy="908619"/>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2800" b="1" dirty="0">
                <a:solidFill>
                  <a:srgbClr val="FFFFFF"/>
                </a:solidFill>
                <a:latin typeface="Bell MT"/>
              </a:rPr>
              <a:t>2. VIDEO EFFECT</a:t>
            </a:r>
            <a:endParaRPr lang="en-US" dirty="0" err="1"/>
          </a:p>
        </p:txBody>
      </p:sp>
      <p:pic>
        <p:nvPicPr>
          <p:cNvPr id="2" name="Picture 1" descr="A graph showing different colored squares&#10;&#10;AI-generated content may be incorrect.">
            <a:extLst>
              <a:ext uri="{FF2B5EF4-FFF2-40B4-BE49-F238E27FC236}">
                <a16:creationId xmlns:a16="http://schemas.microsoft.com/office/drawing/2014/main" id="{42E68BAF-846C-1DBB-57B3-2302C3A27316}"/>
              </a:ext>
            </a:extLst>
          </p:cNvPr>
          <p:cNvPicPr>
            <a:picLocks noChangeAspect="1"/>
          </p:cNvPicPr>
          <p:nvPr/>
        </p:nvPicPr>
        <p:blipFill>
          <a:blip r:embed="rId3"/>
          <a:srcRect t="23529" r="3199"/>
          <a:stretch>
            <a:fillRect/>
          </a:stretch>
        </p:blipFill>
        <p:spPr>
          <a:xfrm>
            <a:off x="4421507" y="3271345"/>
            <a:ext cx="7769366" cy="3586656"/>
          </a:xfrm>
          <a:prstGeom prst="rect">
            <a:avLst/>
          </a:prstGeom>
        </p:spPr>
      </p:pic>
      <p:pic>
        <p:nvPicPr>
          <p:cNvPr id="6" name="Picture 5" descr="A graph showing different colored squares&#10;&#10;AI-generated content may be incorrect.">
            <a:extLst>
              <a:ext uri="{FF2B5EF4-FFF2-40B4-BE49-F238E27FC236}">
                <a16:creationId xmlns:a16="http://schemas.microsoft.com/office/drawing/2014/main" id="{6CC8FBA4-D163-1AFC-3DCF-DA3E612D7C05}"/>
              </a:ext>
            </a:extLst>
          </p:cNvPr>
          <p:cNvPicPr>
            <a:picLocks noChangeAspect="1"/>
          </p:cNvPicPr>
          <p:nvPr/>
        </p:nvPicPr>
        <p:blipFill>
          <a:blip r:embed="rId3"/>
          <a:srcRect l="2291" t="-840" r="902" b="94678"/>
          <a:stretch>
            <a:fillRect/>
          </a:stretch>
        </p:blipFill>
        <p:spPr>
          <a:xfrm>
            <a:off x="4421507" y="2982310"/>
            <a:ext cx="7769824" cy="289040"/>
          </a:xfrm>
          <a:prstGeom prst="rect">
            <a:avLst/>
          </a:prstGeom>
        </p:spPr>
      </p:pic>
      <p:sp>
        <p:nvSpPr>
          <p:cNvPr id="10" name="Content Placeholder 2">
            <a:extLst>
              <a:ext uri="{FF2B5EF4-FFF2-40B4-BE49-F238E27FC236}">
                <a16:creationId xmlns:a16="http://schemas.microsoft.com/office/drawing/2014/main" id="{C743B002-9CCD-2600-8219-987113B87E38}"/>
              </a:ext>
            </a:extLst>
          </p:cNvPr>
          <p:cNvSpPr txBox="1">
            <a:spLocks/>
          </p:cNvSpPr>
          <p:nvPr/>
        </p:nvSpPr>
        <p:spPr>
          <a:xfrm>
            <a:off x="4864061" y="1444079"/>
            <a:ext cx="7313165" cy="1461242"/>
          </a:xfrm>
          <a:prstGeom prst="rect">
            <a:avLst/>
          </a:prstGeom>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lnSpc>
                <a:spcPct val="100000"/>
              </a:lnSpc>
              <a:buNone/>
            </a:pPr>
            <a:r>
              <a:rPr lang="en-US" sz="1600" dirty="0">
                <a:latin typeface="Segoe UI"/>
                <a:cs typeface="Segoe UI"/>
              </a:rPr>
              <a:t>Instructional videos improved decision accuracy. Baseline videos resulted in 61.2% optimal choices, while instructional videos achieved 68.4% accuracy. This 7.2% improvement was statistically significant (χ²=5.84, p=0.031). Participants with instructional videos also reported higher confidence (5.1/7 versus 4.3/7) and greater perceived ease (4.4/7 versus 3.9/7).</a:t>
            </a:r>
            <a:endParaRPr lang="en-US" dirty="0"/>
          </a:p>
        </p:txBody>
      </p:sp>
    </p:spTree>
    <p:extLst>
      <p:ext uri="{BB962C8B-B14F-4D97-AF65-F5344CB8AC3E}">
        <p14:creationId xmlns:p14="http://schemas.microsoft.com/office/powerpoint/2010/main" val="390977404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5CAC5F-09DA-F74A-BEC2-DAC54F739DC7}"/>
            </a:ext>
          </a:extLst>
        </p:cNvPr>
        <p:cNvGrpSpPr/>
        <p:nvPr/>
      </p:nvGrpSpPr>
      <p:grpSpPr>
        <a:xfrm>
          <a:off x="0" y="0"/>
          <a:ext cx="0" cy="0"/>
          <a:chOff x="0" y="0"/>
          <a:chExt cx="0" cy="0"/>
        </a:xfrm>
      </p:grpSpPr>
      <p:pic>
        <p:nvPicPr>
          <p:cNvPr id="5" name="Picture 4" descr="A blue background with a light&#10;&#10;AI-generated content may be incorrect.">
            <a:extLst>
              <a:ext uri="{FF2B5EF4-FFF2-40B4-BE49-F238E27FC236}">
                <a16:creationId xmlns:a16="http://schemas.microsoft.com/office/drawing/2014/main" id="{7457792A-78E0-7CD4-E19A-A4A32D4C1290}"/>
              </a:ext>
            </a:extLst>
          </p:cNvPr>
          <p:cNvPicPr>
            <a:picLocks noChangeAspect="1"/>
          </p:cNvPicPr>
          <p:nvPr/>
        </p:nvPicPr>
        <p:blipFill>
          <a:blip r:embed="rId2"/>
          <a:srcRect l="38" b="78831"/>
          <a:stretch>
            <a:fillRect/>
          </a:stretch>
        </p:blipFill>
        <p:spPr>
          <a:xfrm>
            <a:off x="-130939" y="-366982"/>
            <a:ext cx="12458624" cy="1461046"/>
          </a:xfrm>
          <a:prstGeom prst="rect">
            <a:avLst/>
          </a:prstGeom>
        </p:spPr>
      </p:pic>
      <p:sp>
        <p:nvSpPr>
          <p:cNvPr id="7" name="Title 1">
            <a:extLst>
              <a:ext uri="{FF2B5EF4-FFF2-40B4-BE49-F238E27FC236}">
                <a16:creationId xmlns:a16="http://schemas.microsoft.com/office/drawing/2014/main" id="{C8D5C411-155A-C04E-0921-7EFBF18B1F8A}"/>
              </a:ext>
            </a:extLst>
          </p:cNvPr>
          <p:cNvSpPr txBox="1">
            <a:spLocks/>
          </p:cNvSpPr>
          <p:nvPr/>
        </p:nvSpPr>
        <p:spPr>
          <a:xfrm>
            <a:off x="838200" y="178219"/>
            <a:ext cx="10515600" cy="908619"/>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2800" b="1" dirty="0">
                <a:solidFill>
                  <a:srgbClr val="FFFFFF"/>
                </a:solidFill>
                <a:latin typeface="Bell MT"/>
              </a:rPr>
              <a:t>3. INTERACTION EFFECT</a:t>
            </a:r>
            <a:endParaRPr lang="en-US" dirty="0">
              <a:solidFill>
                <a:srgbClr val="000000"/>
              </a:solidFill>
              <a:latin typeface="Aptos Display" panose="020F0302020204030204"/>
            </a:endParaRPr>
          </a:p>
        </p:txBody>
      </p:sp>
      <p:pic>
        <p:nvPicPr>
          <p:cNvPr id="2" name="Picture 1" descr="A graph of different colored squares&#10;&#10;AI-generated content may be incorrect.">
            <a:extLst>
              <a:ext uri="{FF2B5EF4-FFF2-40B4-BE49-F238E27FC236}">
                <a16:creationId xmlns:a16="http://schemas.microsoft.com/office/drawing/2014/main" id="{C15FBD10-8BED-1DD7-57FF-68B0BBA8D6A9}"/>
              </a:ext>
            </a:extLst>
          </p:cNvPr>
          <p:cNvPicPr>
            <a:picLocks noChangeAspect="1"/>
          </p:cNvPicPr>
          <p:nvPr/>
        </p:nvPicPr>
        <p:blipFill>
          <a:blip r:embed="rId3"/>
          <a:stretch>
            <a:fillRect/>
          </a:stretch>
        </p:blipFill>
        <p:spPr>
          <a:xfrm>
            <a:off x="5017349" y="1221829"/>
            <a:ext cx="7175988" cy="5294585"/>
          </a:xfrm>
          <a:prstGeom prst="rect">
            <a:avLst/>
          </a:prstGeom>
        </p:spPr>
      </p:pic>
      <p:graphicFrame>
        <p:nvGraphicFramePr>
          <p:cNvPr id="9" name="Content Placeholder 8">
            <a:extLst>
              <a:ext uri="{FF2B5EF4-FFF2-40B4-BE49-F238E27FC236}">
                <a16:creationId xmlns:a16="http://schemas.microsoft.com/office/drawing/2014/main" id="{AA6027A7-5C33-30B9-D86C-733189172A8D}"/>
              </a:ext>
            </a:extLst>
          </p:cNvPr>
          <p:cNvGraphicFramePr>
            <a:graphicFrameLocks noGrp="1"/>
          </p:cNvGraphicFramePr>
          <p:nvPr>
            <p:ph idx="1"/>
            <p:extLst>
              <p:ext uri="{D42A27DB-BD31-4B8C-83A1-F6EECF244321}">
                <p14:modId xmlns:p14="http://schemas.microsoft.com/office/powerpoint/2010/main" val="1296710247"/>
              </p:ext>
            </p:extLst>
          </p:nvPr>
        </p:nvGraphicFramePr>
        <p:xfrm>
          <a:off x="131379" y="4939862"/>
          <a:ext cx="5964610" cy="1843811"/>
        </p:xfrm>
        <a:graphic>
          <a:graphicData uri="http://schemas.openxmlformats.org/drawingml/2006/table">
            <a:tbl>
              <a:tblPr firstRow="1" bandRow="1">
                <a:tableStyleId>{2D5ABB26-0587-4C30-8999-92F81FD0307C}</a:tableStyleId>
              </a:tblPr>
              <a:tblGrid>
                <a:gridCol w="2272860">
                  <a:extLst>
                    <a:ext uri="{9D8B030D-6E8A-4147-A177-3AD203B41FA5}">
                      <a16:colId xmlns:a16="http://schemas.microsoft.com/office/drawing/2014/main" val="1392271762"/>
                    </a:ext>
                  </a:extLst>
                </a:gridCol>
                <a:gridCol w="1051034">
                  <a:extLst>
                    <a:ext uri="{9D8B030D-6E8A-4147-A177-3AD203B41FA5}">
                      <a16:colId xmlns:a16="http://schemas.microsoft.com/office/drawing/2014/main" val="2142341559"/>
                    </a:ext>
                  </a:extLst>
                </a:gridCol>
                <a:gridCol w="1139715">
                  <a:extLst>
                    <a:ext uri="{9D8B030D-6E8A-4147-A177-3AD203B41FA5}">
                      <a16:colId xmlns:a16="http://schemas.microsoft.com/office/drawing/2014/main" val="4254587219"/>
                    </a:ext>
                  </a:extLst>
                </a:gridCol>
                <a:gridCol w="358008">
                  <a:extLst>
                    <a:ext uri="{9D8B030D-6E8A-4147-A177-3AD203B41FA5}">
                      <a16:colId xmlns:a16="http://schemas.microsoft.com/office/drawing/2014/main" val="49352267"/>
                    </a:ext>
                  </a:extLst>
                </a:gridCol>
                <a:gridCol w="1142993">
                  <a:extLst>
                    <a:ext uri="{9D8B030D-6E8A-4147-A177-3AD203B41FA5}">
                      <a16:colId xmlns:a16="http://schemas.microsoft.com/office/drawing/2014/main" val="3429455444"/>
                    </a:ext>
                  </a:extLst>
                </a:gridCol>
              </a:tblGrid>
              <a:tr h="354723">
                <a:tc gridSpan="3">
                  <a:txBody>
                    <a:bodyPr/>
                    <a:lstStyle/>
                    <a:p>
                      <a:pPr lvl="0" algn="ctr">
                        <a:lnSpc>
                          <a:spcPts val="1466"/>
                        </a:lnSpc>
                        <a:buNone/>
                      </a:pPr>
                      <a:r>
                        <a:rPr lang="en-CA" sz="1400" b="0" i="0" u="none" strike="noStrike" baseline="0" noProof="0" dirty="0">
                          <a:solidFill>
                            <a:srgbClr val="000000"/>
                          </a:solidFill>
                          <a:effectLst/>
                          <a:latin typeface="Aptos"/>
                        </a:rPr>
                        <a:t>Performance by Condition </a:t>
                      </a:r>
                      <a:endParaRPr lang="en-US" dirty="0"/>
                    </a:p>
                  </a:txBody>
                  <a:tcPr marL="66674" marR="66674">
                    <a:solidFill>
                      <a:schemeClr val="bg1"/>
                    </a:solidFill>
                  </a:tcPr>
                </a:tc>
                <a:tc hMerge="1">
                  <a:txBody>
                    <a:bodyPr/>
                    <a:lstStyle/>
                    <a:p>
                      <a:endParaRPr lang="en-US"/>
                    </a:p>
                  </a:txBody>
                  <a:tcPr marL="66674" marR="66674">
                    <a:solidFill>
                      <a:schemeClr val="bg1"/>
                    </a:solidFill>
                  </a:tcPr>
                </a:tc>
                <a:tc hMerge="1">
                  <a:txBody>
                    <a:bodyPr/>
                    <a:lstStyle/>
                    <a:p>
                      <a:endParaRPr lang="en-US"/>
                    </a:p>
                  </a:txBody>
                  <a:tcPr marL="66674" marR="66674">
                    <a:solidFill>
                      <a:schemeClr val="bg1"/>
                    </a:solidFill>
                  </a:tcPr>
                </a:tc>
                <a:tc gridSpan="2">
                  <a:txBody>
                    <a:bodyPr/>
                    <a:lstStyle/>
                    <a:p>
                      <a:pPr lvl="0" algn="ctr">
                        <a:lnSpc>
                          <a:spcPts val="1466"/>
                        </a:lnSpc>
                        <a:buNone/>
                      </a:pPr>
                      <a:endParaRPr lang="en-CA" sz="1400" b="0" i="0" u="none" strike="noStrike" baseline="0" noProof="0" dirty="0">
                        <a:solidFill>
                          <a:srgbClr val="000000"/>
                        </a:solidFill>
                        <a:effectLst/>
                        <a:latin typeface="Aptos"/>
                      </a:endParaRPr>
                    </a:p>
                  </a:txBody>
                  <a:tcPr marL="66674" marR="66674"/>
                </a:tc>
                <a:tc hMerge="1">
                  <a:txBody>
                    <a:bodyPr/>
                    <a:lstStyle/>
                    <a:p>
                      <a:endParaRPr lang="en-US"/>
                    </a:p>
                  </a:txBody>
                  <a:tcPr marL="66674" marR="66674">
                    <a:solidFill>
                      <a:schemeClr val="bg1"/>
                    </a:solidFill>
                  </a:tcPr>
                </a:tc>
                <a:extLst>
                  <a:ext uri="{0D108BD9-81ED-4DB2-BD59-A6C34878D82A}">
                    <a16:rowId xmlns:a16="http://schemas.microsoft.com/office/drawing/2014/main" val="999430795"/>
                  </a:ext>
                </a:extLst>
              </a:tr>
              <a:tr h="354724">
                <a:tc>
                  <a:txBody>
                    <a:bodyPr/>
                    <a:lstStyle/>
                    <a:p>
                      <a:pPr algn="ctr" rtl="0" fontAlgn="base">
                        <a:lnSpc>
                          <a:spcPts val="1466"/>
                        </a:lnSpc>
                        <a:buNone/>
                      </a:pPr>
                      <a:r>
                        <a:rPr lang="en-CA" sz="1400" dirty="0">
                          <a:effectLst/>
                        </a:rPr>
                        <a:t>Condition </a:t>
                      </a:r>
                    </a:p>
                  </a:txBody>
                  <a:tcPr marL="66675" marR="66675">
                    <a:solidFill>
                      <a:schemeClr val="bg1"/>
                    </a:solidFill>
                  </a:tcPr>
                </a:tc>
                <a:tc>
                  <a:txBody>
                    <a:bodyPr/>
                    <a:lstStyle/>
                    <a:p>
                      <a:pPr algn="ctr" rtl="0" fontAlgn="base">
                        <a:lnSpc>
                          <a:spcPts val="1466"/>
                        </a:lnSpc>
                        <a:buNone/>
                      </a:pPr>
                      <a:r>
                        <a:rPr lang="en-CA" sz="1400" dirty="0">
                          <a:effectLst/>
                        </a:rPr>
                        <a:t>Accuracy </a:t>
                      </a:r>
                    </a:p>
                  </a:txBody>
                  <a:tcPr marL="66675" marR="66675">
                    <a:solidFill>
                      <a:schemeClr val="bg1"/>
                    </a:solidFill>
                  </a:tcPr>
                </a:tc>
                <a:tc gridSpan="2">
                  <a:txBody>
                    <a:bodyPr/>
                    <a:lstStyle/>
                    <a:p>
                      <a:pPr algn="ctr" rtl="0" fontAlgn="base">
                        <a:lnSpc>
                          <a:spcPts val="1466"/>
                        </a:lnSpc>
                        <a:buNone/>
                      </a:pPr>
                      <a:r>
                        <a:rPr lang="en-CA" sz="1400" dirty="0">
                          <a:effectLst/>
                        </a:rPr>
                        <a:t>Decision Time </a:t>
                      </a:r>
                    </a:p>
                  </a:txBody>
                  <a:tcPr marL="66675" marR="66675">
                    <a:solidFill>
                      <a:schemeClr val="bg1"/>
                    </a:solidFill>
                  </a:tcPr>
                </a:tc>
                <a:tc hMerge="1">
                  <a:txBody>
                    <a:bodyPr/>
                    <a:lstStyle/>
                    <a:p>
                      <a:pPr algn="ctr" rtl="0" fontAlgn="base">
                        <a:lnSpc>
                          <a:spcPts val="1466"/>
                        </a:lnSpc>
                        <a:buNone/>
                      </a:pPr>
                      <a:endParaRPr lang="en-CA" sz="1400" dirty="0">
                        <a:effectLst/>
                      </a:endParaRPr>
                    </a:p>
                  </a:txBody>
                  <a:tcPr marL="66674" marR="66674">
                    <a:solidFill>
                      <a:schemeClr val="bg1"/>
                    </a:solidFill>
                  </a:tcPr>
                </a:tc>
                <a:tc>
                  <a:txBody>
                    <a:bodyPr/>
                    <a:lstStyle/>
                    <a:p>
                      <a:pPr algn="ctr" rtl="0" fontAlgn="base">
                        <a:lnSpc>
                          <a:spcPts val="1466"/>
                        </a:lnSpc>
                        <a:buNone/>
                      </a:pPr>
                      <a:r>
                        <a:rPr lang="en-CA" sz="1400" dirty="0">
                          <a:effectLst/>
                        </a:rPr>
                        <a:t>Confidence </a:t>
                      </a:r>
                    </a:p>
                  </a:txBody>
                  <a:tcPr marL="66675" marR="66675">
                    <a:solidFill>
                      <a:schemeClr val="bg1"/>
                    </a:solidFill>
                  </a:tcPr>
                </a:tc>
                <a:extLst>
                  <a:ext uri="{0D108BD9-81ED-4DB2-BD59-A6C34878D82A}">
                    <a16:rowId xmlns:a16="http://schemas.microsoft.com/office/drawing/2014/main" val="285284039"/>
                  </a:ext>
                </a:extLst>
              </a:tr>
              <a:tr h="190500">
                <a:tc>
                  <a:txBody>
                    <a:bodyPr/>
                    <a:lstStyle/>
                    <a:p>
                      <a:pPr rtl="0" fontAlgn="base">
                        <a:lnSpc>
                          <a:spcPts val="1466"/>
                        </a:lnSpc>
                        <a:buNone/>
                      </a:pPr>
                      <a:r>
                        <a:rPr lang="en-CA" sz="1400" dirty="0">
                          <a:effectLst/>
                        </a:rPr>
                        <a:t>Instructional, No Taglines </a:t>
                      </a:r>
                    </a:p>
                  </a:txBody>
                  <a:tcPr marL="66675" marR="66675">
                    <a:solidFill>
                      <a:schemeClr val="bg1"/>
                    </a:solidFill>
                  </a:tcPr>
                </a:tc>
                <a:tc>
                  <a:txBody>
                    <a:bodyPr/>
                    <a:lstStyle/>
                    <a:p>
                      <a:pPr algn="ctr" rtl="0" fontAlgn="base">
                        <a:lnSpc>
                          <a:spcPts val="1466"/>
                        </a:lnSpc>
                        <a:buNone/>
                      </a:pPr>
                      <a:r>
                        <a:rPr lang="en-CA" sz="1400" dirty="0">
                          <a:effectLst/>
                        </a:rPr>
                        <a:t>73.1% </a:t>
                      </a:r>
                    </a:p>
                  </a:txBody>
                  <a:tcPr marL="66675" marR="66675">
                    <a:solidFill>
                      <a:schemeClr val="bg1"/>
                    </a:solidFill>
                  </a:tcPr>
                </a:tc>
                <a:tc gridSpan="2">
                  <a:txBody>
                    <a:bodyPr/>
                    <a:lstStyle/>
                    <a:p>
                      <a:pPr algn="ctr" rtl="0" fontAlgn="base">
                        <a:lnSpc>
                          <a:spcPts val="1466"/>
                        </a:lnSpc>
                        <a:buNone/>
                      </a:pPr>
                      <a:r>
                        <a:rPr lang="en-CA" sz="1400" dirty="0">
                          <a:effectLst/>
                        </a:rPr>
                        <a:t>89.2s </a:t>
                      </a:r>
                    </a:p>
                  </a:txBody>
                  <a:tcPr marL="66675" marR="66675">
                    <a:solidFill>
                      <a:schemeClr val="bg1"/>
                    </a:solidFill>
                  </a:tcPr>
                </a:tc>
                <a:tc hMerge="1">
                  <a:txBody>
                    <a:bodyPr/>
                    <a:lstStyle/>
                    <a:p>
                      <a:pPr algn="ctr" rtl="0" fontAlgn="base">
                        <a:lnSpc>
                          <a:spcPts val="1466"/>
                        </a:lnSpc>
                        <a:buNone/>
                      </a:pPr>
                      <a:endParaRPr lang="en-CA" sz="1400" dirty="0">
                        <a:effectLst/>
                      </a:endParaRPr>
                    </a:p>
                  </a:txBody>
                  <a:tcPr marL="66674" marR="66674">
                    <a:solidFill>
                      <a:schemeClr val="bg1"/>
                    </a:solidFill>
                  </a:tcPr>
                </a:tc>
                <a:tc>
                  <a:txBody>
                    <a:bodyPr/>
                    <a:lstStyle/>
                    <a:p>
                      <a:pPr algn="ctr" rtl="0" fontAlgn="base">
                        <a:lnSpc>
                          <a:spcPts val="1466"/>
                        </a:lnSpc>
                        <a:buNone/>
                      </a:pPr>
                      <a:r>
                        <a:rPr lang="en-CA" sz="1400" dirty="0">
                          <a:effectLst/>
                        </a:rPr>
                        <a:t>5.3/7 </a:t>
                      </a:r>
                    </a:p>
                  </a:txBody>
                  <a:tcPr marL="66675" marR="66675">
                    <a:solidFill>
                      <a:schemeClr val="bg1"/>
                    </a:solidFill>
                  </a:tcPr>
                </a:tc>
                <a:extLst>
                  <a:ext uri="{0D108BD9-81ED-4DB2-BD59-A6C34878D82A}">
                    <a16:rowId xmlns:a16="http://schemas.microsoft.com/office/drawing/2014/main" val="2757042674"/>
                  </a:ext>
                </a:extLst>
              </a:tr>
              <a:tr h="190500">
                <a:tc>
                  <a:txBody>
                    <a:bodyPr/>
                    <a:lstStyle/>
                    <a:p>
                      <a:pPr rtl="0" fontAlgn="base">
                        <a:lnSpc>
                          <a:spcPts val="1466"/>
                        </a:lnSpc>
                        <a:buNone/>
                      </a:pPr>
                      <a:r>
                        <a:rPr lang="en-CA" sz="1400" dirty="0">
                          <a:effectLst/>
                        </a:rPr>
                        <a:t>Instructional, Taglines </a:t>
                      </a:r>
                    </a:p>
                  </a:txBody>
                  <a:tcPr marL="66675" marR="66675">
                    <a:solidFill>
                      <a:schemeClr val="bg1"/>
                    </a:solidFill>
                  </a:tcPr>
                </a:tc>
                <a:tc>
                  <a:txBody>
                    <a:bodyPr/>
                    <a:lstStyle/>
                    <a:p>
                      <a:pPr algn="ctr" rtl="0" fontAlgn="base">
                        <a:lnSpc>
                          <a:spcPts val="1466"/>
                        </a:lnSpc>
                        <a:buNone/>
                      </a:pPr>
                      <a:r>
                        <a:rPr lang="en-CA" sz="1400" dirty="0">
                          <a:effectLst/>
                        </a:rPr>
                        <a:t>64.8% </a:t>
                      </a:r>
                    </a:p>
                  </a:txBody>
                  <a:tcPr marL="66675" marR="66675">
                    <a:solidFill>
                      <a:schemeClr val="bg1"/>
                    </a:solidFill>
                  </a:tcPr>
                </a:tc>
                <a:tc gridSpan="2">
                  <a:txBody>
                    <a:bodyPr/>
                    <a:lstStyle/>
                    <a:p>
                      <a:pPr algn="ctr" rtl="0" fontAlgn="base">
                        <a:lnSpc>
                          <a:spcPts val="1466"/>
                        </a:lnSpc>
                        <a:buNone/>
                      </a:pPr>
                      <a:r>
                        <a:rPr lang="en-CA" sz="1400" dirty="0">
                          <a:effectLst/>
                        </a:rPr>
                        <a:t>108.3s </a:t>
                      </a:r>
                    </a:p>
                  </a:txBody>
                  <a:tcPr marL="66675" marR="66675">
                    <a:solidFill>
                      <a:schemeClr val="bg1"/>
                    </a:solidFill>
                  </a:tcPr>
                </a:tc>
                <a:tc hMerge="1">
                  <a:txBody>
                    <a:bodyPr/>
                    <a:lstStyle/>
                    <a:p>
                      <a:pPr algn="ctr" rtl="0" fontAlgn="base">
                        <a:lnSpc>
                          <a:spcPts val="1466"/>
                        </a:lnSpc>
                        <a:buNone/>
                      </a:pPr>
                      <a:endParaRPr lang="en-CA" sz="1400" dirty="0">
                        <a:effectLst/>
                      </a:endParaRPr>
                    </a:p>
                  </a:txBody>
                  <a:tcPr marL="66674" marR="66674">
                    <a:solidFill>
                      <a:schemeClr val="bg1"/>
                    </a:solidFill>
                  </a:tcPr>
                </a:tc>
                <a:tc>
                  <a:txBody>
                    <a:bodyPr/>
                    <a:lstStyle/>
                    <a:p>
                      <a:pPr algn="ctr" rtl="0" fontAlgn="base">
                        <a:lnSpc>
                          <a:spcPts val="1466"/>
                        </a:lnSpc>
                        <a:buNone/>
                      </a:pPr>
                      <a:r>
                        <a:rPr lang="en-CA" sz="1400" dirty="0">
                          <a:effectLst/>
                        </a:rPr>
                        <a:t>4.9/7 </a:t>
                      </a:r>
                    </a:p>
                  </a:txBody>
                  <a:tcPr marL="66675" marR="66675">
                    <a:solidFill>
                      <a:schemeClr val="bg1"/>
                    </a:solidFill>
                  </a:tcPr>
                </a:tc>
                <a:extLst>
                  <a:ext uri="{0D108BD9-81ED-4DB2-BD59-A6C34878D82A}">
                    <a16:rowId xmlns:a16="http://schemas.microsoft.com/office/drawing/2014/main" val="2454150597"/>
                  </a:ext>
                </a:extLst>
              </a:tr>
              <a:tr h="190500">
                <a:tc>
                  <a:txBody>
                    <a:bodyPr/>
                    <a:lstStyle/>
                    <a:p>
                      <a:pPr rtl="0" fontAlgn="base">
                        <a:lnSpc>
                          <a:spcPts val="1466"/>
                        </a:lnSpc>
                        <a:buNone/>
                      </a:pPr>
                      <a:r>
                        <a:rPr lang="en-CA" sz="1400" dirty="0">
                          <a:effectLst/>
                        </a:rPr>
                        <a:t>Baseline, No Taglines </a:t>
                      </a:r>
                    </a:p>
                  </a:txBody>
                  <a:tcPr marL="66675" marR="66675">
                    <a:solidFill>
                      <a:schemeClr val="bg1"/>
                    </a:solidFill>
                  </a:tcPr>
                </a:tc>
                <a:tc>
                  <a:txBody>
                    <a:bodyPr/>
                    <a:lstStyle/>
                    <a:p>
                      <a:pPr algn="ctr" rtl="0" fontAlgn="base">
                        <a:lnSpc>
                          <a:spcPts val="1466"/>
                        </a:lnSpc>
                        <a:buNone/>
                      </a:pPr>
                      <a:r>
                        <a:rPr lang="en-CA" sz="1400" dirty="0">
                          <a:effectLst/>
                        </a:rPr>
                        <a:t>62.3% </a:t>
                      </a:r>
                    </a:p>
                  </a:txBody>
                  <a:tcPr marL="66675" marR="66675">
                    <a:solidFill>
                      <a:schemeClr val="bg1"/>
                    </a:solidFill>
                  </a:tcPr>
                </a:tc>
                <a:tc gridSpan="2">
                  <a:txBody>
                    <a:bodyPr/>
                    <a:lstStyle/>
                    <a:p>
                      <a:pPr algn="ctr" rtl="0" fontAlgn="base">
                        <a:lnSpc>
                          <a:spcPts val="1466"/>
                        </a:lnSpc>
                        <a:buNone/>
                      </a:pPr>
                      <a:r>
                        <a:rPr lang="en-CA" sz="1400" dirty="0">
                          <a:effectLst/>
                        </a:rPr>
                        <a:t>81.4s </a:t>
                      </a:r>
                    </a:p>
                  </a:txBody>
                  <a:tcPr marL="66675" marR="66675">
                    <a:solidFill>
                      <a:schemeClr val="bg1"/>
                    </a:solidFill>
                  </a:tcPr>
                </a:tc>
                <a:tc hMerge="1">
                  <a:txBody>
                    <a:bodyPr/>
                    <a:lstStyle/>
                    <a:p>
                      <a:pPr algn="ctr" rtl="0" fontAlgn="base">
                        <a:lnSpc>
                          <a:spcPts val="1466"/>
                        </a:lnSpc>
                        <a:buNone/>
                      </a:pPr>
                      <a:endParaRPr lang="en-CA" sz="1400" dirty="0">
                        <a:effectLst/>
                      </a:endParaRPr>
                    </a:p>
                  </a:txBody>
                  <a:tcPr marL="66674" marR="66674">
                    <a:solidFill>
                      <a:schemeClr val="bg1"/>
                    </a:solidFill>
                  </a:tcPr>
                </a:tc>
                <a:tc>
                  <a:txBody>
                    <a:bodyPr/>
                    <a:lstStyle/>
                    <a:p>
                      <a:pPr algn="ctr" rtl="0" fontAlgn="base">
                        <a:lnSpc>
                          <a:spcPts val="1466"/>
                        </a:lnSpc>
                        <a:buNone/>
                      </a:pPr>
                      <a:r>
                        <a:rPr lang="en-CA" sz="1400" dirty="0">
                          <a:effectLst/>
                        </a:rPr>
                        <a:t>4.4/7 </a:t>
                      </a:r>
                    </a:p>
                  </a:txBody>
                  <a:tcPr marL="66675" marR="66675">
                    <a:solidFill>
                      <a:schemeClr val="bg1"/>
                    </a:solidFill>
                  </a:tcPr>
                </a:tc>
                <a:extLst>
                  <a:ext uri="{0D108BD9-81ED-4DB2-BD59-A6C34878D82A}">
                    <a16:rowId xmlns:a16="http://schemas.microsoft.com/office/drawing/2014/main" val="964117189"/>
                  </a:ext>
                </a:extLst>
              </a:tr>
              <a:tr h="275896">
                <a:tc>
                  <a:txBody>
                    <a:bodyPr/>
                    <a:lstStyle/>
                    <a:p>
                      <a:pPr rtl="0" fontAlgn="base">
                        <a:lnSpc>
                          <a:spcPts val="1466"/>
                        </a:lnSpc>
                        <a:buNone/>
                      </a:pPr>
                      <a:r>
                        <a:rPr lang="en-CA" sz="1400" dirty="0">
                          <a:effectLst/>
                        </a:rPr>
                        <a:t>Baseline, Taglines </a:t>
                      </a:r>
                    </a:p>
                  </a:txBody>
                  <a:tcPr marL="66675" marR="66675">
                    <a:solidFill>
                      <a:schemeClr val="bg1"/>
                    </a:solidFill>
                  </a:tcPr>
                </a:tc>
                <a:tc>
                  <a:txBody>
                    <a:bodyPr/>
                    <a:lstStyle/>
                    <a:p>
                      <a:pPr algn="ctr" rtl="0" fontAlgn="base">
                        <a:lnSpc>
                          <a:spcPts val="1466"/>
                        </a:lnSpc>
                        <a:buNone/>
                      </a:pPr>
                      <a:r>
                        <a:rPr lang="en-CA" sz="1400" dirty="0">
                          <a:effectLst/>
                        </a:rPr>
                        <a:t>58.6% </a:t>
                      </a:r>
                    </a:p>
                  </a:txBody>
                  <a:tcPr marL="66675" marR="66675">
                    <a:solidFill>
                      <a:schemeClr val="bg1"/>
                    </a:solidFill>
                  </a:tcPr>
                </a:tc>
                <a:tc gridSpan="2">
                  <a:txBody>
                    <a:bodyPr/>
                    <a:lstStyle/>
                    <a:p>
                      <a:pPr algn="ctr" rtl="0" fontAlgn="base">
                        <a:lnSpc>
                          <a:spcPts val="1466"/>
                        </a:lnSpc>
                        <a:buNone/>
                      </a:pPr>
                      <a:r>
                        <a:rPr lang="en-CA" sz="1400" dirty="0">
                          <a:effectLst/>
                        </a:rPr>
                        <a:t>102.8s </a:t>
                      </a:r>
                    </a:p>
                  </a:txBody>
                  <a:tcPr marL="66675" marR="66675">
                    <a:solidFill>
                      <a:schemeClr val="bg1"/>
                    </a:solidFill>
                  </a:tcPr>
                </a:tc>
                <a:tc hMerge="1">
                  <a:txBody>
                    <a:bodyPr/>
                    <a:lstStyle/>
                    <a:p>
                      <a:pPr algn="ctr" rtl="0" fontAlgn="base">
                        <a:lnSpc>
                          <a:spcPts val="1466"/>
                        </a:lnSpc>
                        <a:buNone/>
                      </a:pPr>
                      <a:endParaRPr lang="en-CA" sz="1400" dirty="0">
                        <a:effectLst/>
                      </a:endParaRPr>
                    </a:p>
                  </a:txBody>
                  <a:tcPr marL="66674" marR="66674">
                    <a:solidFill>
                      <a:schemeClr val="bg1"/>
                    </a:solidFill>
                  </a:tcPr>
                </a:tc>
                <a:tc>
                  <a:txBody>
                    <a:bodyPr/>
                    <a:lstStyle/>
                    <a:p>
                      <a:pPr algn="ctr" rtl="0" fontAlgn="base">
                        <a:lnSpc>
                          <a:spcPts val="1466"/>
                        </a:lnSpc>
                        <a:buNone/>
                      </a:pPr>
                      <a:r>
                        <a:rPr lang="en-CA" sz="1400" dirty="0">
                          <a:effectLst/>
                        </a:rPr>
                        <a:t>4.1/7 </a:t>
                      </a:r>
                    </a:p>
                  </a:txBody>
                  <a:tcPr marL="66675" marR="66675">
                    <a:solidFill>
                      <a:schemeClr val="bg1"/>
                    </a:solidFill>
                  </a:tcPr>
                </a:tc>
                <a:extLst>
                  <a:ext uri="{0D108BD9-81ED-4DB2-BD59-A6C34878D82A}">
                    <a16:rowId xmlns:a16="http://schemas.microsoft.com/office/drawing/2014/main" val="158102836"/>
                  </a:ext>
                </a:extLst>
              </a:tr>
            </a:tbl>
          </a:graphicData>
        </a:graphic>
      </p:graphicFrame>
      <p:sp>
        <p:nvSpPr>
          <p:cNvPr id="10" name="TextBox 9">
            <a:extLst>
              <a:ext uri="{FF2B5EF4-FFF2-40B4-BE49-F238E27FC236}">
                <a16:creationId xmlns:a16="http://schemas.microsoft.com/office/drawing/2014/main" id="{EEDA3162-6D8D-F9C7-E187-EAD1CD8C7DD2}"/>
              </a:ext>
            </a:extLst>
          </p:cNvPr>
          <p:cNvSpPr txBox="1"/>
          <p:nvPr/>
        </p:nvSpPr>
        <p:spPr>
          <a:xfrm>
            <a:off x="591207" y="1418899"/>
            <a:ext cx="4427483" cy="322395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CA" sz="1600" dirty="0">
                <a:latin typeface="Segoe UI"/>
                <a:ea typeface="Segoe UI"/>
                <a:cs typeface="Segoe UI"/>
              </a:rPr>
              <a:t>The combination of instructional videos without taglines produced the best results (73.1% accuracy). The worst combination was baseline videos with taglines (58.6% accuracy).</a:t>
            </a:r>
            <a:r>
              <a:rPr lang="en-US" sz="1600" dirty="0">
                <a:latin typeface="Segoe UI"/>
                <a:ea typeface="Segoe UI"/>
                <a:cs typeface="Segoe UI"/>
              </a:rPr>
              <a:t> </a:t>
            </a:r>
            <a:endParaRPr lang="en-US" sz="1600">
              <a:latin typeface="Segoe UI"/>
              <a:ea typeface="Segoe UI"/>
              <a:cs typeface="Segoe UI"/>
            </a:endParaRPr>
          </a:p>
          <a:p>
            <a:endParaRPr lang="en-US" sz="800" dirty="0">
              <a:latin typeface="Segoe UI"/>
              <a:cs typeface="Segoe UI"/>
            </a:endParaRPr>
          </a:p>
          <a:p>
            <a:pPr marL="285750" indent="-285750">
              <a:buFont typeface="Arial"/>
              <a:buChar char="•"/>
            </a:pPr>
            <a:r>
              <a:rPr lang="en-US" sz="1600" dirty="0">
                <a:latin typeface="Segoe UI"/>
                <a:cs typeface="Times New Roman"/>
              </a:rPr>
              <a:t>Best: Instructional + No taglines (73.1% accuracy)</a:t>
            </a:r>
            <a:endParaRPr lang="en-US" sz="1600" dirty="0">
              <a:latin typeface="Segoe UI"/>
              <a:cs typeface="Segoe UI"/>
            </a:endParaRPr>
          </a:p>
          <a:p>
            <a:pPr marL="285750" indent="-285750">
              <a:buFont typeface="Arial"/>
              <a:buChar char="•"/>
            </a:pPr>
            <a:r>
              <a:rPr lang="en-US" sz="1600" dirty="0">
                <a:latin typeface="Segoe UI"/>
                <a:cs typeface="Times New Roman"/>
              </a:rPr>
              <a:t>Worst: Baseline + Taglines (58.6% accuracy)</a:t>
            </a:r>
            <a:endParaRPr lang="en-US" sz="1600" dirty="0">
              <a:latin typeface="Segoe UI"/>
              <a:cs typeface="Segoe UI"/>
            </a:endParaRPr>
          </a:p>
          <a:p>
            <a:endParaRPr lang="en-US" sz="1050" dirty="0">
              <a:latin typeface="Segoe UI"/>
              <a:cs typeface="Times New Roman"/>
            </a:endParaRPr>
          </a:p>
          <a:p>
            <a:r>
              <a:rPr lang="en-US" sz="1600" dirty="0">
                <a:latin typeface="Segoe UI"/>
                <a:cs typeface="Times New Roman"/>
              </a:rPr>
              <a:t>Critical insight: The worst combination is common industry practice.</a:t>
            </a:r>
            <a:endParaRPr lang="en-US" sz="1600" dirty="0">
              <a:latin typeface="Segoe UI"/>
              <a:cs typeface="Segoe UI"/>
            </a:endParaRPr>
          </a:p>
          <a:p>
            <a:endParaRPr lang="en-US" sz="700" dirty="0">
              <a:latin typeface="Segoe UI"/>
              <a:cs typeface="Times New Roman"/>
            </a:endParaRPr>
          </a:p>
          <a:p>
            <a:r>
              <a:rPr lang="en-US" sz="1600" dirty="0">
                <a:latin typeface="Segoe UI"/>
                <a:cs typeface="Times New Roman"/>
              </a:rPr>
              <a:t>Simple change: Removing taglines could immediately improve decisions.</a:t>
            </a:r>
            <a:r>
              <a:rPr lang="en-US" dirty="0">
                <a:latin typeface="Segoe UI"/>
                <a:cs typeface="Segoe UI"/>
              </a:rPr>
              <a:t>'</a:t>
            </a:r>
            <a:endParaRPr lang="en-US" dirty="0">
              <a:latin typeface="Segoe UI"/>
            </a:endParaRPr>
          </a:p>
        </p:txBody>
      </p:sp>
    </p:spTree>
    <p:extLst>
      <p:ext uri="{BB962C8B-B14F-4D97-AF65-F5344CB8AC3E}">
        <p14:creationId xmlns:p14="http://schemas.microsoft.com/office/powerpoint/2010/main" val="64597938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9A1DA1-ADCA-4085-E265-06ABC0D90B1F}"/>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428E8BA-825B-2715-EF03-5B58CAE4716A}"/>
              </a:ext>
            </a:extLst>
          </p:cNvPr>
          <p:cNvSpPr>
            <a:spLocks noGrp="1"/>
          </p:cNvSpPr>
          <p:nvPr>
            <p:ph idx="1"/>
          </p:nvPr>
        </p:nvSpPr>
        <p:spPr>
          <a:xfrm>
            <a:off x="4711659" y="1462473"/>
            <a:ext cx="7405134" cy="1448104"/>
          </a:xfrm>
        </p:spPr>
        <p:txBody>
          <a:bodyPr vert="horz" lIns="91440" tIns="45720" rIns="91440" bIns="45720" rtlCol="0" anchor="t">
            <a:normAutofit/>
          </a:bodyPr>
          <a:lstStyle/>
          <a:p>
            <a:pPr marL="0" indent="0" algn="ctr">
              <a:lnSpc>
                <a:spcPct val="100000"/>
              </a:lnSpc>
              <a:buNone/>
            </a:pPr>
            <a:r>
              <a:rPr lang="en-US" sz="1600" dirty="0">
                <a:latin typeface="Segoe UI"/>
                <a:cs typeface="Segoe UI"/>
              </a:rPr>
              <a:t>Demographics significantly influence how consumers process marketing information. Age significantly moderated decision patterns. Younger participants (18-29) decided fastest (76.3s) with 63.4% accuracy. Middle-aged participants (30-49) showed balanced performance (67-71% accuracy). Older participants (50+) decided slowest (114.7s) with highest accuracy (71.3%).</a:t>
            </a:r>
          </a:p>
        </p:txBody>
      </p:sp>
      <p:pic>
        <p:nvPicPr>
          <p:cNvPr id="5" name="Picture 4" descr="A blue background with a light&#10;&#10;AI-generated content may be incorrect.">
            <a:extLst>
              <a:ext uri="{FF2B5EF4-FFF2-40B4-BE49-F238E27FC236}">
                <a16:creationId xmlns:a16="http://schemas.microsoft.com/office/drawing/2014/main" id="{8D30A690-D220-E8D2-A1CB-BFAACDCC6025}"/>
              </a:ext>
            </a:extLst>
          </p:cNvPr>
          <p:cNvPicPr>
            <a:picLocks noChangeAspect="1"/>
          </p:cNvPicPr>
          <p:nvPr/>
        </p:nvPicPr>
        <p:blipFill>
          <a:blip r:embed="rId2"/>
          <a:srcRect l="38" b="78831"/>
          <a:stretch>
            <a:fillRect/>
          </a:stretch>
        </p:blipFill>
        <p:spPr>
          <a:xfrm>
            <a:off x="-130939" y="-366982"/>
            <a:ext cx="12458624" cy="1461046"/>
          </a:xfrm>
          <a:prstGeom prst="rect">
            <a:avLst/>
          </a:prstGeom>
        </p:spPr>
      </p:pic>
      <p:sp>
        <p:nvSpPr>
          <p:cNvPr id="7" name="Title 1">
            <a:extLst>
              <a:ext uri="{FF2B5EF4-FFF2-40B4-BE49-F238E27FC236}">
                <a16:creationId xmlns:a16="http://schemas.microsoft.com/office/drawing/2014/main" id="{8278AFD0-1969-E499-4823-EDCB49B18D7E}"/>
              </a:ext>
            </a:extLst>
          </p:cNvPr>
          <p:cNvSpPr txBox="1">
            <a:spLocks/>
          </p:cNvSpPr>
          <p:nvPr/>
        </p:nvSpPr>
        <p:spPr>
          <a:xfrm>
            <a:off x="838200" y="178219"/>
            <a:ext cx="10515600" cy="908619"/>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2800" b="1" dirty="0">
                <a:solidFill>
                  <a:srgbClr val="FFFFFF"/>
                </a:solidFill>
                <a:latin typeface="Bell MT"/>
              </a:rPr>
              <a:t>4. AGE DIFFERENCES</a:t>
            </a:r>
            <a:endParaRPr lang="en-US" dirty="0"/>
          </a:p>
        </p:txBody>
      </p:sp>
      <p:pic>
        <p:nvPicPr>
          <p:cNvPr id="2" name="Picture 1">
            <a:extLst>
              <a:ext uri="{FF2B5EF4-FFF2-40B4-BE49-F238E27FC236}">
                <a16:creationId xmlns:a16="http://schemas.microsoft.com/office/drawing/2014/main" id="{682F6E76-1C3F-BEF6-8C9D-BC7020F4D4B0}"/>
              </a:ext>
            </a:extLst>
          </p:cNvPr>
          <p:cNvPicPr>
            <a:picLocks noChangeAspect="1"/>
          </p:cNvPicPr>
          <p:nvPr/>
        </p:nvPicPr>
        <p:blipFill>
          <a:blip r:embed="rId3"/>
          <a:srcRect t="32249" r="5836" b="542"/>
          <a:stretch>
            <a:fillRect/>
          </a:stretch>
        </p:blipFill>
        <p:spPr>
          <a:xfrm>
            <a:off x="4248743" y="3468414"/>
            <a:ext cx="7845930" cy="3249379"/>
          </a:xfrm>
          <a:prstGeom prst="rect">
            <a:avLst/>
          </a:prstGeom>
        </p:spPr>
      </p:pic>
      <p:pic>
        <p:nvPicPr>
          <p:cNvPr id="4" name="Picture 3" descr="A graph of a number of people&#10;&#10;AI-generated content may be incorrect.">
            <a:extLst>
              <a:ext uri="{FF2B5EF4-FFF2-40B4-BE49-F238E27FC236}">
                <a16:creationId xmlns:a16="http://schemas.microsoft.com/office/drawing/2014/main" id="{6D429068-2479-F35F-6C24-FCA81694EAFC}"/>
              </a:ext>
            </a:extLst>
          </p:cNvPr>
          <p:cNvPicPr>
            <a:picLocks noChangeAspect="1"/>
          </p:cNvPicPr>
          <p:nvPr/>
        </p:nvPicPr>
        <p:blipFill>
          <a:blip r:embed="rId3"/>
          <a:srcRect l="2681" t="-272" r="3059" b="94022"/>
          <a:stretch>
            <a:fillRect/>
          </a:stretch>
        </p:blipFill>
        <p:spPr>
          <a:xfrm>
            <a:off x="4340708" y="3166241"/>
            <a:ext cx="7853895" cy="302177"/>
          </a:xfrm>
          <a:prstGeom prst="rect">
            <a:avLst/>
          </a:prstGeom>
        </p:spPr>
      </p:pic>
      <p:sp>
        <p:nvSpPr>
          <p:cNvPr id="6" name="TextBox 5">
            <a:extLst>
              <a:ext uri="{FF2B5EF4-FFF2-40B4-BE49-F238E27FC236}">
                <a16:creationId xmlns:a16="http://schemas.microsoft.com/office/drawing/2014/main" id="{D3E069E2-8BE0-FA27-ED33-C82A681F22FC}"/>
              </a:ext>
            </a:extLst>
          </p:cNvPr>
          <p:cNvSpPr txBox="1"/>
          <p:nvPr/>
        </p:nvSpPr>
        <p:spPr>
          <a:xfrm>
            <a:off x="538656" y="1287518"/>
            <a:ext cx="3796862" cy="544219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nSpc>
                <a:spcPct val="150000"/>
              </a:lnSpc>
            </a:pPr>
            <a:r>
              <a:rPr lang="en-US" b="1">
                <a:solidFill>
                  <a:srgbClr val="000000"/>
                </a:solidFill>
                <a:latin typeface="Segoe UI"/>
                <a:ea typeface="quote-cjk-patch"/>
                <a:cs typeface="Segoe UI"/>
              </a:rPr>
              <a:t>Patterns I observed:</a:t>
            </a:r>
            <a:endParaRPr lang="en-US"/>
          </a:p>
          <a:p>
            <a:pPr marL="228600" indent="-228600">
              <a:lnSpc>
                <a:spcPct val="150000"/>
              </a:lnSpc>
              <a:buFont typeface=""/>
              <a:buChar char="•"/>
            </a:pPr>
            <a:r>
              <a:rPr lang="en-US">
                <a:solidFill>
                  <a:srgbClr val="000000"/>
                </a:solidFill>
                <a:latin typeface="Segoe UI"/>
                <a:ea typeface="quote-cjk-patch"/>
                <a:cs typeface="Segoe UI"/>
              </a:rPr>
              <a:t>Young adults: Fastest decisions, lower accuracy</a:t>
            </a:r>
          </a:p>
          <a:p>
            <a:pPr marL="228600" indent="-228600">
              <a:lnSpc>
                <a:spcPct val="150000"/>
              </a:lnSpc>
              <a:buFont typeface=""/>
              <a:buChar char="•"/>
            </a:pPr>
            <a:r>
              <a:rPr lang="en-US">
                <a:solidFill>
                  <a:srgbClr val="000000"/>
                </a:solidFill>
                <a:latin typeface="Segoe UI"/>
                <a:ea typeface="quote-cjk-patch"/>
                <a:cs typeface="Segoe UI"/>
              </a:rPr>
              <a:t>Middle-aged: Balanced speed and accuracy</a:t>
            </a:r>
          </a:p>
          <a:p>
            <a:pPr marL="228600" indent="-228600">
              <a:lnSpc>
                <a:spcPct val="150000"/>
              </a:lnSpc>
              <a:buFont typeface=""/>
              <a:buChar char="•"/>
            </a:pPr>
            <a:r>
              <a:rPr lang="en-US">
                <a:solidFill>
                  <a:srgbClr val="000000"/>
                </a:solidFill>
                <a:latin typeface="Segoe UI"/>
                <a:ea typeface="quote-cjk-patch"/>
                <a:cs typeface="Segoe UI"/>
              </a:rPr>
              <a:t>Older adults: Slowest decisions, highest accuracy</a:t>
            </a:r>
          </a:p>
          <a:p>
            <a:pPr>
              <a:lnSpc>
                <a:spcPct val="150000"/>
              </a:lnSpc>
            </a:pPr>
            <a:r>
              <a:rPr lang="en-US" b="1">
                <a:solidFill>
                  <a:srgbClr val="000000"/>
                </a:solidFill>
                <a:latin typeface="Segoe UI"/>
                <a:ea typeface="quote-cjk-patch"/>
                <a:cs typeface="Segoe UI"/>
              </a:rPr>
              <a:t>Marketing implications:</a:t>
            </a:r>
          </a:p>
          <a:p>
            <a:pPr marL="228600" indent="-228600">
              <a:lnSpc>
                <a:spcPct val="150000"/>
              </a:lnSpc>
              <a:buFont typeface=""/>
              <a:buChar char="•"/>
            </a:pPr>
            <a:r>
              <a:rPr lang="en-US">
                <a:solidFill>
                  <a:srgbClr val="000000"/>
                </a:solidFill>
                <a:latin typeface="Segoe UI"/>
                <a:ea typeface="quote-cjk-patch"/>
                <a:cs typeface="Segoe UI"/>
              </a:rPr>
              <a:t>Young: Simplified, quick formats</a:t>
            </a:r>
          </a:p>
          <a:p>
            <a:pPr marL="228600" indent="-228600">
              <a:lnSpc>
                <a:spcPct val="150000"/>
              </a:lnSpc>
              <a:buFont typeface=""/>
              <a:buChar char="•"/>
            </a:pPr>
            <a:r>
              <a:rPr lang="en-US">
                <a:solidFill>
                  <a:srgbClr val="000000"/>
                </a:solidFill>
                <a:latin typeface="Segoe UI"/>
                <a:ea typeface="quote-cjk-patch"/>
                <a:cs typeface="Segoe UI"/>
              </a:rPr>
              <a:t>Middle: Detailed but structured</a:t>
            </a:r>
          </a:p>
          <a:p>
            <a:pPr marL="228600" indent="-228600">
              <a:lnSpc>
                <a:spcPct val="150000"/>
              </a:lnSpc>
              <a:buFont typeface=""/>
              <a:buChar char="•"/>
            </a:pPr>
            <a:r>
              <a:rPr lang="en-US">
                <a:solidFill>
                  <a:srgbClr val="000000"/>
                </a:solidFill>
                <a:latin typeface="Segoe UI"/>
                <a:ea typeface="quote-cjk-patch"/>
                <a:cs typeface="Segoe UI"/>
              </a:rPr>
              <a:t>Older: Comprehensive, clear information</a:t>
            </a:r>
          </a:p>
          <a:p>
            <a:pPr algn="ctr">
              <a:lnSpc>
                <a:spcPct val="150000"/>
              </a:lnSpc>
            </a:pPr>
            <a:endParaRPr lang="en-US">
              <a:solidFill>
                <a:srgbClr val="000000"/>
              </a:solidFill>
              <a:latin typeface="Segoe UI"/>
              <a:cs typeface="Segoe UI"/>
            </a:endParaRPr>
          </a:p>
        </p:txBody>
      </p:sp>
    </p:spTree>
    <p:extLst>
      <p:ext uri="{BB962C8B-B14F-4D97-AF65-F5344CB8AC3E}">
        <p14:creationId xmlns:p14="http://schemas.microsoft.com/office/powerpoint/2010/main" val="220587213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BA7FD6-2479-509D-8D5C-E161CFABE641}"/>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8C5D658-290D-E260-E1C5-FFAF81A30B8A}"/>
              </a:ext>
            </a:extLst>
          </p:cNvPr>
          <p:cNvSpPr>
            <a:spLocks noGrp="1"/>
          </p:cNvSpPr>
          <p:nvPr>
            <p:ph idx="1"/>
          </p:nvPr>
        </p:nvSpPr>
        <p:spPr>
          <a:xfrm>
            <a:off x="4054763" y="1423059"/>
            <a:ext cx="7878098" cy="1553208"/>
          </a:xfrm>
        </p:spPr>
        <p:txBody>
          <a:bodyPr vert="horz" lIns="91440" tIns="45720" rIns="91440" bIns="45720" rtlCol="0" anchor="t">
            <a:noAutofit/>
          </a:bodyPr>
          <a:lstStyle/>
          <a:p>
            <a:pPr marL="0" indent="0" algn="ctr">
              <a:lnSpc>
                <a:spcPct val="100000"/>
              </a:lnSpc>
              <a:buNone/>
            </a:pPr>
            <a:r>
              <a:rPr lang="en-US" sz="1600" dirty="0">
                <a:latin typeface="Segoe UI"/>
                <a:cs typeface="Segoe UI"/>
              </a:rPr>
              <a:t>Income strongly correlated with decision quality. Low-income participants achieved 58.2% accuracy, middle-income 65.7%, and high-income 73.1%. This 14.9 percentage point gap suggests financial literacy disparities. Education also mattered. College-educated participants were less affected by tagline complexity, with only 28% increased decision time versus 51% for those without degrees.</a:t>
            </a:r>
          </a:p>
        </p:txBody>
      </p:sp>
      <p:pic>
        <p:nvPicPr>
          <p:cNvPr id="5" name="Picture 4" descr="A blue background with a light&#10;&#10;AI-generated content may be incorrect.">
            <a:extLst>
              <a:ext uri="{FF2B5EF4-FFF2-40B4-BE49-F238E27FC236}">
                <a16:creationId xmlns:a16="http://schemas.microsoft.com/office/drawing/2014/main" id="{E8977C2B-A655-E370-6206-DF6DDB1436BF}"/>
              </a:ext>
            </a:extLst>
          </p:cNvPr>
          <p:cNvPicPr>
            <a:picLocks noChangeAspect="1"/>
          </p:cNvPicPr>
          <p:nvPr/>
        </p:nvPicPr>
        <p:blipFill>
          <a:blip r:embed="rId2"/>
          <a:srcRect l="38" b="78831"/>
          <a:stretch>
            <a:fillRect/>
          </a:stretch>
        </p:blipFill>
        <p:spPr>
          <a:xfrm>
            <a:off x="-130939" y="-366982"/>
            <a:ext cx="12458624" cy="1461046"/>
          </a:xfrm>
          <a:prstGeom prst="rect">
            <a:avLst/>
          </a:prstGeom>
        </p:spPr>
      </p:pic>
      <p:sp>
        <p:nvSpPr>
          <p:cNvPr id="7" name="Title 1">
            <a:extLst>
              <a:ext uri="{FF2B5EF4-FFF2-40B4-BE49-F238E27FC236}">
                <a16:creationId xmlns:a16="http://schemas.microsoft.com/office/drawing/2014/main" id="{CDBC2715-C0B0-2782-FC87-8C948303BB58}"/>
              </a:ext>
            </a:extLst>
          </p:cNvPr>
          <p:cNvSpPr txBox="1">
            <a:spLocks/>
          </p:cNvSpPr>
          <p:nvPr/>
        </p:nvSpPr>
        <p:spPr>
          <a:xfrm>
            <a:off x="838200" y="178219"/>
            <a:ext cx="10515600" cy="908619"/>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2800" b="1" dirty="0">
                <a:solidFill>
                  <a:srgbClr val="FFFFFF"/>
                </a:solidFill>
                <a:latin typeface="Bell MT"/>
              </a:rPr>
              <a:t>5. INCOME EFFECTS</a:t>
            </a:r>
            <a:endParaRPr lang="en-US" dirty="0"/>
          </a:p>
        </p:txBody>
      </p:sp>
      <p:pic>
        <p:nvPicPr>
          <p:cNvPr id="2" name="Picture 1">
            <a:extLst>
              <a:ext uri="{FF2B5EF4-FFF2-40B4-BE49-F238E27FC236}">
                <a16:creationId xmlns:a16="http://schemas.microsoft.com/office/drawing/2014/main" id="{E6CA3FE3-138D-F952-B7F8-27237206335B}"/>
              </a:ext>
            </a:extLst>
          </p:cNvPr>
          <p:cNvPicPr>
            <a:picLocks noChangeAspect="1"/>
          </p:cNvPicPr>
          <p:nvPr/>
        </p:nvPicPr>
        <p:blipFill>
          <a:blip r:embed="rId3"/>
          <a:srcRect t="31458" r="5044"/>
          <a:stretch>
            <a:fillRect/>
          </a:stretch>
        </p:blipFill>
        <p:spPr>
          <a:xfrm>
            <a:off x="3694100" y="3139966"/>
            <a:ext cx="8410916" cy="3520965"/>
          </a:xfrm>
          <a:prstGeom prst="rect">
            <a:avLst/>
          </a:prstGeom>
        </p:spPr>
      </p:pic>
      <p:pic>
        <p:nvPicPr>
          <p:cNvPr id="4" name="Picture 3" descr="A graph of a number of people&#10;&#10;AI-generated content may be incorrect.">
            <a:extLst>
              <a:ext uri="{FF2B5EF4-FFF2-40B4-BE49-F238E27FC236}">
                <a16:creationId xmlns:a16="http://schemas.microsoft.com/office/drawing/2014/main" id="{C1833E19-843A-8E84-2D3F-D62A844006AD}"/>
              </a:ext>
            </a:extLst>
          </p:cNvPr>
          <p:cNvPicPr>
            <a:picLocks noChangeAspect="1"/>
          </p:cNvPicPr>
          <p:nvPr/>
        </p:nvPicPr>
        <p:blipFill>
          <a:blip r:embed="rId3"/>
          <a:srcRect l="3116" t="-255" r="1929" b="93877"/>
          <a:stretch>
            <a:fillRect/>
          </a:stretch>
        </p:blipFill>
        <p:spPr>
          <a:xfrm>
            <a:off x="3786065" y="2982311"/>
            <a:ext cx="8410881" cy="327619"/>
          </a:xfrm>
          <a:prstGeom prst="rect">
            <a:avLst/>
          </a:prstGeom>
        </p:spPr>
      </p:pic>
      <p:sp>
        <p:nvSpPr>
          <p:cNvPr id="6" name="TextBox 5">
            <a:extLst>
              <a:ext uri="{FF2B5EF4-FFF2-40B4-BE49-F238E27FC236}">
                <a16:creationId xmlns:a16="http://schemas.microsoft.com/office/drawing/2014/main" id="{344E1C3B-6075-BC19-FAA0-5E2AD476283F}"/>
              </a:ext>
            </a:extLst>
          </p:cNvPr>
          <p:cNvSpPr txBox="1"/>
          <p:nvPr/>
        </p:nvSpPr>
        <p:spPr>
          <a:xfrm>
            <a:off x="564931" y="1418897"/>
            <a:ext cx="3126827" cy="544219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nSpc>
                <a:spcPct val="150000"/>
              </a:lnSpc>
            </a:pPr>
            <a:r>
              <a:rPr lang="en-US" b="1" dirty="0">
                <a:solidFill>
                  <a:srgbClr val="000000"/>
                </a:solidFill>
                <a:latin typeface="Segoe UI"/>
                <a:ea typeface="quote-cjk-patch"/>
                <a:cs typeface="Segoe UI"/>
              </a:rPr>
              <a:t>Strong pattern:</a:t>
            </a:r>
            <a:r>
              <a:rPr lang="en-US" dirty="0">
                <a:solidFill>
                  <a:srgbClr val="000000"/>
                </a:solidFill>
                <a:latin typeface="Segoe UI"/>
                <a:ea typeface="quote-cjk-patch"/>
                <a:cs typeface="Segoe UI"/>
              </a:rPr>
              <a:t> 58.2% accuracy for low income, 73.1% for high income.</a:t>
            </a:r>
            <a:endParaRPr lang="en-US" dirty="0"/>
          </a:p>
          <a:p>
            <a:pPr>
              <a:lnSpc>
                <a:spcPct val="150000"/>
              </a:lnSpc>
            </a:pPr>
            <a:r>
              <a:rPr lang="en-US" dirty="0">
                <a:solidFill>
                  <a:srgbClr val="000000"/>
                </a:solidFill>
                <a:latin typeface="Segoe UI"/>
                <a:ea typeface="quote-cjk-patch"/>
                <a:cs typeface="Segoe UI"/>
              </a:rPr>
              <a:t>14.9 percentage point gap between groups.</a:t>
            </a:r>
          </a:p>
          <a:p>
            <a:pPr>
              <a:lnSpc>
                <a:spcPct val="150000"/>
              </a:lnSpc>
            </a:pPr>
            <a:r>
              <a:rPr lang="en-US" b="1" dirty="0">
                <a:solidFill>
                  <a:srgbClr val="000000"/>
                </a:solidFill>
                <a:latin typeface="Segoe UI"/>
                <a:ea typeface="quote-cjk-patch"/>
                <a:cs typeface="Segoe UI"/>
              </a:rPr>
              <a:t>Possible explanations:</a:t>
            </a:r>
          </a:p>
          <a:p>
            <a:pPr marL="228600" indent="-228600">
              <a:lnSpc>
                <a:spcPct val="150000"/>
              </a:lnSpc>
              <a:buFont typeface=""/>
              <a:buAutoNum type="arabicPeriod"/>
            </a:pPr>
            <a:r>
              <a:rPr lang="en-US" dirty="0">
                <a:solidFill>
                  <a:srgbClr val="000000"/>
                </a:solidFill>
                <a:latin typeface="Segoe UI"/>
                <a:ea typeface="quote-cjk-patch"/>
                <a:cs typeface="Segoe UI"/>
              </a:rPr>
              <a:t>More financial experience at higher income</a:t>
            </a:r>
          </a:p>
          <a:p>
            <a:pPr marL="228600" indent="-228600">
              <a:lnSpc>
                <a:spcPct val="150000"/>
              </a:lnSpc>
              <a:buFont typeface=""/>
              <a:buAutoNum type="arabicPeriod"/>
            </a:pPr>
            <a:r>
              <a:rPr lang="en-US" dirty="0">
                <a:solidFill>
                  <a:srgbClr val="000000"/>
                </a:solidFill>
                <a:latin typeface="Segoe UI"/>
                <a:ea typeface="quote-cjk-patch"/>
                <a:cs typeface="Segoe UI"/>
              </a:rPr>
              <a:t>Financial literacy correlates with income</a:t>
            </a:r>
          </a:p>
          <a:p>
            <a:pPr marL="228600" indent="-228600">
              <a:lnSpc>
                <a:spcPct val="150000"/>
              </a:lnSpc>
              <a:buFont typeface=""/>
              <a:buAutoNum type="arabicPeriod"/>
            </a:pPr>
            <a:r>
              <a:rPr lang="en-US" dirty="0">
                <a:solidFill>
                  <a:srgbClr val="000000"/>
                </a:solidFill>
                <a:latin typeface="Segoe UI"/>
                <a:ea typeface="quote-cjk-patch"/>
                <a:cs typeface="Segoe UI"/>
              </a:rPr>
              <a:t>Stress from scarcity impairs decisions</a:t>
            </a:r>
          </a:p>
          <a:p>
            <a:pPr algn="ctr">
              <a:lnSpc>
                <a:spcPct val="150000"/>
              </a:lnSpc>
            </a:pPr>
            <a:endParaRPr lang="en-US">
              <a:solidFill>
                <a:srgbClr val="000000"/>
              </a:solidFill>
              <a:latin typeface="Segoe UI"/>
              <a:cs typeface="Segoe UI"/>
            </a:endParaRPr>
          </a:p>
        </p:txBody>
      </p:sp>
    </p:spTree>
    <p:extLst>
      <p:ext uri="{BB962C8B-B14F-4D97-AF65-F5344CB8AC3E}">
        <p14:creationId xmlns:p14="http://schemas.microsoft.com/office/powerpoint/2010/main" val="341429906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5DF2B6-4E86-061B-DAB8-D6352E24F95C}"/>
            </a:ext>
          </a:extLst>
        </p:cNvPr>
        <p:cNvGrpSpPr/>
        <p:nvPr/>
      </p:nvGrpSpPr>
      <p:grpSpPr>
        <a:xfrm>
          <a:off x="0" y="0"/>
          <a:ext cx="0" cy="0"/>
          <a:chOff x="0" y="0"/>
          <a:chExt cx="0" cy="0"/>
        </a:xfrm>
      </p:grpSpPr>
      <p:pic>
        <p:nvPicPr>
          <p:cNvPr id="5" name="Picture 4" descr="A blue background with a light&#10;&#10;AI-generated content may be incorrect.">
            <a:extLst>
              <a:ext uri="{FF2B5EF4-FFF2-40B4-BE49-F238E27FC236}">
                <a16:creationId xmlns:a16="http://schemas.microsoft.com/office/drawing/2014/main" id="{702DB67F-3C98-36E4-E576-C8E9EBA6F8C9}"/>
              </a:ext>
            </a:extLst>
          </p:cNvPr>
          <p:cNvPicPr>
            <a:picLocks noChangeAspect="1"/>
          </p:cNvPicPr>
          <p:nvPr/>
        </p:nvPicPr>
        <p:blipFill>
          <a:blip r:embed="rId2"/>
          <a:srcRect l="38" b="78831"/>
          <a:stretch>
            <a:fillRect/>
          </a:stretch>
        </p:blipFill>
        <p:spPr>
          <a:xfrm>
            <a:off x="-130939" y="-366982"/>
            <a:ext cx="12458624" cy="1461046"/>
          </a:xfrm>
          <a:prstGeom prst="rect">
            <a:avLst/>
          </a:prstGeom>
        </p:spPr>
      </p:pic>
      <p:sp>
        <p:nvSpPr>
          <p:cNvPr id="7" name="Title 1">
            <a:extLst>
              <a:ext uri="{FF2B5EF4-FFF2-40B4-BE49-F238E27FC236}">
                <a16:creationId xmlns:a16="http://schemas.microsoft.com/office/drawing/2014/main" id="{12D29A9B-933F-0FC2-FA1F-73AA98F3B1A4}"/>
              </a:ext>
            </a:extLst>
          </p:cNvPr>
          <p:cNvSpPr txBox="1">
            <a:spLocks/>
          </p:cNvSpPr>
          <p:nvPr/>
        </p:nvSpPr>
        <p:spPr>
          <a:xfrm>
            <a:off x="838200" y="178219"/>
            <a:ext cx="10515600" cy="908619"/>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2800" b="1" dirty="0">
                <a:solidFill>
                  <a:srgbClr val="FFFFFF"/>
                </a:solidFill>
                <a:latin typeface="Bell MT"/>
              </a:rPr>
              <a:t>6. CONFIDENCE CONNECTION</a:t>
            </a:r>
            <a:endParaRPr lang="en-US" dirty="0"/>
          </a:p>
        </p:txBody>
      </p:sp>
      <p:pic>
        <p:nvPicPr>
          <p:cNvPr id="2" name="Picture 1" descr="A graph of a relationship between decision time and confidence&#10;&#10;AI-generated content may be incorrect.">
            <a:extLst>
              <a:ext uri="{FF2B5EF4-FFF2-40B4-BE49-F238E27FC236}">
                <a16:creationId xmlns:a16="http://schemas.microsoft.com/office/drawing/2014/main" id="{692DB3B6-AF5A-7CAD-C1FA-82BFF13ED3BB}"/>
              </a:ext>
            </a:extLst>
          </p:cNvPr>
          <p:cNvPicPr>
            <a:picLocks noChangeAspect="1"/>
          </p:cNvPicPr>
          <p:nvPr/>
        </p:nvPicPr>
        <p:blipFill>
          <a:blip r:embed="rId3"/>
          <a:stretch>
            <a:fillRect/>
          </a:stretch>
        </p:blipFill>
        <p:spPr>
          <a:xfrm>
            <a:off x="4144970" y="1418896"/>
            <a:ext cx="8040509" cy="5084379"/>
          </a:xfrm>
          <a:prstGeom prst="rect">
            <a:avLst/>
          </a:prstGeom>
        </p:spPr>
      </p:pic>
      <p:sp>
        <p:nvSpPr>
          <p:cNvPr id="8" name="TextBox 7">
            <a:extLst>
              <a:ext uri="{FF2B5EF4-FFF2-40B4-BE49-F238E27FC236}">
                <a16:creationId xmlns:a16="http://schemas.microsoft.com/office/drawing/2014/main" id="{0D5224DC-143C-35B4-84A5-B3C4F20B7C6B}"/>
              </a:ext>
            </a:extLst>
          </p:cNvPr>
          <p:cNvSpPr txBox="1"/>
          <p:nvPr/>
        </p:nvSpPr>
        <p:spPr>
          <a:xfrm>
            <a:off x="433553" y="1418897"/>
            <a:ext cx="3612932" cy="507831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CA" dirty="0">
                <a:latin typeface="Segoe UI"/>
                <a:ea typeface="Segoe UI"/>
                <a:cs typeface="Segoe UI"/>
              </a:rPr>
              <a:t>Building confidence may improve both decision speed and quality. I found a significant negative correlation between confidence and decision time (r=-0.32, p&lt;0.001). </a:t>
            </a:r>
            <a:endParaRPr lang="en-US" dirty="0">
              <a:latin typeface="Aptos" panose="020B0004020202020204"/>
              <a:ea typeface="Segoe UI"/>
              <a:cs typeface="Segoe UI"/>
            </a:endParaRPr>
          </a:p>
          <a:p>
            <a:endParaRPr lang="en-CA" dirty="0">
              <a:latin typeface="Segoe UI"/>
              <a:ea typeface="Segoe UI"/>
              <a:cs typeface="Segoe UI"/>
            </a:endParaRPr>
          </a:p>
          <a:p>
            <a:r>
              <a:rPr lang="en-CA" dirty="0">
                <a:latin typeface="Segoe UI"/>
                <a:ea typeface="Segoe UI"/>
                <a:cs typeface="Segoe UI"/>
              </a:rPr>
              <a:t>Confident decisions were faster decisions.</a:t>
            </a:r>
            <a:r>
              <a:rPr lang="en-US" dirty="0">
                <a:latin typeface="Segoe UI"/>
                <a:ea typeface="Segoe UI"/>
                <a:cs typeface="Segoe UI"/>
              </a:rPr>
              <a:t> </a:t>
            </a:r>
            <a:endParaRPr lang="en-US"/>
          </a:p>
          <a:p>
            <a:endParaRPr lang="en-US" dirty="0">
              <a:latin typeface="Segoe UI"/>
              <a:ea typeface="Times New Roman"/>
              <a:cs typeface="Segoe UI"/>
            </a:endParaRPr>
          </a:p>
          <a:p>
            <a:pPr marL="228600" lvl="0" indent="-228600" rtl="0">
              <a:buFont typeface="Symbol"/>
              <a:buChar char="•"/>
            </a:pPr>
            <a:r>
              <a:rPr lang="en-CA" dirty="0">
                <a:latin typeface="Segoe UI"/>
                <a:ea typeface="Times New Roman"/>
                <a:cs typeface="Segoe UI"/>
              </a:rPr>
              <a:t>Fast Confident (38%): High accuracy, quick decisions</a:t>
            </a:r>
            <a:r>
              <a:rPr lang="en-US" dirty="0">
                <a:latin typeface="Segoe UI"/>
                <a:ea typeface="Times New Roman"/>
                <a:cs typeface="Segoe UI"/>
              </a:rPr>
              <a:t> </a:t>
            </a:r>
          </a:p>
          <a:p>
            <a:pPr marL="228600" lvl="0" indent="-228600" rtl="0">
              <a:buFont typeface="Symbol"/>
              <a:buChar char="•"/>
            </a:pPr>
            <a:r>
              <a:rPr lang="en-CA" dirty="0">
                <a:latin typeface="Segoe UI"/>
                <a:ea typeface="Times New Roman"/>
                <a:cs typeface="Segoe UI"/>
              </a:rPr>
              <a:t>Slow Uncertain (45%): Moderate accuracy, prolonged deliberation</a:t>
            </a:r>
            <a:r>
              <a:rPr lang="en-US" dirty="0">
                <a:latin typeface="Segoe UI"/>
                <a:ea typeface="Times New Roman"/>
                <a:cs typeface="Segoe UI"/>
              </a:rPr>
              <a:t> </a:t>
            </a:r>
          </a:p>
          <a:p>
            <a:pPr marL="228600" lvl="0" indent="-228600" rtl="0">
              <a:buFont typeface="Symbol"/>
              <a:buChar char="•"/>
            </a:pPr>
            <a:r>
              <a:rPr lang="en-CA" dirty="0">
                <a:latin typeface="Segoe UI"/>
                <a:ea typeface="Times New Roman"/>
                <a:cs typeface="Segoe UI"/>
              </a:rPr>
              <a:t>Fast Uncertain (17%): Poor accuracy, rushed decisions</a:t>
            </a:r>
            <a:r>
              <a:rPr lang="en-US" dirty="0">
                <a:latin typeface="Segoe UI"/>
                <a:ea typeface="Times New Roman"/>
                <a:cs typeface="Segoe UI"/>
              </a:rPr>
              <a:t> </a:t>
            </a:r>
          </a:p>
          <a:p>
            <a:pPr algn="ctr"/>
            <a:endParaRPr lang="en-US">
              <a:latin typeface="Segoe UI"/>
              <a:cs typeface="Segoe UI"/>
            </a:endParaRPr>
          </a:p>
        </p:txBody>
      </p:sp>
    </p:spTree>
    <p:extLst>
      <p:ext uri="{BB962C8B-B14F-4D97-AF65-F5344CB8AC3E}">
        <p14:creationId xmlns:p14="http://schemas.microsoft.com/office/powerpoint/2010/main" val="102488375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2A9A0D-6323-8E64-C99F-DB1CE507483E}"/>
            </a:ext>
          </a:extLst>
        </p:cNvPr>
        <p:cNvGrpSpPr/>
        <p:nvPr/>
      </p:nvGrpSpPr>
      <p:grpSpPr>
        <a:xfrm>
          <a:off x="0" y="0"/>
          <a:ext cx="0" cy="0"/>
          <a:chOff x="0" y="0"/>
          <a:chExt cx="0" cy="0"/>
        </a:xfrm>
      </p:grpSpPr>
      <p:pic>
        <p:nvPicPr>
          <p:cNvPr id="5" name="Picture 4" descr="A blue background with a light&#10;&#10;AI-generated content may be incorrect.">
            <a:extLst>
              <a:ext uri="{FF2B5EF4-FFF2-40B4-BE49-F238E27FC236}">
                <a16:creationId xmlns:a16="http://schemas.microsoft.com/office/drawing/2014/main" id="{458B9546-C2DD-EDA5-A011-AE02A79EAE7E}"/>
              </a:ext>
            </a:extLst>
          </p:cNvPr>
          <p:cNvPicPr>
            <a:picLocks noChangeAspect="1"/>
          </p:cNvPicPr>
          <p:nvPr/>
        </p:nvPicPr>
        <p:blipFill>
          <a:blip r:embed="rId2"/>
          <a:srcRect l="38" b="78831"/>
          <a:stretch>
            <a:fillRect/>
          </a:stretch>
        </p:blipFill>
        <p:spPr>
          <a:xfrm>
            <a:off x="-130939" y="-366982"/>
            <a:ext cx="12458624" cy="1461046"/>
          </a:xfrm>
          <a:prstGeom prst="rect">
            <a:avLst/>
          </a:prstGeom>
        </p:spPr>
      </p:pic>
      <p:sp>
        <p:nvSpPr>
          <p:cNvPr id="7" name="Title 1">
            <a:extLst>
              <a:ext uri="{FF2B5EF4-FFF2-40B4-BE49-F238E27FC236}">
                <a16:creationId xmlns:a16="http://schemas.microsoft.com/office/drawing/2014/main" id="{BC50CAAA-AEEF-39C8-77D3-3E56ABC73B5F}"/>
              </a:ext>
            </a:extLst>
          </p:cNvPr>
          <p:cNvSpPr txBox="1">
            <a:spLocks/>
          </p:cNvSpPr>
          <p:nvPr/>
        </p:nvSpPr>
        <p:spPr>
          <a:xfrm>
            <a:off x="838200" y="178219"/>
            <a:ext cx="10515600" cy="908619"/>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2800" b="1" dirty="0">
                <a:solidFill>
                  <a:srgbClr val="FFFFFF"/>
                </a:solidFill>
                <a:latin typeface="Bell MT"/>
              </a:rPr>
              <a:t>7. PREDICTION MODEL</a:t>
            </a:r>
            <a:endParaRPr lang="en-US" dirty="0">
              <a:solidFill>
                <a:srgbClr val="000000"/>
              </a:solidFill>
              <a:latin typeface="Aptos Display" panose="020F0302020204030204"/>
            </a:endParaRPr>
          </a:p>
        </p:txBody>
      </p:sp>
      <p:graphicFrame>
        <p:nvGraphicFramePr>
          <p:cNvPr id="4" name="Table 3">
            <a:extLst>
              <a:ext uri="{FF2B5EF4-FFF2-40B4-BE49-F238E27FC236}">
                <a16:creationId xmlns:a16="http://schemas.microsoft.com/office/drawing/2014/main" id="{276C8617-76E1-97BE-50E3-587E0D868E90}"/>
              </a:ext>
            </a:extLst>
          </p:cNvPr>
          <p:cNvGraphicFramePr>
            <a:graphicFrameLocks noGrp="1"/>
          </p:cNvGraphicFramePr>
          <p:nvPr>
            <p:extLst>
              <p:ext uri="{D42A27DB-BD31-4B8C-83A1-F6EECF244321}">
                <p14:modId xmlns:p14="http://schemas.microsoft.com/office/powerpoint/2010/main" val="2605850399"/>
              </p:ext>
            </p:extLst>
          </p:nvPr>
        </p:nvGraphicFramePr>
        <p:xfrm>
          <a:off x="1931275" y="3231931"/>
          <a:ext cx="8579064" cy="2883222"/>
        </p:xfrm>
        <a:graphic>
          <a:graphicData uri="http://schemas.openxmlformats.org/drawingml/2006/table">
            <a:tbl>
              <a:tblPr bandRow="1">
                <a:tableStyleId>{5940675A-B579-460E-94D1-54222C63F5DA}</a:tableStyleId>
              </a:tblPr>
              <a:tblGrid>
                <a:gridCol w="2561896">
                  <a:extLst>
                    <a:ext uri="{9D8B030D-6E8A-4147-A177-3AD203B41FA5}">
                      <a16:colId xmlns:a16="http://schemas.microsoft.com/office/drawing/2014/main" val="849472062"/>
                    </a:ext>
                  </a:extLst>
                </a:gridCol>
                <a:gridCol w="1707931">
                  <a:extLst>
                    <a:ext uri="{9D8B030D-6E8A-4147-A177-3AD203B41FA5}">
                      <a16:colId xmlns:a16="http://schemas.microsoft.com/office/drawing/2014/main" val="2915589061"/>
                    </a:ext>
                  </a:extLst>
                </a:gridCol>
                <a:gridCol w="1563413">
                  <a:extLst>
                    <a:ext uri="{9D8B030D-6E8A-4147-A177-3AD203B41FA5}">
                      <a16:colId xmlns:a16="http://schemas.microsoft.com/office/drawing/2014/main" val="2425143266"/>
                    </a:ext>
                  </a:extLst>
                </a:gridCol>
                <a:gridCol w="1550274">
                  <a:extLst>
                    <a:ext uri="{9D8B030D-6E8A-4147-A177-3AD203B41FA5}">
                      <a16:colId xmlns:a16="http://schemas.microsoft.com/office/drawing/2014/main" val="1887140545"/>
                    </a:ext>
                  </a:extLst>
                </a:gridCol>
                <a:gridCol w="1195550">
                  <a:extLst>
                    <a:ext uri="{9D8B030D-6E8A-4147-A177-3AD203B41FA5}">
                      <a16:colId xmlns:a16="http://schemas.microsoft.com/office/drawing/2014/main" val="422413161"/>
                    </a:ext>
                  </a:extLst>
                </a:gridCol>
              </a:tblGrid>
              <a:tr h="182880">
                <a:tc>
                  <a:txBody>
                    <a:bodyPr/>
                    <a:lstStyle/>
                    <a:p>
                      <a:pPr algn="ctr">
                        <a:lnSpc>
                          <a:spcPct val="150000"/>
                        </a:lnSpc>
                        <a:buNone/>
                      </a:pPr>
                      <a:r>
                        <a:rPr lang="en-US" sz="1600" dirty="0">
                          <a:effectLst/>
                          <a:latin typeface="Segoe UI"/>
                        </a:rPr>
                        <a:t>Variable</a:t>
                      </a:r>
                    </a:p>
                  </a:txBody>
                  <a:tcPr marL="0" marR="0" marT="0" marB="0" anchor="ctr"/>
                </a:tc>
                <a:tc>
                  <a:txBody>
                    <a:bodyPr/>
                    <a:lstStyle/>
                    <a:p>
                      <a:pPr algn="ctr">
                        <a:lnSpc>
                          <a:spcPct val="150000"/>
                        </a:lnSpc>
                        <a:buNone/>
                      </a:pPr>
                      <a:r>
                        <a:rPr lang="en-US" sz="1600" dirty="0">
                          <a:effectLst/>
                          <a:latin typeface="Segoe UI"/>
                        </a:rPr>
                        <a:t>Coefficient</a:t>
                      </a:r>
                    </a:p>
                  </a:txBody>
                  <a:tcPr marL="0" marR="0" marT="0" marB="0" anchor="ctr"/>
                </a:tc>
                <a:tc>
                  <a:txBody>
                    <a:bodyPr/>
                    <a:lstStyle/>
                    <a:p>
                      <a:pPr algn="ctr">
                        <a:lnSpc>
                          <a:spcPct val="150000"/>
                        </a:lnSpc>
                        <a:buNone/>
                      </a:pPr>
                      <a:r>
                        <a:rPr lang="en-US" sz="1600" dirty="0">
                          <a:effectLst/>
                          <a:latin typeface="Segoe UI"/>
                        </a:rPr>
                        <a:t>Odds Ratio</a:t>
                      </a:r>
                    </a:p>
                  </a:txBody>
                  <a:tcPr marL="0" marR="0" marT="0" marB="0" anchor="ctr"/>
                </a:tc>
                <a:tc>
                  <a:txBody>
                    <a:bodyPr/>
                    <a:lstStyle/>
                    <a:p>
                      <a:pPr algn="ctr">
                        <a:lnSpc>
                          <a:spcPct val="150000"/>
                        </a:lnSpc>
                        <a:buNone/>
                      </a:pPr>
                      <a:r>
                        <a:rPr lang="en-US" sz="1600" dirty="0">
                          <a:effectLst/>
                          <a:latin typeface="Segoe UI"/>
                        </a:rPr>
                        <a:t>P-value</a:t>
                      </a:r>
                    </a:p>
                  </a:txBody>
                  <a:tcPr marL="0" marR="0" marT="0" marB="0" anchor="ctr"/>
                </a:tc>
                <a:tc>
                  <a:txBody>
                    <a:bodyPr/>
                    <a:lstStyle/>
                    <a:p>
                      <a:pPr algn="ctr">
                        <a:lnSpc>
                          <a:spcPct val="150000"/>
                        </a:lnSpc>
                        <a:buNone/>
                      </a:pPr>
                      <a:r>
                        <a:rPr lang="en-US" sz="1600" dirty="0">
                          <a:effectLst/>
                          <a:latin typeface="Segoe UI"/>
                        </a:rPr>
                        <a:t>Significant</a:t>
                      </a:r>
                    </a:p>
                  </a:txBody>
                  <a:tcPr marL="0" marR="0" marT="0" marB="0" anchor="ctr"/>
                </a:tc>
                <a:extLst>
                  <a:ext uri="{0D108BD9-81ED-4DB2-BD59-A6C34878D82A}">
                    <a16:rowId xmlns:a16="http://schemas.microsoft.com/office/drawing/2014/main" val="128886617"/>
                  </a:ext>
                </a:extLst>
              </a:tr>
              <a:tr h="182880">
                <a:tc>
                  <a:txBody>
                    <a:bodyPr/>
                    <a:lstStyle/>
                    <a:p>
                      <a:pPr>
                        <a:lnSpc>
                          <a:spcPct val="150000"/>
                        </a:lnSpc>
                        <a:buNone/>
                      </a:pPr>
                      <a:r>
                        <a:rPr lang="en-US" sz="1600" dirty="0">
                          <a:effectLst/>
                          <a:latin typeface="Segoe UI"/>
                        </a:rPr>
                        <a:t>  Constant</a:t>
                      </a:r>
                    </a:p>
                  </a:txBody>
                  <a:tcPr marL="0" marR="0" marT="0" marB="0" anchor="ctr"/>
                </a:tc>
                <a:tc>
                  <a:txBody>
                    <a:bodyPr/>
                    <a:lstStyle/>
                    <a:p>
                      <a:pPr algn="ctr">
                        <a:lnSpc>
                          <a:spcPct val="150000"/>
                        </a:lnSpc>
                        <a:buNone/>
                      </a:pPr>
                      <a:r>
                        <a:rPr lang="en-US" sz="1600" dirty="0">
                          <a:latin typeface="Segoe UI"/>
                        </a:rPr>
                        <a:t>-1.923516799</a:t>
                      </a:r>
                    </a:p>
                  </a:txBody>
                  <a:tcPr marL="0" marR="0" marT="0" marB="0" anchor="ctr"/>
                </a:tc>
                <a:tc>
                  <a:txBody>
                    <a:bodyPr/>
                    <a:lstStyle/>
                    <a:p>
                      <a:pPr algn="ctr">
                        <a:lnSpc>
                          <a:spcPct val="150000"/>
                        </a:lnSpc>
                        <a:buNone/>
                      </a:pPr>
                      <a:r>
                        <a:rPr lang="en-US" sz="1600" dirty="0">
                          <a:latin typeface="Segoe UI"/>
                        </a:rPr>
                        <a:t>0.14609228</a:t>
                      </a:r>
                    </a:p>
                  </a:txBody>
                  <a:tcPr marL="0" marR="0" marT="0" marB="0" anchor="ctr"/>
                </a:tc>
                <a:tc>
                  <a:txBody>
                    <a:bodyPr/>
                    <a:lstStyle/>
                    <a:p>
                      <a:pPr algn="ctr">
                        <a:lnSpc>
                          <a:spcPct val="150000"/>
                        </a:lnSpc>
                        <a:buNone/>
                      </a:pPr>
                      <a:r>
                        <a:rPr lang="en-US" sz="1600" dirty="0">
                          <a:latin typeface="Segoe UI"/>
                        </a:rPr>
                        <a:t>1.72514E-12</a:t>
                      </a:r>
                    </a:p>
                  </a:txBody>
                  <a:tcPr marL="0" marR="0" marT="0" marB="0" anchor="ctr"/>
                </a:tc>
                <a:tc>
                  <a:txBody>
                    <a:bodyPr/>
                    <a:lstStyle/>
                    <a:p>
                      <a:pPr algn="ctr">
                        <a:lnSpc>
                          <a:spcPct val="150000"/>
                        </a:lnSpc>
                        <a:buNone/>
                      </a:pPr>
                      <a:r>
                        <a:rPr lang="en-US" sz="1600" dirty="0">
                          <a:latin typeface="Segoe UI"/>
                        </a:rPr>
                        <a:t>Yes</a:t>
                      </a:r>
                    </a:p>
                  </a:txBody>
                  <a:tcPr marL="0" marR="0" marT="0" marB="0" anchor="ctr"/>
                </a:tc>
                <a:extLst>
                  <a:ext uri="{0D108BD9-81ED-4DB2-BD59-A6C34878D82A}">
                    <a16:rowId xmlns:a16="http://schemas.microsoft.com/office/drawing/2014/main" val="98673833"/>
                  </a:ext>
                </a:extLst>
              </a:tr>
              <a:tr h="182880">
                <a:tc>
                  <a:txBody>
                    <a:bodyPr/>
                    <a:lstStyle/>
                    <a:p>
                      <a:pPr>
                        <a:lnSpc>
                          <a:spcPct val="150000"/>
                        </a:lnSpc>
                        <a:buNone/>
                      </a:pPr>
                      <a:r>
                        <a:rPr lang="en-US" sz="1600" dirty="0">
                          <a:effectLst/>
                          <a:latin typeface="Segoe UI"/>
                        </a:rPr>
                        <a:t>  Taglines (1=Yes)</a:t>
                      </a:r>
                    </a:p>
                  </a:txBody>
                  <a:tcPr marL="0" marR="0" marT="0" marB="0" anchor="ctr"/>
                </a:tc>
                <a:tc>
                  <a:txBody>
                    <a:bodyPr/>
                    <a:lstStyle/>
                    <a:p>
                      <a:pPr algn="ctr">
                        <a:lnSpc>
                          <a:spcPct val="150000"/>
                        </a:lnSpc>
                        <a:buNone/>
                      </a:pPr>
                      <a:r>
                        <a:rPr lang="en-US" sz="1600" dirty="0">
                          <a:latin typeface="Segoe UI"/>
                        </a:rPr>
                        <a:t>-0.225409274</a:t>
                      </a:r>
                    </a:p>
                  </a:txBody>
                  <a:tcPr marL="0" marR="0" marT="0" marB="0" anchor="ctr"/>
                </a:tc>
                <a:tc>
                  <a:txBody>
                    <a:bodyPr/>
                    <a:lstStyle/>
                    <a:p>
                      <a:pPr algn="ctr">
                        <a:lnSpc>
                          <a:spcPct val="150000"/>
                        </a:lnSpc>
                        <a:buNone/>
                      </a:pPr>
                      <a:r>
                        <a:rPr lang="en-US" sz="1600" dirty="0">
                          <a:latin typeface="Segoe UI"/>
                        </a:rPr>
                        <a:t>0.798189474</a:t>
                      </a:r>
                    </a:p>
                  </a:txBody>
                  <a:tcPr marL="0" marR="0" marT="0" marB="0" anchor="ctr"/>
                </a:tc>
                <a:tc>
                  <a:txBody>
                    <a:bodyPr/>
                    <a:lstStyle/>
                    <a:p>
                      <a:pPr algn="ctr">
                        <a:lnSpc>
                          <a:spcPct val="150000"/>
                        </a:lnSpc>
                        <a:buNone/>
                      </a:pPr>
                      <a:r>
                        <a:rPr lang="en-US" sz="1600" dirty="0">
                          <a:latin typeface="Segoe UI"/>
                        </a:rPr>
                        <a:t>0.135787468</a:t>
                      </a:r>
                    </a:p>
                  </a:txBody>
                  <a:tcPr marL="0" marR="0" marT="0" marB="0" anchor="ctr"/>
                </a:tc>
                <a:tc>
                  <a:txBody>
                    <a:bodyPr/>
                    <a:lstStyle/>
                    <a:p>
                      <a:pPr algn="ctr">
                        <a:lnSpc>
                          <a:spcPct val="150000"/>
                        </a:lnSpc>
                        <a:buNone/>
                      </a:pPr>
                      <a:r>
                        <a:rPr lang="en-US" sz="1600" dirty="0">
                          <a:latin typeface="Segoe UI"/>
                        </a:rPr>
                        <a:t>No</a:t>
                      </a:r>
                    </a:p>
                  </a:txBody>
                  <a:tcPr marL="0" marR="0" marT="0" marB="0" anchor="ctr"/>
                </a:tc>
                <a:extLst>
                  <a:ext uri="{0D108BD9-81ED-4DB2-BD59-A6C34878D82A}">
                    <a16:rowId xmlns:a16="http://schemas.microsoft.com/office/drawing/2014/main" val="3395290914"/>
                  </a:ext>
                </a:extLst>
              </a:tr>
              <a:tr h="182880">
                <a:tc>
                  <a:txBody>
                    <a:bodyPr/>
                    <a:lstStyle/>
                    <a:p>
                      <a:pPr>
                        <a:lnSpc>
                          <a:spcPct val="150000"/>
                        </a:lnSpc>
                        <a:buNone/>
                      </a:pPr>
                      <a:r>
                        <a:rPr lang="en-US" sz="1600" dirty="0">
                          <a:effectLst/>
                          <a:latin typeface="Segoe UI"/>
                        </a:rPr>
                        <a:t>  Video (1=Implemental)</a:t>
                      </a:r>
                    </a:p>
                  </a:txBody>
                  <a:tcPr marL="0" marR="0" marT="0" marB="0" anchor="ctr"/>
                </a:tc>
                <a:tc>
                  <a:txBody>
                    <a:bodyPr/>
                    <a:lstStyle/>
                    <a:p>
                      <a:pPr algn="ctr">
                        <a:lnSpc>
                          <a:spcPct val="150000"/>
                        </a:lnSpc>
                        <a:buNone/>
                      </a:pPr>
                      <a:r>
                        <a:rPr lang="en-US" sz="1600" dirty="0">
                          <a:latin typeface="Segoe UI"/>
                        </a:rPr>
                        <a:t>0.710573986</a:t>
                      </a:r>
                    </a:p>
                  </a:txBody>
                  <a:tcPr marL="0" marR="0" marT="0" marB="0" anchor="ctr"/>
                </a:tc>
                <a:tc>
                  <a:txBody>
                    <a:bodyPr/>
                    <a:lstStyle/>
                    <a:p>
                      <a:pPr algn="ctr">
                        <a:lnSpc>
                          <a:spcPct val="150000"/>
                        </a:lnSpc>
                        <a:buNone/>
                      </a:pPr>
                      <a:r>
                        <a:rPr lang="en-US" sz="1600" dirty="0">
                          <a:latin typeface="Segoe UI"/>
                        </a:rPr>
                        <a:t>2.035159076</a:t>
                      </a:r>
                    </a:p>
                  </a:txBody>
                  <a:tcPr marL="0" marR="0" marT="0" marB="0" anchor="ctr"/>
                </a:tc>
                <a:tc>
                  <a:txBody>
                    <a:bodyPr/>
                    <a:lstStyle/>
                    <a:p>
                      <a:pPr algn="ctr">
                        <a:lnSpc>
                          <a:spcPct val="150000"/>
                        </a:lnSpc>
                        <a:buNone/>
                      </a:pPr>
                      <a:r>
                        <a:rPr lang="en-US" sz="1600" dirty="0">
                          <a:latin typeface="Segoe UI"/>
                        </a:rPr>
                        <a:t>3.12581E-06</a:t>
                      </a:r>
                    </a:p>
                  </a:txBody>
                  <a:tcPr marL="0" marR="0" marT="0" marB="0" anchor="ctr"/>
                </a:tc>
                <a:tc>
                  <a:txBody>
                    <a:bodyPr/>
                    <a:lstStyle/>
                    <a:p>
                      <a:pPr algn="ctr">
                        <a:lnSpc>
                          <a:spcPct val="150000"/>
                        </a:lnSpc>
                        <a:buNone/>
                      </a:pPr>
                      <a:r>
                        <a:rPr lang="en-US" sz="1600" dirty="0">
                          <a:latin typeface="Segoe UI"/>
                        </a:rPr>
                        <a:t>Yes</a:t>
                      </a:r>
                    </a:p>
                  </a:txBody>
                  <a:tcPr marL="0" marR="0" marT="0" marB="0" anchor="ctr"/>
                </a:tc>
                <a:extLst>
                  <a:ext uri="{0D108BD9-81ED-4DB2-BD59-A6C34878D82A}">
                    <a16:rowId xmlns:a16="http://schemas.microsoft.com/office/drawing/2014/main" val="3581515931"/>
                  </a:ext>
                </a:extLst>
              </a:tr>
              <a:tr h="182880">
                <a:tc>
                  <a:txBody>
                    <a:bodyPr/>
                    <a:lstStyle/>
                    <a:p>
                      <a:pPr>
                        <a:lnSpc>
                          <a:spcPct val="150000"/>
                        </a:lnSpc>
                        <a:buNone/>
                      </a:pPr>
                      <a:r>
                        <a:rPr lang="en-US" sz="1600" dirty="0">
                          <a:effectLst/>
                          <a:latin typeface="Segoe UI"/>
                        </a:rPr>
                        <a:t>  </a:t>
                      </a:r>
                      <a:r>
                        <a:rPr lang="en-US" sz="1600" err="1">
                          <a:effectLst/>
                          <a:latin typeface="Segoe UI"/>
                        </a:rPr>
                        <a:t>Tagline×Video</a:t>
                      </a:r>
                      <a:r>
                        <a:rPr lang="en-US" sz="1600" dirty="0">
                          <a:effectLst/>
                          <a:latin typeface="Segoe UI"/>
                        </a:rPr>
                        <a:t> Interaction</a:t>
                      </a:r>
                    </a:p>
                  </a:txBody>
                  <a:tcPr marL="0" marR="0" marT="0" marB="0" anchor="ctr"/>
                </a:tc>
                <a:tc>
                  <a:txBody>
                    <a:bodyPr/>
                    <a:lstStyle/>
                    <a:p>
                      <a:pPr algn="ctr">
                        <a:lnSpc>
                          <a:spcPct val="150000"/>
                        </a:lnSpc>
                        <a:buNone/>
                      </a:pPr>
                      <a:r>
                        <a:rPr lang="en-US" sz="1600" dirty="0">
                          <a:latin typeface="Segoe UI"/>
                        </a:rPr>
                        <a:t>-0.281948581</a:t>
                      </a:r>
                    </a:p>
                  </a:txBody>
                  <a:tcPr marL="0" marR="0" marT="0" marB="0" anchor="ctr"/>
                </a:tc>
                <a:tc>
                  <a:txBody>
                    <a:bodyPr/>
                    <a:lstStyle/>
                    <a:p>
                      <a:pPr algn="ctr">
                        <a:lnSpc>
                          <a:spcPct val="150000"/>
                        </a:lnSpc>
                        <a:buNone/>
                      </a:pPr>
                      <a:r>
                        <a:rPr lang="en-US" sz="1600" dirty="0">
                          <a:latin typeface="Segoe UI"/>
                        </a:rPr>
                        <a:t>0.754312469</a:t>
                      </a:r>
                    </a:p>
                  </a:txBody>
                  <a:tcPr marL="0" marR="0" marT="0" marB="0" anchor="ctr"/>
                </a:tc>
                <a:tc>
                  <a:txBody>
                    <a:bodyPr/>
                    <a:lstStyle/>
                    <a:p>
                      <a:pPr algn="ctr">
                        <a:lnSpc>
                          <a:spcPct val="150000"/>
                        </a:lnSpc>
                        <a:buNone/>
                      </a:pPr>
                      <a:r>
                        <a:rPr lang="en-US" sz="1600" dirty="0">
                          <a:latin typeface="Segoe UI"/>
                        </a:rPr>
                        <a:t>0.184770719</a:t>
                      </a:r>
                    </a:p>
                  </a:txBody>
                  <a:tcPr marL="0" marR="0" marT="0" marB="0" anchor="ctr"/>
                </a:tc>
                <a:tc>
                  <a:txBody>
                    <a:bodyPr/>
                    <a:lstStyle/>
                    <a:p>
                      <a:pPr algn="ctr">
                        <a:lnSpc>
                          <a:spcPct val="150000"/>
                        </a:lnSpc>
                        <a:buNone/>
                      </a:pPr>
                      <a:r>
                        <a:rPr lang="en-US" sz="1600" dirty="0">
                          <a:latin typeface="Segoe UI"/>
                        </a:rPr>
                        <a:t>No</a:t>
                      </a:r>
                    </a:p>
                  </a:txBody>
                  <a:tcPr marL="0" marR="0" marT="0" marB="0" anchor="ctr"/>
                </a:tc>
                <a:extLst>
                  <a:ext uri="{0D108BD9-81ED-4DB2-BD59-A6C34878D82A}">
                    <a16:rowId xmlns:a16="http://schemas.microsoft.com/office/drawing/2014/main" val="368932607"/>
                  </a:ext>
                </a:extLst>
              </a:tr>
              <a:tr h="182880">
                <a:tc>
                  <a:txBody>
                    <a:bodyPr/>
                    <a:lstStyle/>
                    <a:p>
                      <a:pPr>
                        <a:lnSpc>
                          <a:spcPct val="150000"/>
                        </a:lnSpc>
                        <a:buNone/>
                      </a:pPr>
                      <a:r>
                        <a:rPr lang="en-US" sz="1600" dirty="0">
                          <a:effectLst/>
                          <a:latin typeface="Segoe UI"/>
                        </a:rPr>
                        <a:t>  Decision Time (seconds)</a:t>
                      </a:r>
                    </a:p>
                  </a:txBody>
                  <a:tcPr marL="0" marR="0" marT="0" marB="0" anchor="ctr"/>
                </a:tc>
                <a:tc>
                  <a:txBody>
                    <a:bodyPr/>
                    <a:lstStyle/>
                    <a:p>
                      <a:pPr algn="ctr">
                        <a:lnSpc>
                          <a:spcPct val="150000"/>
                        </a:lnSpc>
                        <a:buNone/>
                      </a:pPr>
                      <a:r>
                        <a:rPr lang="en-US" sz="1600" dirty="0">
                          <a:latin typeface="Segoe UI"/>
                        </a:rPr>
                        <a:t>0.003830308</a:t>
                      </a:r>
                    </a:p>
                  </a:txBody>
                  <a:tcPr marL="0" marR="0" marT="0" marB="0" anchor="ctr"/>
                </a:tc>
                <a:tc>
                  <a:txBody>
                    <a:bodyPr/>
                    <a:lstStyle/>
                    <a:p>
                      <a:pPr algn="ctr">
                        <a:lnSpc>
                          <a:spcPct val="150000"/>
                        </a:lnSpc>
                        <a:buNone/>
                      </a:pPr>
                      <a:r>
                        <a:rPr lang="en-US" sz="1600" dirty="0">
                          <a:latin typeface="Segoe UI"/>
                        </a:rPr>
                        <a:t>1.003837653</a:t>
                      </a:r>
                    </a:p>
                  </a:txBody>
                  <a:tcPr marL="0" marR="0" marT="0" marB="0" anchor="ctr"/>
                </a:tc>
                <a:tc>
                  <a:txBody>
                    <a:bodyPr/>
                    <a:lstStyle/>
                    <a:p>
                      <a:pPr algn="ctr">
                        <a:lnSpc>
                          <a:spcPct val="150000"/>
                        </a:lnSpc>
                        <a:buNone/>
                      </a:pPr>
                      <a:r>
                        <a:rPr lang="en-US" sz="1600" dirty="0">
                          <a:latin typeface="Segoe UI"/>
                        </a:rPr>
                        <a:t>1.93052E-07</a:t>
                      </a:r>
                    </a:p>
                  </a:txBody>
                  <a:tcPr marL="0" marR="0" marT="0" marB="0" anchor="ctr"/>
                </a:tc>
                <a:tc>
                  <a:txBody>
                    <a:bodyPr/>
                    <a:lstStyle/>
                    <a:p>
                      <a:pPr algn="ctr">
                        <a:lnSpc>
                          <a:spcPct val="150000"/>
                        </a:lnSpc>
                        <a:buNone/>
                      </a:pPr>
                      <a:r>
                        <a:rPr lang="en-US" sz="1600" dirty="0">
                          <a:latin typeface="Segoe UI"/>
                        </a:rPr>
                        <a:t>Yes</a:t>
                      </a:r>
                    </a:p>
                  </a:txBody>
                  <a:tcPr marL="0" marR="0" marT="0" marB="0" anchor="ctr"/>
                </a:tc>
                <a:extLst>
                  <a:ext uri="{0D108BD9-81ED-4DB2-BD59-A6C34878D82A}">
                    <a16:rowId xmlns:a16="http://schemas.microsoft.com/office/drawing/2014/main" val="3224184079"/>
                  </a:ext>
                </a:extLst>
              </a:tr>
              <a:tr h="182880">
                <a:tc>
                  <a:txBody>
                    <a:bodyPr/>
                    <a:lstStyle/>
                    <a:p>
                      <a:pPr>
                        <a:lnSpc>
                          <a:spcPct val="150000"/>
                        </a:lnSpc>
                        <a:buNone/>
                      </a:pPr>
                      <a:r>
                        <a:rPr lang="en-US" sz="1600" dirty="0">
                          <a:effectLst/>
                          <a:latin typeface="Segoe UI"/>
                        </a:rPr>
                        <a:t>  Confidence Rating</a:t>
                      </a:r>
                    </a:p>
                  </a:txBody>
                  <a:tcPr marL="0" marR="0" marT="0" marB="0" anchor="ctr"/>
                </a:tc>
                <a:tc>
                  <a:txBody>
                    <a:bodyPr/>
                    <a:lstStyle/>
                    <a:p>
                      <a:pPr algn="ctr">
                        <a:lnSpc>
                          <a:spcPct val="150000"/>
                        </a:lnSpc>
                        <a:buNone/>
                      </a:pPr>
                      <a:r>
                        <a:rPr lang="en-US" sz="1600" dirty="0">
                          <a:latin typeface="Segoe UI"/>
                        </a:rPr>
                        <a:t>0.307514146</a:t>
                      </a:r>
                    </a:p>
                  </a:txBody>
                  <a:tcPr marL="0" marR="0" marT="0" marB="0" anchor="ctr"/>
                </a:tc>
                <a:tc>
                  <a:txBody>
                    <a:bodyPr/>
                    <a:lstStyle/>
                    <a:p>
                      <a:pPr algn="ctr">
                        <a:lnSpc>
                          <a:spcPct val="150000"/>
                        </a:lnSpc>
                        <a:buNone/>
                      </a:pPr>
                      <a:r>
                        <a:rPr lang="en-US" sz="1600" dirty="0">
                          <a:latin typeface="Segoe UI"/>
                        </a:rPr>
                        <a:t>1.360040047</a:t>
                      </a:r>
                    </a:p>
                  </a:txBody>
                  <a:tcPr marL="0" marR="0" marT="0" marB="0" anchor="ctr"/>
                </a:tc>
                <a:tc>
                  <a:txBody>
                    <a:bodyPr/>
                    <a:lstStyle/>
                    <a:p>
                      <a:pPr algn="ctr">
                        <a:lnSpc>
                          <a:spcPct val="150000"/>
                        </a:lnSpc>
                        <a:buNone/>
                      </a:pPr>
                      <a:r>
                        <a:rPr lang="en-US" sz="1600" dirty="0">
                          <a:latin typeface="Segoe UI"/>
                        </a:rPr>
                        <a:t>1.22406E-14</a:t>
                      </a:r>
                    </a:p>
                  </a:txBody>
                  <a:tcPr marL="0" marR="0" marT="0" marB="0" anchor="ctr"/>
                </a:tc>
                <a:tc>
                  <a:txBody>
                    <a:bodyPr/>
                    <a:lstStyle/>
                    <a:p>
                      <a:pPr algn="ctr">
                        <a:lnSpc>
                          <a:spcPct val="150000"/>
                        </a:lnSpc>
                        <a:buNone/>
                      </a:pPr>
                      <a:r>
                        <a:rPr lang="en-US" sz="1600" dirty="0">
                          <a:latin typeface="Segoe UI"/>
                        </a:rPr>
                        <a:t>Yes</a:t>
                      </a:r>
                    </a:p>
                  </a:txBody>
                  <a:tcPr marL="0" marR="0" marT="0" marB="0" anchor="ctr"/>
                </a:tc>
                <a:extLst>
                  <a:ext uri="{0D108BD9-81ED-4DB2-BD59-A6C34878D82A}">
                    <a16:rowId xmlns:a16="http://schemas.microsoft.com/office/drawing/2014/main" val="711922438"/>
                  </a:ext>
                </a:extLst>
              </a:tr>
              <a:tr h="182880">
                <a:tc>
                  <a:txBody>
                    <a:bodyPr/>
                    <a:lstStyle/>
                    <a:p>
                      <a:pPr>
                        <a:lnSpc>
                          <a:spcPct val="150000"/>
                        </a:lnSpc>
                        <a:buNone/>
                      </a:pPr>
                      <a:r>
                        <a:rPr lang="en-US" sz="1600" dirty="0">
                          <a:effectLst/>
                          <a:latin typeface="Segoe UI"/>
                        </a:rPr>
                        <a:t>  Age (years)</a:t>
                      </a:r>
                    </a:p>
                  </a:txBody>
                  <a:tcPr marL="0" marR="0" marT="0" marB="0" anchor="ctr"/>
                </a:tc>
                <a:tc>
                  <a:txBody>
                    <a:bodyPr/>
                    <a:lstStyle/>
                    <a:p>
                      <a:pPr algn="ctr">
                        <a:lnSpc>
                          <a:spcPct val="150000"/>
                        </a:lnSpc>
                        <a:buNone/>
                      </a:pPr>
                      <a:r>
                        <a:rPr lang="en-US" sz="1600" dirty="0">
                          <a:latin typeface="Segoe UI"/>
                        </a:rPr>
                        <a:t>-0.004016993</a:t>
                      </a:r>
                    </a:p>
                  </a:txBody>
                  <a:tcPr marL="0" marR="0" marT="0" marB="0" anchor="ctr"/>
                </a:tc>
                <a:tc>
                  <a:txBody>
                    <a:bodyPr/>
                    <a:lstStyle/>
                    <a:p>
                      <a:pPr algn="ctr">
                        <a:lnSpc>
                          <a:spcPct val="150000"/>
                        </a:lnSpc>
                        <a:buNone/>
                      </a:pPr>
                      <a:r>
                        <a:rPr lang="en-US" sz="1600" dirty="0">
                          <a:latin typeface="Segoe UI"/>
                        </a:rPr>
                        <a:t>0.995991065</a:t>
                      </a:r>
                    </a:p>
                  </a:txBody>
                  <a:tcPr marL="0" marR="0" marT="0" marB="0" anchor="ctr"/>
                </a:tc>
                <a:tc>
                  <a:txBody>
                    <a:bodyPr/>
                    <a:lstStyle/>
                    <a:p>
                      <a:pPr algn="ctr">
                        <a:lnSpc>
                          <a:spcPct val="150000"/>
                        </a:lnSpc>
                        <a:buNone/>
                      </a:pPr>
                      <a:r>
                        <a:rPr lang="en-US" sz="1600" dirty="0">
                          <a:latin typeface="Segoe UI"/>
                        </a:rPr>
                        <a:t>0.385981956</a:t>
                      </a:r>
                    </a:p>
                  </a:txBody>
                  <a:tcPr marL="0" marR="0" marT="0" marB="0" anchor="ctr"/>
                </a:tc>
                <a:tc>
                  <a:txBody>
                    <a:bodyPr/>
                    <a:lstStyle/>
                    <a:p>
                      <a:pPr algn="ctr">
                        <a:lnSpc>
                          <a:spcPct val="150000"/>
                        </a:lnSpc>
                        <a:buNone/>
                      </a:pPr>
                      <a:r>
                        <a:rPr lang="en-US" sz="1600" dirty="0">
                          <a:latin typeface="Segoe UI"/>
                        </a:rPr>
                        <a:t>No</a:t>
                      </a:r>
                    </a:p>
                  </a:txBody>
                  <a:tcPr marL="0" marR="0" marT="0" marB="0" anchor="ctr"/>
                </a:tc>
                <a:extLst>
                  <a:ext uri="{0D108BD9-81ED-4DB2-BD59-A6C34878D82A}">
                    <a16:rowId xmlns:a16="http://schemas.microsoft.com/office/drawing/2014/main" val="900154034"/>
                  </a:ext>
                </a:extLst>
              </a:tr>
              <a:tr h="182880">
                <a:tc>
                  <a:txBody>
                    <a:bodyPr/>
                    <a:lstStyle/>
                    <a:p>
                      <a:pPr>
                        <a:lnSpc>
                          <a:spcPct val="150000"/>
                        </a:lnSpc>
                        <a:buNone/>
                      </a:pPr>
                      <a:r>
                        <a:rPr lang="en-US" sz="1600" dirty="0">
                          <a:effectLst/>
                          <a:latin typeface="Segoe UI"/>
                        </a:rPr>
                        <a:t>  Gender (1=Male)</a:t>
                      </a:r>
                    </a:p>
                  </a:txBody>
                  <a:tcPr marL="0" marR="0" marT="0" marB="0" anchor="ctr"/>
                </a:tc>
                <a:tc>
                  <a:txBody>
                    <a:bodyPr/>
                    <a:lstStyle/>
                    <a:p>
                      <a:pPr algn="ctr">
                        <a:lnSpc>
                          <a:spcPct val="150000"/>
                        </a:lnSpc>
                        <a:buNone/>
                      </a:pPr>
                      <a:r>
                        <a:rPr lang="en-US" sz="1600" dirty="0">
                          <a:latin typeface="Segoe UI"/>
                        </a:rPr>
                        <a:t>-0.110751239</a:t>
                      </a:r>
                    </a:p>
                  </a:txBody>
                  <a:tcPr marL="0" marR="0" marT="0" marB="0" anchor="ctr"/>
                </a:tc>
                <a:tc>
                  <a:txBody>
                    <a:bodyPr/>
                    <a:lstStyle/>
                    <a:p>
                      <a:pPr algn="ctr">
                        <a:lnSpc>
                          <a:spcPct val="150000"/>
                        </a:lnSpc>
                        <a:buNone/>
                      </a:pPr>
                      <a:r>
                        <a:rPr lang="en-US" sz="1600" dirty="0">
                          <a:latin typeface="Segoe UI"/>
                        </a:rPr>
                        <a:t>0.895161403</a:t>
                      </a:r>
                    </a:p>
                  </a:txBody>
                  <a:tcPr marL="0" marR="0" marT="0" marB="0" anchor="ctr"/>
                </a:tc>
                <a:tc>
                  <a:txBody>
                    <a:bodyPr/>
                    <a:lstStyle/>
                    <a:p>
                      <a:pPr algn="ctr">
                        <a:lnSpc>
                          <a:spcPct val="150000"/>
                        </a:lnSpc>
                        <a:buNone/>
                      </a:pPr>
                      <a:r>
                        <a:rPr lang="en-US" sz="1600" dirty="0">
                          <a:latin typeface="Segoe UI"/>
                        </a:rPr>
                        <a:t>0.306802223</a:t>
                      </a:r>
                    </a:p>
                  </a:txBody>
                  <a:tcPr marL="0" marR="0" marT="0" marB="0" anchor="ctr"/>
                </a:tc>
                <a:tc>
                  <a:txBody>
                    <a:bodyPr/>
                    <a:lstStyle/>
                    <a:p>
                      <a:pPr algn="ctr">
                        <a:lnSpc>
                          <a:spcPct val="150000"/>
                        </a:lnSpc>
                        <a:buNone/>
                      </a:pPr>
                      <a:r>
                        <a:rPr lang="en-US" sz="1600" dirty="0">
                          <a:latin typeface="Segoe UI"/>
                        </a:rPr>
                        <a:t>No</a:t>
                      </a:r>
                    </a:p>
                  </a:txBody>
                  <a:tcPr marL="0" marR="0" marT="0" marB="0" anchor="ctr"/>
                </a:tc>
                <a:extLst>
                  <a:ext uri="{0D108BD9-81ED-4DB2-BD59-A6C34878D82A}">
                    <a16:rowId xmlns:a16="http://schemas.microsoft.com/office/drawing/2014/main" val="2216398668"/>
                  </a:ext>
                </a:extLst>
              </a:tr>
            </a:tbl>
          </a:graphicData>
        </a:graphic>
      </p:graphicFrame>
      <p:graphicFrame>
        <p:nvGraphicFramePr>
          <p:cNvPr id="10" name="Table 9">
            <a:extLst>
              <a:ext uri="{FF2B5EF4-FFF2-40B4-BE49-F238E27FC236}">
                <a16:creationId xmlns:a16="http://schemas.microsoft.com/office/drawing/2014/main" id="{24653B1C-61B3-C264-752D-D480F2F5A13E}"/>
              </a:ext>
            </a:extLst>
          </p:cNvPr>
          <p:cNvGraphicFramePr>
            <a:graphicFrameLocks noGrp="1"/>
          </p:cNvGraphicFramePr>
          <p:nvPr>
            <p:extLst>
              <p:ext uri="{D42A27DB-BD31-4B8C-83A1-F6EECF244321}">
                <p14:modId xmlns:p14="http://schemas.microsoft.com/office/powerpoint/2010/main" val="1977166633"/>
              </p:ext>
            </p:extLst>
          </p:nvPr>
        </p:nvGraphicFramePr>
        <p:xfrm>
          <a:off x="1510861" y="1248104"/>
          <a:ext cx="9183772" cy="1828800"/>
        </p:xfrm>
        <a:graphic>
          <a:graphicData uri="http://schemas.openxmlformats.org/drawingml/2006/table">
            <a:tbl>
              <a:tblPr firstRow="1" bandRow="1">
                <a:tableStyleId>{2D5ABB26-0587-4C30-8999-92F81FD0307C}</a:tableStyleId>
              </a:tblPr>
              <a:tblGrid>
                <a:gridCol w="3283454">
                  <a:extLst>
                    <a:ext uri="{9D8B030D-6E8A-4147-A177-3AD203B41FA5}">
                      <a16:colId xmlns:a16="http://schemas.microsoft.com/office/drawing/2014/main" val="4076426339"/>
                    </a:ext>
                  </a:extLst>
                </a:gridCol>
                <a:gridCol w="5900318">
                  <a:extLst>
                    <a:ext uri="{9D8B030D-6E8A-4147-A177-3AD203B41FA5}">
                      <a16:colId xmlns:a16="http://schemas.microsoft.com/office/drawing/2014/main" val="3503588342"/>
                    </a:ext>
                  </a:extLst>
                </a:gridCol>
              </a:tblGrid>
              <a:tr h="814551">
                <a:tc>
                  <a:txBody>
                    <a:bodyPr/>
                    <a:lstStyle/>
                    <a:p>
                      <a:pPr lvl="0" algn="ctr">
                        <a:buNone/>
                      </a:pPr>
                      <a:r>
                        <a:rPr lang="en-CA" sz="1800" u="none" strike="noStrike" noProof="0" dirty="0">
                          <a:solidFill>
                            <a:srgbClr val="000000"/>
                          </a:solidFill>
                        </a:rPr>
                        <a:t>Psychological factors and information design matter as much as demographics.   </a:t>
                      </a:r>
                      <a:endParaRPr lang="en-US" dirty="0"/>
                    </a:p>
                    <a:p>
                      <a:pPr lvl="0" algn="ctr">
                        <a:buNone/>
                      </a:pPr>
                      <a:endParaRPr lang="en-CA" sz="600" u="none" strike="noStrike" noProof="0" dirty="0">
                        <a:solidFill>
                          <a:srgbClr val="000000"/>
                        </a:solidFill>
                      </a:endParaRPr>
                    </a:p>
                    <a:p>
                      <a:pPr lvl="0" algn="ctr">
                        <a:buNone/>
                      </a:pPr>
                      <a:r>
                        <a:rPr lang="en-CA" sz="1800" u="none" strike="noStrike" noProof="0" dirty="0">
                          <a:solidFill>
                            <a:srgbClr val="000000"/>
                          </a:solidFill>
                        </a:rPr>
                        <a:t>My logistic regression model predicted optimal choices with 71.3% accuracy(AUC=0.742).</a:t>
                      </a:r>
                      <a:endParaRPr lang="en-US"/>
                    </a:p>
                  </a:txBody>
                  <a:tcPr/>
                </a:tc>
                <a:tc>
                  <a:txBody>
                    <a:bodyPr/>
                    <a:lstStyle/>
                    <a:p>
                      <a:pPr marL="0" marR="0" lvl="0" indent="0" algn="l">
                        <a:lnSpc>
                          <a:spcPct val="100000"/>
                        </a:lnSpc>
                        <a:spcBef>
                          <a:spcPts val="0"/>
                        </a:spcBef>
                        <a:spcAft>
                          <a:spcPts val="0"/>
                        </a:spcAft>
                        <a:buNone/>
                      </a:pPr>
                      <a:r>
                        <a:rPr lang="en-CA" sz="1800" u="none" strike="noStrike" noProof="0" dirty="0">
                          <a:solidFill>
                            <a:srgbClr val="000000"/>
                          </a:solidFill>
                        </a:rPr>
                        <a:t>Key predictors included:</a:t>
                      </a:r>
                      <a:r>
                        <a:rPr lang="en-US" sz="1800" u="none" strike="noStrike" noProof="0" dirty="0">
                          <a:solidFill>
                            <a:srgbClr val="000000"/>
                          </a:solidFill>
                        </a:rPr>
                        <a:t> </a:t>
                      </a:r>
                      <a:endParaRPr lang="en-US" sz="1000" u="none" strike="noStrike" noProof="0" dirty="0">
                        <a:solidFill>
                          <a:srgbClr val="000000"/>
                        </a:solidFill>
                      </a:endParaRPr>
                    </a:p>
                    <a:p>
                      <a:pPr marL="228600" marR="0" lvl="0" indent="-228600" algn="l">
                        <a:lnSpc>
                          <a:spcPct val="100000"/>
                        </a:lnSpc>
                        <a:spcBef>
                          <a:spcPts val="0"/>
                        </a:spcBef>
                        <a:spcAft>
                          <a:spcPts val="0"/>
                        </a:spcAft>
                        <a:buClr>
                          <a:srgbClr val="FFFFFF"/>
                        </a:buClr>
                        <a:buFont typeface="Symbol,Sans-Serif"/>
                        <a:buChar char="•"/>
                      </a:pPr>
                      <a:r>
                        <a:rPr lang="en-CA" sz="1800" u="none" strike="noStrike" noProof="0" dirty="0">
                          <a:solidFill>
                            <a:srgbClr val="000000"/>
                          </a:solidFill>
                        </a:rPr>
                        <a:t>Taglines reduced odds by 34% (p=0.008)</a:t>
                      </a:r>
                      <a:r>
                        <a:rPr lang="en-US" sz="1800" u="none" strike="noStrike" noProof="0" dirty="0">
                          <a:solidFill>
                            <a:srgbClr val="000000"/>
                          </a:solidFill>
                        </a:rPr>
                        <a:t> </a:t>
                      </a:r>
                    </a:p>
                    <a:p>
                      <a:pPr marL="228600" marR="0" lvl="0" indent="-228600" algn="l">
                        <a:lnSpc>
                          <a:spcPct val="100000"/>
                        </a:lnSpc>
                        <a:spcBef>
                          <a:spcPts val="0"/>
                        </a:spcBef>
                        <a:spcAft>
                          <a:spcPts val="0"/>
                        </a:spcAft>
                        <a:buClr>
                          <a:srgbClr val="FFFFFF"/>
                        </a:buClr>
                        <a:buFont typeface="Symbol,Sans-Serif"/>
                        <a:buChar char="•"/>
                      </a:pPr>
                      <a:r>
                        <a:rPr lang="en-CA" sz="1800" u="none" strike="noStrike" noProof="0" dirty="0">
                          <a:solidFill>
                            <a:srgbClr val="000000"/>
                          </a:solidFill>
                        </a:rPr>
                        <a:t>Instructional videos increased odds by 62% (p=0.003)</a:t>
                      </a:r>
                      <a:r>
                        <a:rPr lang="en-US" sz="1800" u="none" strike="noStrike" noProof="0" dirty="0">
                          <a:solidFill>
                            <a:srgbClr val="000000"/>
                          </a:solidFill>
                        </a:rPr>
                        <a:t> </a:t>
                      </a:r>
                    </a:p>
                    <a:p>
                      <a:pPr marL="228600" marR="0" lvl="0" indent="-228600" algn="l">
                        <a:lnSpc>
                          <a:spcPct val="100000"/>
                        </a:lnSpc>
                        <a:spcBef>
                          <a:spcPts val="0"/>
                        </a:spcBef>
                        <a:spcAft>
                          <a:spcPts val="0"/>
                        </a:spcAft>
                        <a:buClr>
                          <a:srgbClr val="FFFFFF"/>
                        </a:buClr>
                        <a:buFont typeface="Symbol,Sans-Serif"/>
                        <a:buChar char="•"/>
                      </a:pPr>
                      <a:r>
                        <a:rPr lang="en-CA" sz="1800" u="none" strike="noStrike" noProof="0" dirty="0">
                          <a:solidFill>
                            <a:srgbClr val="000000"/>
                          </a:solidFill>
                        </a:rPr>
                        <a:t>Confidence increased odds by 36% per point (p&lt;0.001)</a:t>
                      </a:r>
                      <a:r>
                        <a:rPr lang="en-US" sz="1800" u="none" strike="noStrike" noProof="0" dirty="0">
                          <a:solidFill>
                            <a:srgbClr val="000000"/>
                          </a:solidFill>
                        </a:rPr>
                        <a:t> </a:t>
                      </a:r>
                    </a:p>
                    <a:p>
                      <a:pPr marL="228600" marR="0" lvl="0" indent="-228600" algn="l">
                        <a:lnSpc>
                          <a:spcPct val="100000"/>
                        </a:lnSpc>
                        <a:spcBef>
                          <a:spcPts val="0"/>
                        </a:spcBef>
                        <a:spcAft>
                          <a:spcPts val="0"/>
                        </a:spcAft>
                        <a:buClr>
                          <a:srgbClr val="FFFFFF"/>
                        </a:buClr>
                        <a:buFont typeface="Symbol,Sans-Serif"/>
                        <a:buChar char="•"/>
                      </a:pPr>
                      <a:r>
                        <a:rPr lang="en-CA" sz="1800" u="none" strike="noStrike" noProof="0" dirty="0">
                          <a:solidFill>
                            <a:srgbClr val="000000"/>
                          </a:solidFill>
                        </a:rPr>
                        <a:t>Higher income increased odds by 23% per category(p=0.011)</a:t>
                      </a:r>
                      <a:r>
                        <a:rPr lang="en-US" sz="1800" u="none" strike="noStrike" noProof="0" dirty="0">
                          <a:solidFill>
                            <a:srgbClr val="000000"/>
                          </a:solidFill>
                        </a:rPr>
                        <a:t> </a:t>
                      </a:r>
                      <a:endParaRPr lang="en-US" dirty="0"/>
                    </a:p>
                  </a:txBody>
                  <a:tcPr/>
                </a:tc>
                <a:extLst>
                  <a:ext uri="{0D108BD9-81ED-4DB2-BD59-A6C34878D82A}">
                    <a16:rowId xmlns:a16="http://schemas.microsoft.com/office/drawing/2014/main" val="195526771"/>
                  </a:ext>
                </a:extLst>
              </a:tr>
            </a:tbl>
          </a:graphicData>
        </a:graphic>
      </p:graphicFrame>
    </p:spTree>
    <p:extLst>
      <p:ext uri="{BB962C8B-B14F-4D97-AF65-F5344CB8AC3E}">
        <p14:creationId xmlns:p14="http://schemas.microsoft.com/office/powerpoint/2010/main" val="357419149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EABA5F-3A2C-0643-90B0-5A7896FA7DB3}"/>
            </a:ext>
          </a:extLst>
        </p:cNvPr>
        <p:cNvGrpSpPr/>
        <p:nvPr/>
      </p:nvGrpSpPr>
      <p:grpSpPr>
        <a:xfrm>
          <a:off x="0" y="0"/>
          <a:ext cx="0" cy="0"/>
          <a:chOff x="0" y="0"/>
          <a:chExt cx="0" cy="0"/>
        </a:xfrm>
      </p:grpSpPr>
      <p:pic>
        <p:nvPicPr>
          <p:cNvPr id="5" name="Picture 4" descr="A blue background with a light&#10;&#10;AI-generated content may be incorrect.">
            <a:extLst>
              <a:ext uri="{FF2B5EF4-FFF2-40B4-BE49-F238E27FC236}">
                <a16:creationId xmlns:a16="http://schemas.microsoft.com/office/drawing/2014/main" id="{719956F6-C06F-FA0D-C740-739E1316B540}"/>
              </a:ext>
            </a:extLst>
          </p:cNvPr>
          <p:cNvPicPr>
            <a:picLocks noChangeAspect="1"/>
          </p:cNvPicPr>
          <p:nvPr/>
        </p:nvPicPr>
        <p:blipFill>
          <a:blip r:embed="rId2"/>
          <a:srcRect l="38" b="78831"/>
          <a:stretch>
            <a:fillRect/>
          </a:stretch>
        </p:blipFill>
        <p:spPr>
          <a:xfrm>
            <a:off x="-130939" y="-366982"/>
            <a:ext cx="12458624" cy="1461046"/>
          </a:xfrm>
          <a:prstGeom prst="rect">
            <a:avLst/>
          </a:prstGeom>
        </p:spPr>
      </p:pic>
      <p:sp>
        <p:nvSpPr>
          <p:cNvPr id="7" name="Title 1">
            <a:extLst>
              <a:ext uri="{FF2B5EF4-FFF2-40B4-BE49-F238E27FC236}">
                <a16:creationId xmlns:a16="http://schemas.microsoft.com/office/drawing/2014/main" id="{9E4FC5FE-B9BE-8E83-610D-AC76505F5C56}"/>
              </a:ext>
            </a:extLst>
          </p:cNvPr>
          <p:cNvSpPr txBox="1">
            <a:spLocks/>
          </p:cNvSpPr>
          <p:nvPr/>
        </p:nvSpPr>
        <p:spPr>
          <a:xfrm>
            <a:off x="838200" y="178219"/>
            <a:ext cx="10515600" cy="908619"/>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2800" b="1" dirty="0">
                <a:solidFill>
                  <a:srgbClr val="FFFFFF"/>
                </a:solidFill>
                <a:latin typeface="Bell MT"/>
              </a:rPr>
              <a:t>ETHICAL IMPLICATIONS</a:t>
            </a:r>
            <a:endParaRPr lang="en-US" dirty="0"/>
          </a:p>
        </p:txBody>
      </p:sp>
      <p:sp>
        <p:nvSpPr>
          <p:cNvPr id="8" name="TextBox 7">
            <a:extLst>
              <a:ext uri="{FF2B5EF4-FFF2-40B4-BE49-F238E27FC236}">
                <a16:creationId xmlns:a16="http://schemas.microsoft.com/office/drawing/2014/main" id="{1B0D2E01-C458-ACE6-93D1-A915D4748E93}"/>
              </a:ext>
            </a:extLst>
          </p:cNvPr>
          <p:cNvSpPr txBox="1"/>
          <p:nvPr/>
        </p:nvSpPr>
        <p:spPr>
          <a:xfrm>
            <a:off x="972206" y="1274379"/>
            <a:ext cx="10247585" cy="558802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CA" sz="1600" b="1" dirty="0">
                <a:latin typeface="Segoe UI"/>
                <a:ea typeface="Segoe UI"/>
                <a:cs typeface="Segoe UI"/>
              </a:rPr>
              <a:t>Theoretical Implications - </a:t>
            </a:r>
            <a:r>
              <a:rPr lang="en-CA" sz="1600" dirty="0">
                <a:latin typeface="Segoe UI"/>
                <a:ea typeface="Segoe UI"/>
                <a:cs typeface="Segoe UI"/>
              </a:rPr>
              <a:t>My findings challenge the assumption that more information leads to better decisions. Instead, information quality and structure prove more important than quantity. The results suggest excessive information worsen decision quality.  </a:t>
            </a:r>
            <a:endParaRPr lang="en-CA" sz="1600" dirty="0">
              <a:latin typeface="Segoe UI"/>
              <a:cs typeface="Segoe UI"/>
            </a:endParaRPr>
          </a:p>
          <a:p>
            <a:pPr rtl="0"/>
            <a:endParaRPr lang="en-US" sz="1600">
              <a:latin typeface="Segoe UI"/>
              <a:ea typeface="Segoe UI"/>
              <a:cs typeface="Segoe UI"/>
            </a:endParaRPr>
          </a:p>
          <a:p>
            <a:r>
              <a:rPr lang="en-CA" sz="1600" b="1" dirty="0">
                <a:latin typeface="Segoe UI"/>
                <a:ea typeface="Segoe UI"/>
                <a:cs typeface="Segoe UI"/>
              </a:rPr>
              <a:t>Practical Implications - </a:t>
            </a:r>
            <a:r>
              <a:rPr lang="en-CA" sz="1600" dirty="0">
                <a:latin typeface="Segoe UI"/>
                <a:ea typeface="Segoe UI"/>
                <a:cs typeface="Segoe UI"/>
              </a:rPr>
              <a:t>The worst-performing combination (baseline videos with taglines) represents common industry practice. Simple changes could immediately improve consumer outcomes.</a:t>
            </a:r>
            <a:r>
              <a:rPr lang="en-US" sz="1600" dirty="0">
                <a:latin typeface="Segoe UI"/>
                <a:ea typeface="Segoe UI"/>
                <a:cs typeface="Segoe UI"/>
              </a:rPr>
              <a:t> </a:t>
            </a:r>
          </a:p>
          <a:p>
            <a:pPr marL="742950" lvl="1" indent="-285750" rtl="0">
              <a:buFont typeface="Arial"/>
              <a:buChar char="•"/>
            </a:pPr>
            <a:r>
              <a:rPr lang="en-CA" sz="1600" dirty="0">
                <a:latin typeface="Segoe UI"/>
                <a:ea typeface="Times New Roman"/>
                <a:cs typeface="Segoe UI"/>
              </a:rPr>
              <a:t>Simplify marketing materials by removing non-essential taglines</a:t>
            </a:r>
            <a:r>
              <a:rPr lang="en-US" sz="1600" dirty="0">
                <a:latin typeface="Segoe UI"/>
                <a:ea typeface="Times New Roman"/>
                <a:cs typeface="Segoe UI"/>
              </a:rPr>
              <a:t> </a:t>
            </a:r>
          </a:p>
          <a:p>
            <a:pPr marL="742950" lvl="1" indent="-285750" rtl="0">
              <a:buFont typeface="Arial"/>
              <a:buChar char="•"/>
            </a:pPr>
            <a:r>
              <a:rPr lang="en-CA" sz="1600" dirty="0">
                <a:latin typeface="Segoe UI"/>
                <a:ea typeface="Times New Roman"/>
                <a:cs typeface="Segoe UI"/>
              </a:rPr>
              <a:t>Develop instructional content for complex products</a:t>
            </a:r>
            <a:r>
              <a:rPr lang="en-US" sz="1600" dirty="0">
                <a:latin typeface="Segoe UI"/>
                <a:ea typeface="Times New Roman"/>
                <a:cs typeface="Segoe UI"/>
              </a:rPr>
              <a:t> </a:t>
            </a:r>
          </a:p>
          <a:p>
            <a:pPr marL="742950" lvl="1" indent="-285750" rtl="0">
              <a:buFont typeface="Arial"/>
              <a:buChar char="•"/>
            </a:pPr>
            <a:r>
              <a:rPr lang="en-CA" sz="1600" dirty="0">
                <a:latin typeface="Segoe UI"/>
                <a:ea typeface="Times New Roman"/>
                <a:cs typeface="Segoe UI"/>
              </a:rPr>
              <a:t>Segment communications by demographic characteristics</a:t>
            </a:r>
            <a:r>
              <a:rPr lang="en-US" sz="1600" dirty="0">
                <a:latin typeface="Segoe UI"/>
                <a:ea typeface="Times New Roman"/>
                <a:cs typeface="Segoe UI"/>
              </a:rPr>
              <a:t> </a:t>
            </a:r>
          </a:p>
          <a:p>
            <a:pPr marL="742950" lvl="1" indent="-285750" rtl="0">
              <a:buFont typeface="Arial"/>
              <a:buChar char="•"/>
            </a:pPr>
            <a:r>
              <a:rPr lang="en-CA" sz="1600" dirty="0">
                <a:latin typeface="Segoe UI"/>
                <a:ea typeface="Times New Roman"/>
                <a:cs typeface="Segoe UI"/>
              </a:rPr>
              <a:t>Design for confidence-building through transparency</a:t>
            </a:r>
            <a:r>
              <a:rPr lang="en-US" sz="1600" dirty="0">
                <a:latin typeface="Segoe UI"/>
                <a:ea typeface="Times New Roman"/>
                <a:cs typeface="Segoe UI"/>
              </a:rPr>
              <a:t> </a:t>
            </a:r>
          </a:p>
          <a:p>
            <a:pPr rtl="0"/>
            <a:endParaRPr lang="en-US" sz="1600">
              <a:latin typeface="Segoe UI"/>
              <a:ea typeface="Segoe UI"/>
              <a:cs typeface="Segoe UI"/>
            </a:endParaRPr>
          </a:p>
          <a:p>
            <a:r>
              <a:rPr lang="en-CA" sz="1600" b="1" dirty="0">
                <a:latin typeface="Segoe UI"/>
                <a:ea typeface="Segoe UI"/>
                <a:cs typeface="Segoe UI"/>
              </a:rPr>
              <a:t>Ethical Considerations - </a:t>
            </a:r>
            <a:r>
              <a:rPr lang="en-CA" sz="1600" dirty="0">
                <a:latin typeface="Segoe UI"/>
                <a:ea typeface="Segoe UI"/>
                <a:cs typeface="Segoe UI"/>
              </a:rPr>
              <a:t>My findings raise many ethical questions about current marketing practices. Taglines increase decision time without improving outcomes. The disproportionate impact on vulnerable populations concerns me. Lower-income and less-educated consumers experience greater decision friction with fewer benefits, boosting financial inequality. </a:t>
            </a:r>
            <a:r>
              <a:rPr lang="en-US" sz="1600" dirty="0">
                <a:latin typeface="Segoe UI"/>
                <a:ea typeface="Segoe UI"/>
                <a:cs typeface="Segoe UI"/>
              </a:rPr>
              <a:t> </a:t>
            </a:r>
            <a:r>
              <a:rPr lang="en-CA" sz="1600" dirty="0">
                <a:latin typeface="Segoe UI"/>
                <a:ea typeface="Segoe UI"/>
                <a:cs typeface="Segoe UI"/>
              </a:rPr>
              <a:t>Financial institutions have responsibilities beyond profit maximization, improving decision quality through better marketing design is one of them.</a:t>
            </a:r>
          </a:p>
          <a:p>
            <a:endParaRPr lang="en-US" sz="1600" dirty="0">
              <a:latin typeface="Segoe UI"/>
              <a:cs typeface="Segoe UI"/>
            </a:endParaRPr>
          </a:p>
          <a:p>
            <a:pPr rtl="0"/>
            <a:r>
              <a:rPr lang="en-CA" sz="1600" dirty="0">
                <a:latin typeface="Segoe UI"/>
                <a:ea typeface="Segoe UI"/>
                <a:cs typeface="Segoe UI"/>
              </a:rPr>
              <a:t>3 Ethical principles for financial marketing:</a:t>
            </a:r>
            <a:r>
              <a:rPr lang="en-US" sz="1600" dirty="0">
                <a:latin typeface="Segoe UI"/>
                <a:ea typeface="Segoe UI"/>
                <a:cs typeface="Segoe UI"/>
              </a:rPr>
              <a:t> </a:t>
            </a:r>
          </a:p>
          <a:p>
            <a:pPr marL="742950" lvl="1" indent="-285750" rtl="0">
              <a:buFont typeface="Arial"/>
              <a:buChar char="•"/>
            </a:pPr>
            <a:r>
              <a:rPr lang="en-CA" sz="1600" dirty="0">
                <a:latin typeface="Segoe UI"/>
                <a:ea typeface="Times New Roman"/>
                <a:cs typeface="Segoe UI"/>
              </a:rPr>
              <a:t>Transparency: Clearly distinguish marketing from educational content</a:t>
            </a:r>
            <a:r>
              <a:rPr lang="en-US" sz="1600" dirty="0">
                <a:latin typeface="Segoe UI"/>
                <a:ea typeface="Times New Roman"/>
                <a:cs typeface="Segoe UI"/>
              </a:rPr>
              <a:t> </a:t>
            </a:r>
          </a:p>
          <a:p>
            <a:pPr marL="742950" lvl="1" indent="-285750" rtl="0">
              <a:buFont typeface="Arial"/>
              <a:buChar char="•"/>
            </a:pPr>
            <a:r>
              <a:rPr lang="en-CA" sz="1600" dirty="0">
                <a:latin typeface="Segoe UI"/>
                <a:ea typeface="Times New Roman"/>
                <a:cs typeface="Segoe UI"/>
              </a:rPr>
              <a:t>Protection: Shield vulnerable consumers from unnecessary complexity</a:t>
            </a:r>
            <a:r>
              <a:rPr lang="en-US" sz="1600" dirty="0">
                <a:latin typeface="Segoe UI"/>
                <a:ea typeface="Times New Roman"/>
                <a:cs typeface="Segoe UI"/>
              </a:rPr>
              <a:t> </a:t>
            </a:r>
          </a:p>
          <a:p>
            <a:pPr marL="742950" lvl="1" indent="-285750" rtl="0">
              <a:buFont typeface="Arial"/>
              <a:buChar char="•"/>
            </a:pPr>
            <a:r>
              <a:rPr lang="en-CA" sz="1600" dirty="0">
                <a:latin typeface="Segoe UI"/>
                <a:ea typeface="Times New Roman"/>
                <a:cs typeface="Segoe UI"/>
              </a:rPr>
              <a:t>Beneficence: Design for consumer understanding, not just conversion</a:t>
            </a:r>
            <a:r>
              <a:rPr lang="en-US" sz="1600" dirty="0">
                <a:latin typeface="Segoe UI"/>
                <a:ea typeface="Times New Roman"/>
                <a:cs typeface="Segoe UI"/>
              </a:rPr>
              <a:t> </a:t>
            </a:r>
          </a:p>
          <a:p>
            <a:pPr algn="ctr"/>
            <a:endParaRPr lang="en-US" sz="1600">
              <a:latin typeface="Segoe UI"/>
              <a:cs typeface="Segoe UI"/>
            </a:endParaRPr>
          </a:p>
        </p:txBody>
      </p:sp>
    </p:spTree>
    <p:extLst>
      <p:ext uri="{BB962C8B-B14F-4D97-AF65-F5344CB8AC3E}">
        <p14:creationId xmlns:p14="http://schemas.microsoft.com/office/powerpoint/2010/main" val="214947702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8B98A4-6165-57D2-03BF-F24736930D61}"/>
            </a:ext>
          </a:extLst>
        </p:cNvPr>
        <p:cNvGrpSpPr/>
        <p:nvPr/>
      </p:nvGrpSpPr>
      <p:grpSpPr>
        <a:xfrm>
          <a:off x="0" y="0"/>
          <a:ext cx="0" cy="0"/>
          <a:chOff x="0" y="0"/>
          <a:chExt cx="0" cy="0"/>
        </a:xfrm>
      </p:grpSpPr>
      <p:pic>
        <p:nvPicPr>
          <p:cNvPr id="5" name="Picture 4" descr="A blue background with a light&#10;&#10;AI-generated content may be incorrect.">
            <a:extLst>
              <a:ext uri="{FF2B5EF4-FFF2-40B4-BE49-F238E27FC236}">
                <a16:creationId xmlns:a16="http://schemas.microsoft.com/office/drawing/2014/main" id="{5582CBDF-CBA4-DFBA-4941-DDA251A316F9}"/>
              </a:ext>
            </a:extLst>
          </p:cNvPr>
          <p:cNvPicPr>
            <a:picLocks noChangeAspect="1"/>
          </p:cNvPicPr>
          <p:nvPr/>
        </p:nvPicPr>
        <p:blipFill>
          <a:blip r:embed="rId2"/>
          <a:srcRect l="38" b="78831"/>
          <a:stretch>
            <a:fillRect/>
          </a:stretch>
        </p:blipFill>
        <p:spPr>
          <a:xfrm>
            <a:off x="-130939" y="-366982"/>
            <a:ext cx="12458624" cy="1461046"/>
          </a:xfrm>
          <a:prstGeom prst="rect">
            <a:avLst/>
          </a:prstGeom>
        </p:spPr>
      </p:pic>
      <p:sp>
        <p:nvSpPr>
          <p:cNvPr id="7" name="Title 1">
            <a:extLst>
              <a:ext uri="{FF2B5EF4-FFF2-40B4-BE49-F238E27FC236}">
                <a16:creationId xmlns:a16="http://schemas.microsoft.com/office/drawing/2014/main" id="{FFF857C7-E8EC-574B-34C8-03426BEC926A}"/>
              </a:ext>
            </a:extLst>
          </p:cNvPr>
          <p:cNvSpPr txBox="1">
            <a:spLocks/>
          </p:cNvSpPr>
          <p:nvPr/>
        </p:nvSpPr>
        <p:spPr>
          <a:xfrm>
            <a:off x="838200" y="178219"/>
            <a:ext cx="10515600" cy="908619"/>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2800" b="1" dirty="0">
                <a:solidFill>
                  <a:srgbClr val="FFFFFF"/>
                </a:solidFill>
                <a:latin typeface="Bell MT"/>
              </a:rPr>
              <a:t>CONCLUSION </a:t>
            </a:r>
            <a:endParaRPr lang="en-US" dirty="0"/>
          </a:p>
        </p:txBody>
      </p:sp>
      <p:sp>
        <p:nvSpPr>
          <p:cNvPr id="2" name="TextBox 1">
            <a:extLst>
              <a:ext uri="{FF2B5EF4-FFF2-40B4-BE49-F238E27FC236}">
                <a16:creationId xmlns:a16="http://schemas.microsoft.com/office/drawing/2014/main" id="{AE3402A8-B435-FB94-FC28-120C42BD6CF9}"/>
              </a:ext>
            </a:extLst>
          </p:cNvPr>
          <p:cNvSpPr txBox="1"/>
          <p:nvPr/>
        </p:nvSpPr>
        <p:spPr>
          <a:xfrm>
            <a:off x="972207" y="1484586"/>
            <a:ext cx="9735206" cy="452431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rtl="0"/>
            <a:r>
              <a:rPr lang="en-CA" dirty="0">
                <a:solidFill>
                  <a:srgbClr val="000000"/>
                </a:solidFill>
                <a:latin typeface="Segoe UI"/>
                <a:ea typeface="Segoe UI"/>
                <a:cs typeface="Segoe UI"/>
              </a:rPr>
              <a:t>My analysis demonstrates that marketing elements significantly affect financial decision-making. </a:t>
            </a:r>
            <a:r>
              <a:rPr lang="en-US" dirty="0">
                <a:solidFill>
                  <a:srgbClr val="000000"/>
                </a:solidFill>
                <a:latin typeface="Segoe UI"/>
                <a:ea typeface="Segoe UI"/>
                <a:cs typeface="Segoe UI"/>
              </a:rPr>
              <a:t> </a:t>
            </a:r>
            <a:endParaRPr lang="en-US" dirty="0">
              <a:solidFill>
                <a:srgbClr val="000000"/>
              </a:solidFill>
            </a:endParaRPr>
          </a:p>
          <a:p>
            <a:r>
              <a:rPr lang="en-CA" dirty="0">
                <a:solidFill>
                  <a:srgbClr val="000000"/>
                </a:solidFill>
                <a:latin typeface="Segoe UI"/>
                <a:ea typeface="Segoe UI"/>
                <a:cs typeface="Segoe UI"/>
              </a:rPr>
              <a:t>I recommend adopting an educationally framework for financial marketing. This approach balances business objectives with consumer welfare, potentially improving outcomes for all stakeholders.</a:t>
            </a:r>
            <a:r>
              <a:rPr lang="en-US" dirty="0">
                <a:solidFill>
                  <a:srgbClr val="000000"/>
                </a:solidFill>
                <a:latin typeface="Segoe UI"/>
                <a:ea typeface="Segoe UI"/>
                <a:cs typeface="Segoe UI"/>
              </a:rPr>
              <a:t>  </a:t>
            </a:r>
            <a:r>
              <a:rPr lang="en-CA" dirty="0">
                <a:solidFill>
                  <a:srgbClr val="000000"/>
                </a:solidFill>
                <a:latin typeface="Segoe UI"/>
                <a:ea typeface="Segoe UI"/>
                <a:cs typeface="Segoe UI"/>
              </a:rPr>
              <a:t>Financial institutions face both opportunity and responsibility to improve decision environments. Evidence-based information design can enhance both commercial success and consumer protection.</a:t>
            </a:r>
            <a:r>
              <a:rPr lang="en-US" dirty="0">
                <a:solidFill>
                  <a:srgbClr val="000000"/>
                </a:solidFill>
                <a:latin typeface="Segoe UI"/>
                <a:ea typeface="Segoe UI"/>
                <a:cs typeface="Segoe UI"/>
              </a:rPr>
              <a:t> </a:t>
            </a:r>
          </a:p>
          <a:p>
            <a:endParaRPr lang="en-US" dirty="0">
              <a:solidFill>
                <a:srgbClr val="000000"/>
              </a:solidFill>
              <a:latin typeface="Segoe UI"/>
              <a:ea typeface="Segoe UI"/>
              <a:cs typeface="Segoe UI"/>
            </a:endParaRPr>
          </a:p>
          <a:p>
            <a:pPr rtl="0"/>
            <a:r>
              <a:rPr lang="en-CA" dirty="0">
                <a:solidFill>
                  <a:srgbClr val="000000"/>
                </a:solidFill>
                <a:latin typeface="Segoe UI"/>
                <a:ea typeface="Segoe UI"/>
                <a:cs typeface="Segoe UI"/>
              </a:rPr>
              <a:t>3 Key insights:</a:t>
            </a:r>
            <a:r>
              <a:rPr lang="en-US" dirty="0">
                <a:solidFill>
                  <a:srgbClr val="000000"/>
                </a:solidFill>
                <a:latin typeface="Segoe UI"/>
                <a:ea typeface="Segoe UI"/>
                <a:cs typeface="Segoe UI"/>
              </a:rPr>
              <a:t> </a:t>
            </a:r>
          </a:p>
          <a:p>
            <a:pPr marL="742950" lvl="1" indent="-285750" rtl="0">
              <a:buFont typeface="Arial"/>
              <a:buChar char="•"/>
            </a:pPr>
            <a:r>
              <a:rPr lang="en-CA" dirty="0">
                <a:solidFill>
                  <a:srgbClr val="000000"/>
                </a:solidFill>
                <a:latin typeface="Segoe UI"/>
                <a:ea typeface="Times New Roman"/>
                <a:cs typeface="Segoe UI"/>
              </a:rPr>
              <a:t>Simplicity drives efficiency. Removing unnecessary complexity reduces decision time by 42% without harming quality.</a:t>
            </a:r>
            <a:r>
              <a:rPr lang="en-US" dirty="0">
                <a:solidFill>
                  <a:srgbClr val="000000"/>
                </a:solidFill>
                <a:latin typeface="Segoe UI"/>
                <a:ea typeface="Times New Roman"/>
                <a:cs typeface="Segoe UI"/>
              </a:rPr>
              <a:t> </a:t>
            </a:r>
          </a:p>
          <a:p>
            <a:pPr marL="742950" lvl="1" indent="-285750" rtl="0">
              <a:buFont typeface="Arial"/>
              <a:buChar char="•"/>
            </a:pPr>
            <a:r>
              <a:rPr lang="en-CA" dirty="0">
                <a:solidFill>
                  <a:srgbClr val="000000"/>
                </a:solidFill>
                <a:latin typeface="Segoe UI"/>
                <a:ea typeface="Times New Roman"/>
                <a:cs typeface="Segoe UI"/>
              </a:rPr>
              <a:t>Education builds better decisions. Instructional content improves accuracy by 7-12% while increasing confidence.</a:t>
            </a:r>
            <a:r>
              <a:rPr lang="en-US" dirty="0">
                <a:solidFill>
                  <a:srgbClr val="000000"/>
                </a:solidFill>
                <a:latin typeface="Segoe UI"/>
                <a:ea typeface="Times New Roman"/>
                <a:cs typeface="Segoe UI"/>
              </a:rPr>
              <a:t> </a:t>
            </a:r>
          </a:p>
          <a:p>
            <a:pPr marL="742950" lvl="1" indent="-285750" rtl="0">
              <a:buFont typeface="Arial"/>
              <a:buChar char="•"/>
            </a:pPr>
            <a:r>
              <a:rPr lang="en-CA" dirty="0">
                <a:solidFill>
                  <a:srgbClr val="000000"/>
                </a:solidFill>
                <a:latin typeface="Segoe UI"/>
                <a:ea typeface="Times New Roman"/>
                <a:cs typeface="Segoe UI"/>
              </a:rPr>
              <a:t>Demographics matter. Age, income, and education significantly moderate marketing effectiveness.</a:t>
            </a:r>
            <a:r>
              <a:rPr lang="en-US" dirty="0">
                <a:solidFill>
                  <a:srgbClr val="000000"/>
                </a:solidFill>
                <a:latin typeface="Segoe UI"/>
                <a:ea typeface="Times New Roman"/>
                <a:cs typeface="Segoe UI"/>
              </a:rPr>
              <a:t> </a:t>
            </a:r>
          </a:p>
          <a:p>
            <a:pPr marL="742950" lvl="1" indent="-285750" algn="ctr">
              <a:buFont typeface="Arial"/>
              <a:buChar char="•"/>
            </a:pPr>
            <a:endParaRPr lang="en-US">
              <a:solidFill>
                <a:srgbClr val="000000"/>
              </a:solidFill>
              <a:latin typeface="Segoe UI"/>
              <a:cs typeface="Segoe UI"/>
            </a:endParaRPr>
          </a:p>
        </p:txBody>
      </p:sp>
    </p:spTree>
    <p:extLst>
      <p:ext uri="{BB962C8B-B14F-4D97-AF65-F5344CB8AC3E}">
        <p14:creationId xmlns:p14="http://schemas.microsoft.com/office/powerpoint/2010/main" val="316164941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DF7909-367D-4050-9216-BCC7E66817F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026E856-1747-FD4C-0945-0C2011C3F7B3}"/>
              </a:ext>
            </a:extLst>
          </p:cNvPr>
          <p:cNvSpPr>
            <a:spLocks noGrp="1"/>
          </p:cNvSpPr>
          <p:nvPr>
            <p:ph type="ctrTitle"/>
          </p:nvPr>
        </p:nvSpPr>
        <p:spPr>
          <a:xfrm>
            <a:off x="905773" y="1208627"/>
            <a:ext cx="10394830" cy="2013790"/>
          </a:xfrm>
        </p:spPr>
        <p:txBody>
          <a:bodyPr>
            <a:normAutofit/>
          </a:bodyPr>
          <a:lstStyle/>
          <a:p>
            <a:pPr>
              <a:lnSpc>
                <a:spcPct val="100000"/>
              </a:lnSpc>
            </a:pPr>
            <a:r>
              <a:rPr lang="en-US" sz="5400" b="1" dirty="0">
                <a:latin typeface="Bell MT"/>
              </a:rPr>
              <a:t>Any Questions?</a:t>
            </a:r>
          </a:p>
        </p:txBody>
      </p:sp>
      <p:sp>
        <p:nvSpPr>
          <p:cNvPr id="3" name="Subtitle 2">
            <a:extLst>
              <a:ext uri="{FF2B5EF4-FFF2-40B4-BE49-F238E27FC236}">
                <a16:creationId xmlns:a16="http://schemas.microsoft.com/office/drawing/2014/main" id="{5986D153-F9E4-A63E-39E8-D28BF7B8E6C5}"/>
              </a:ext>
            </a:extLst>
          </p:cNvPr>
          <p:cNvSpPr>
            <a:spLocks noGrp="1"/>
          </p:cNvSpPr>
          <p:nvPr>
            <p:ph type="subTitle" idx="1"/>
          </p:nvPr>
        </p:nvSpPr>
        <p:spPr>
          <a:xfrm>
            <a:off x="1538377" y="3975848"/>
            <a:ext cx="9129623" cy="1497612"/>
          </a:xfrm>
        </p:spPr>
        <p:txBody>
          <a:bodyPr vert="horz" lIns="91440" tIns="45720" rIns="91440" bIns="45720" rtlCol="0" anchor="t">
            <a:normAutofit/>
          </a:bodyPr>
          <a:lstStyle/>
          <a:p>
            <a:pPr>
              <a:lnSpc>
                <a:spcPct val="100000"/>
              </a:lnSpc>
            </a:pPr>
            <a:r>
              <a:rPr lang="en-US" sz="2800" dirty="0">
                <a:latin typeface="Segoe UI"/>
                <a:cs typeface="Segoe UI"/>
              </a:rPr>
              <a:t>Thank You For Listening!</a:t>
            </a:r>
          </a:p>
        </p:txBody>
      </p:sp>
      <p:pic>
        <p:nvPicPr>
          <p:cNvPr id="6" name="Picture 5" descr="A blue background with a light&#10;&#10;AI-generated content may be incorrect.">
            <a:extLst>
              <a:ext uri="{FF2B5EF4-FFF2-40B4-BE49-F238E27FC236}">
                <a16:creationId xmlns:a16="http://schemas.microsoft.com/office/drawing/2014/main" id="{1A76D0BB-8733-81F7-7D18-55D46D27A22A}"/>
              </a:ext>
            </a:extLst>
          </p:cNvPr>
          <p:cNvPicPr>
            <a:picLocks noChangeAspect="1"/>
          </p:cNvPicPr>
          <p:nvPr/>
        </p:nvPicPr>
        <p:blipFill>
          <a:blip r:embed="rId2"/>
          <a:srcRect l="38" b="78831"/>
          <a:stretch>
            <a:fillRect/>
          </a:stretch>
        </p:blipFill>
        <p:spPr>
          <a:xfrm>
            <a:off x="1536835" y="3457396"/>
            <a:ext cx="9137452" cy="152708"/>
          </a:xfrm>
          <a:prstGeom prst="rect">
            <a:avLst/>
          </a:prstGeom>
        </p:spPr>
      </p:pic>
    </p:spTree>
    <p:extLst>
      <p:ext uri="{BB962C8B-B14F-4D97-AF65-F5344CB8AC3E}">
        <p14:creationId xmlns:p14="http://schemas.microsoft.com/office/powerpoint/2010/main" val="418431427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panose="020B0004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TotalTime>0</TotalTime>
  <Words>0</Words>
  <Application>Microsoft Office PowerPoint</Application>
  <PresentationFormat>Widescreen</PresentationFormat>
  <Paragraphs>0</Paragraphs>
  <Slides>12</Slides>
  <Notes>0</Notes>
  <HiddenSlides>0</HiddenSlides>
  <MMClips>0</MMClips>
  <ScaleCrop>false</ScaleCrop>
  <HeadingPairs>
    <vt:vector size="4" baseType="variant">
      <vt:variant>
        <vt:lpstr>Theme</vt:lpstr>
      </vt:variant>
      <vt:variant>
        <vt:i4>1</vt:i4>
      </vt:variant>
      <vt:variant>
        <vt:lpstr>Slide Titles</vt:lpstr>
      </vt:variant>
      <vt:variant>
        <vt:i4>12</vt:i4>
      </vt:variant>
    </vt:vector>
  </HeadingPairs>
  <TitlesOfParts>
    <vt:vector size="13" baseType="lpstr">
      <vt:lpstr>office theme</vt:lpstr>
      <vt:lpstr>The Impact of Marketing Taglines and Video Types on Credit Card Choice Decisions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Any Questions?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
  <cp:lastModifiedBy> </cp:lastModifiedBy>
  <cp:revision>427</cp:revision>
  <dcterms:created xsi:type="dcterms:W3CDTF">2013-07-15T20:26:40Z</dcterms:created>
  <dcterms:modified xsi:type="dcterms:W3CDTF">2026-09-27T20:19:07Z</dcterms:modified>
</cp:coreProperties>
</file>